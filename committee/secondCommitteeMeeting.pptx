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58" r:id="rId4"/>
    <p:sldId id="259" r:id="rId5"/>
    <p:sldId id="275" r:id="rId6"/>
    <p:sldId id="260" r:id="rId7"/>
    <p:sldId id="261" r:id="rId8"/>
    <p:sldId id="265" r:id="rId9"/>
    <p:sldId id="276" r:id="rId10"/>
    <p:sldId id="277" r:id="rId11"/>
    <p:sldId id="264" r:id="rId12"/>
    <p:sldId id="262" r:id="rId13"/>
    <p:sldId id="274" r:id="rId14"/>
    <p:sldId id="285" r:id="rId15"/>
    <p:sldId id="263" r:id="rId16"/>
    <p:sldId id="284" r:id="rId17"/>
    <p:sldId id="267" r:id="rId18"/>
    <p:sldId id="280" r:id="rId19"/>
    <p:sldId id="281" r:id="rId20"/>
    <p:sldId id="282" r:id="rId21"/>
    <p:sldId id="268" r:id="rId22"/>
    <p:sldId id="279" r:id="rId23"/>
    <p:sldId id="272" r:id="rId24"/>
    <p:sldId id="269" r:id="rId25"/>
    <p:sldId id="270" r:id="rId26"/>
    <p:sldId id="271"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3E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82194" autoAdjust="0"/>
  </p:normalViewPr>
  <p:slideViewPr>
    <p:cSldViewPr snapToGrid="0">
      <p:cViewPr varScale="1">
        <p:scale>
          <a:sx n="52" d="100"/>
          <a:sy n="52" d="100"/>
        </p:scale>
        <p:origin x="95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3B1FB8-C975-405A-B285-2358DA7D9B01}" type="datetimeFigureOut">
              <a:rPr lang="zh-CN" altLang="en-US" smtClean="0"/>
              <a:t>2026/9/25</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B1352A-F5A4-438C-80B2-90A61EDF0371}" type="slidenum">
              <a:rPr lang="zh-CN" altLang="en-US" smtClean="0"/>
              <a:t>‹#›</a:t>
            </a:fld>
            <a:endParaRPr lang="zh-CN" altLang="en-US"/>
          </a:p>
        </p:txBody>
      </p:sp>
    </p:spTree>
    <p:extLst>
      <p:ext uri="{BB962C8B-B14F-4D97-AF65-F5344CB8AC3E}">
        <p14:creationId xmlns:p14="http://schemas.microsoft.com/office/powerpoint/2010/main" val="3457295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Hello everyone, thank you for coming to my second committee meeting. Today I am going to report on my current research progress and some other activities I’ve done in the past year besides research.</a:t>
            </a:r>
            <a:endParaRPr lang="zh-CN" altLang="en-US" dirty="0"/>
          </a:p>
        </p:txBody>
      </p:sp>
      <p:sp>
        <p:nvSpPr>
          <p:cNvPr id="4" name="Slide Number Placeholder 3"/>
          <p:cNvSpPr>
            <a:spLocks noGrp="1"/>
          </p:cNvSpPr>
          <p:nvPr>
            <p:ph type="sldNum" sz="quarter" idx="5"/>
          </p:nvPr>
        </p:nvSpPr>
        <p:spPr/>
        <p:txBody>
          <a:bodyPr/>
          <a:lstStyle/>
          <a:p>
            <a:fld id="{8BB1352A-F5A4-438C-80B2-90A61EDF0371}" type="slidenum">
              <a:rPr lang="zh-CN" altLang="en-US" smtClean="0"/>
              <a:t>1</a:t>
            </a:fld>
            <a:endParaRPr lang="zh-CN" altLang="en-US"/>
          </a:p>
        </p:txBody>
      </p:sp>
    </p:spTree>
    <p:extLst>
      <p:ext uri="{BB962C8B-B14F-4D97-AF65-F5344CB8AC3E}">
        <p14:creationId xmlns:p14="http://schemas.microsoft.com/office/powerpoint/2010/main" val="42443419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I’ll start with some brief background on masting and review the main research questions of my PhD. Then, I’ll go through the individual chapters, focusing on my current progress, some preliminary results, and the discussions that have come out of the work so far. I’ll finish with a brief overview of some of my other activities over the past year.</a:t>
            </a:r>
          </a:p>
        </p:txBody>
      </p:sp>
      <p:sp>
        <p:nvSpPr>
          <p:cNvPr id="4" name="Slide Number Placeholder 3"/>
          <p:cNvSpPr>
            <a:spLocks noGrp="1"/>
          </p:cNvSpPr>
          <p:nvPr>
            <p:ph type="sldNum" sz="quarter" idx="5"/>
          </p:nvPr>
        </p:nvSpPr>
        <p:spPr/>
        <p:txBody>
          <a:bodyPr/>
          <a:lstStyle/>
          <a:p>
            <a:fld id="{8BB1352A-F5A4-438C-80B2-90A61EDF0371}" type="slidenum">
              <a:rPr lang="zh-CN" altLang="en-US" smtClean="0"/>
              <a:t>2</a:t>
            </a:fld>
            <a:endParaRPr lang="zh-CN" altLang="en-US"/>
          </a:p>
        </p:txBody>
      </p:sp>
    </p:spTree>
    <p:extLst>
      <p:ext uri="{BB962C8B-B14F-4D97-AF65-F5344CB8AC3E}">
        <p14:creationId xmlns:p14="http://schemas.microsoft.com/office/powerpoint/2010/main" val="12159565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So I’ll start with defining masting again: </a:t>
            </a:r>
            <a:r>
              <a:rPr lang="zh-CN" altLang="zh-CN" sz="1800" dirty="0"/>
              <a:t>Masting is a phenomenon in which plants show </a:t>
            </a:r>
            <a:r>
              <a:rPr lang="zh-CN" altLang="zh-CN" sz="1800" b="1" dirty="0"/>
              <a:t>synchronized variation</a:t>
            </a:r>
            <a:r>
              <a:rPr lang="zh-CN" altLang="zh-CN" sz="1800" dirty="0"/>
              <a:t> in seed production across years within a population. It is closely connected to ecosystem-level processes because seeds are an important food source for many mammals and can also serve as hosts for some pathogens.</a:t>
            </a:r>
          </a:p>
          <a:p>
            <a:r>
              <a:rPr lang="zh-CN" altLang="zh-CN" sz="1800" dirty="0"/>
              <a:t>Masting is generally characterized by four main features.</a:t>
            </a:r>
          </a:p>
          <a:p>
            <a:r>
              <a:rPr lang="zh-CN" altLang="zh-CN" sz="1800" dirty="0"/>
              <a:t>The first is</a:t>
            </a:r>
            <a:r>
              <a:rPr lang="zh-CN" altLang="zh-CN" sz="1800" b="1" dirty="0"/>
              <a:t> interannual variation</a:t>
            </a:r>
            <a:r>
              <a:rPr lang="zh-CN" altLang="zh-CN" sz="1800" dirty="0"/>
              <a:t>. Seed production varies substantially from year to year, so we see fluctuations in the size of the annual seed crop.</a:t>
            </a:r>
          </a:p>
          <a:p>
            <a:r>
              <a:rPr lang="zh-CN" altLang="zh-CN" sz="1800" dirty="0"/>
              <a:t>The second is </a:t>
            </a:r>
            <a:r>
              <a:rPr lang="zh-CN" altLang="zh-CN" sz="1800" b="1" dirty="0"/>
              <a:t>synchrony</a:t>
            </a:r>
            <a:r>
              <a:rPr lang="zh-CN" altLang="zh-CN" sz="1800" dirty="0"/>
              <a:t>. Individual plants within a population tend to produce large and small seed crops at the same time, and this synchrony can sometimes extend across hundreds of kilometres.</a:t>
            </a:r>
          </a:p>
          <a:p>
            <a:r>
              <a:rPr lang="zh-CN" altLang="zh-CN" sz="1800" dirty="0"/>
              <a:t>The third is </a:t>
            </a:r>
            <a:r>
              <a:rPr lang="zh-CN" altLang="zh-CN" sz="1800" b="1" dirty="0"/>
              <a:t>temporal autocorrelation</a:t>
            </a:r>
            <a:r>
              <a:rPr lang="zh-CN" altLang="zh-CN" sz="1800" dirty="0"/>
              <a:t>. In many masting systems, high seed production years tend to be followed by relatively low production years, and vice versa.</a:t>
            </a:r>
          </a:p>
          <a:p>
            <a:r>
              <a:rPr lang="zh-CN" altLang="zh-CN" sz="1800" dirty="0"/>
              <a:t>And finally, there is </a:t>
            </a:r>
            <a:r>
              <a:rPr lang="zh-CN" altLang="zh-CN" sz="1800" b="1" dirty="0"/>
              <a:t>frequency</a:t>
            </a:r>
            <a:r>
              <a:rPr lang="zh-CN" altLang="zh-CN" sz="1800" dirty="0"/>
              <a:t>. Masting events occur at intervals of several years, and the frequency of these events can remain relatively stable over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p>
          <a:p>
            <a:endParaRPr lang="zh-CN" altLang="en-US" dirty="0"/>
          </a:p>
        </p:txBody>
      </p:sp>
      <p:sp>
        <p:nvSpPr>
          <p:cNvPr id="4" name="Slide Number Placeholder 3"/>
          <p:cNvSpPr>
            <a:spLocks noGrp="1"/>
          </p:cNvSpPr>
          <p:nvPr>
            <p:ph type="sldNum" sz="quarter" idx="5"/>
          </p:nvPr>
        </p:nvSpPr>
        <p:spPr/>
        <p:txBody>
          <a:bodyPr/>
          <a:lstStyle/>
          <a:p>
            <a:fld id="{8BB1352A-F5A4-438C-80B2-90A61EDF0371}" type="slidenum">
              <a:rPr lang="zh-CN" altLang="en-US" smtClean="0"/>
              <a:t>3</a:t>
            </a:fld>
            <a:endParaRPr lang="zh-CN" altLang="en-US"/>
          </a:p>
        </p:txBody>
      </p:sp>
    </p:spTree>
    <p:extLst>
      <p:ext uri="{BB962C8B-B14F-4D97-AF65-F5344CB8AC3E}">
        <p14:creationId xmlns:p14="http://schemas.microsoft.com/office/powerpoint/2010/main" val="35587301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i="0" u="none" strike="noStrike" baseline="0" dirty="0">
                <a:latin typeface="CMR10"/>
              </a:rPr>
              <a:t>There are four main hypotheses explaining the mechanism of masting. </a:t>
            </a:r>
            <a:r>
              <a:rPr lang="en-US" altLang="zh-CN" dirty="0"/>
              <a:t>It’s important to remember that these hypotheses are not mutually exclusive. Multiple mechanisms can interact, and the drivers of masting can differ among species. Understanding what influences masting in a particular species helps us predict how its reproductive dynamics may change over time.</a:t>
            </a:r>
          </a:p>
          <a:p>
            <a:endParaRPr lang="en-US" altLang="zh-CN" dirty="0"/>
          </a:p>
          <a:p>
            <a:r>
              <a:rPr lang="en-US" altLang="zh-CN" dirty="0"/>
              <a:t>(Maybe make it into four slides together with the traits and predictions)</a:t>
            </a:r>
            <a:endParaRPr lang="zh-CN" altLang="en-US" dirty="0"/>
          </a:p>
        </p:txBody>
      </p:sp>
      <p:sp>
        <p:nvSpPr>
          <p:cNvPr id="4" name="Slide Number Placeholder 3"/>
          <p:cNvSpPr>
            <a:spLocks noGrp="1"/>
          </p:cNvSpPr>
          <p:nvPr>
            <p:ph type="sldNum" sz="quarter" idx="5"/>
          </p:nvPr>
        </p:nvSpPr>
        <p:spPr/>
        <p:txBody>
          <a:bodyPr/>
          <a:lstStyle/>
          <a:p>
            <a:fld id="{8BB1352A-F5A4-438C-80B2-90A61EDF0371}" type="slidenum">
              <a:rPr lang="zh-CN" altLang="en-US" smtClean="0"/>
              <a:t>4</a:t>
            </a:fld>
            <a:endParaRPr lang="zh-CN" altLang="en-US"/>
          </a:p>
        </p:txBody>
      </p:sp>
    </p:spTree>
    <p:extLst>
      <p:ext uri="{BB962C8B-B14F-4D97-AF65-F5344CB8AC3E}">
        <p14:creationId xmlns:p14="http://schemas.microsoft.com/office/powerpoint/2010/main" val="8071472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66844-2614-BF0A-BB16-8660216F9F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4BF58F-7318-CAB5-3C63-BCA9B0C827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0ACC87-B6C2-BB21-74C0-8C114E4ED48F}"/>
              </a:ext>
            </a:extLst>
          </p:cNvPr>
          <p:cNvSpPr>
            <a:spLocks noGrp="1"/>
          </p:cNvSpPr>
          <p:nvPr>
            <p:ph type="body" idx="1"/>
          </p:nvPr>
        </p:nvSpPr>
        <p:spPr/>
        <p:txBody>
          <a:bodyPr/>
          <a:lstStyle/>
          <a:p>
            <a:r>
              <a:rPr lang="zh-CN" altLang="zh-CN" dirty="0"/>
              <a:t>So, understanding masting requires us to consider several different aspects of reproduction: how trees reproduce, how they allocate their resources, and how environmental conditions influence these processes.</a:t>
            </a:r>
            <a:r>
              <a:rPr lang="en-US" altLang="zh-CN" dirty="0"/>
              <a:t> </a:t>
            </a:r>
            <a:r>
              <a:rPr lang="zh-CN" altLang="zh-CN" dirty="0"/>
              <a:t>This leads to the overall goal of my PhD, which is to better understand the mechanisms underlying masting and how these mechanisms may influence forest dynamics under changing environmental conditions.</a:t>
            </a:r>
            <a:r>
              <a:rPr lang="en-US" altLang="zh-CN" dirty="0"/>
              <a:t> My dissertation will have three chapters.</a:t>
            </a:r>
          </a:p>
          <a:p>
            <a:r>
              <a:rPr lang="zh-CN" altLang="zh-CN" b="1" dirty="0"/>
              <a:t>The first chapter</a:t>
            </a:r>
            <a:r>
              <a:rPr lang="zh-CN" altLang="zh-CN" dirty="0"/>
              <a:t> </a:t>
            </a:r>
            <a:r>
              <a:rPr lang="en-US" altLang="zh-CN" dirty="0"/>
              <a:t>looks at</a:t>
            </a:r>
            <a:r>
              <a:rPr lang="zh-CN" altLang="zh-CN" dirty="0"/>
              <a:t> </a:t>
            </a:r>
            <a:r>
              <a:rPr lang="en-US" altLang="zh-CN" dirty="0"/>
              <a:t>the</a:t>
            </a:r>
            <a:r>
              <a:rPr lang="zh-CN" altLang="zh-CN" dirty="0"/>
              <a:t> evolutionary perspective. I use a literature-based approach to examine whether reproductive traits are associated with differences in masting among tree species.</a:t>
            </a:r>
          </a:p>
          <a:p>
            <a:r>
              <a:rPr lang="zh-CN" altLang="zh-CN" b="1" dirty="0"/>
              <a:t>The second chapter</a:t>
            </a:r>
            <a:r>
              <a:rPr lang="zh-CN" altLang="zh-CN" dirty="0"/>
              <a:t> focuses on resource allocation. Using empirical data, I investigate the growth–reproduction trade-off and ask how investment in growth and reproduction may be related to masting dynamics.</a:t>
            </a:r>
          </a:p>
          <a:p>
            <a:r>
              <a:rPr lang="zh-CN" altLang="zh-CN" b="1" dirty="0"/>
              <a:t>The third chapter</a:t>
            </a:r>
            <a:r>
              <a:rPr lang="zh-CN" altLang="zh-CN" dirty="0"/>
              <a:t> will build on the first two chapters to examine how climate change may alter the relationship between growth and reproduction, and ultimately how these changes could affect seed dynamics.</a:t>
            </a:r>
          </a:p>
          <a:p>
            <a:endParaRPr lang="en-US" altLang="zh-CN" dirty="0"/>
          </a:p>
          <a:p>
            <a:r>
              <a:rPr lang="en-US" altLang="zh-CN" dirty="0"/>
              <a:t>(Move this earlier before the background)</a:t>
            </a:r>
            <a:endParaRPr lang="zh-CN" altLang="en-US" dirty="0"/>
          </a:p>
        </p:txBody>
      </p:sp>
      <p:sp>
        <p:nvSpPr>
          <p:cNvPr id="4" name="Slide Number Placeholder 3">
            <a:extLst>
              <a:ext uri="{FF2B5EF4-FFF2-40B4-BE49-F238E27FC236}">
                <a16:creationId xmlns:a16="http://schemas.microsoft.com/office/drawing/2014/main" id="{89BECDE1-FEF8-20E4-DC4E-FB8B8FF76407}"/>
              </a:ext>
            </a:extLst>
          </p:cNvPr>
          <p:cNvSpPr>
            <a:spLocks noGrp="1"/>
          </p:cNvSpPr>
          <p:nvPr>
            <p:ph type="sldNum" sz="quarter" idx="5"/>
          </p:nvPr>
        </p:nvSpPr>
        <p:spPr/>
        <p:txBody>
          <a:bodyPr/>
          <a:lstStyle/>
          <a:p>
            <a:fld id="{8BB1352A-F5A4-438C-80B2-90A61EDF0371}" type="slidenum">
              <a:rPr lang="zh-CN" altLang="en-US" smtClean="0"/>
              <a:t>5</a:t>
            </a:fld>
            <a:endParaRPr lang="zh-CN" altLang="en-US"/>
          </a:p>
        </p:txBody>
      </p:sp>
    </p:spTree>
    <p:extLst>
      <p:ext uri="{BB962C8B-B14F-4D97-AF65-F5344CB8AC3E}">
        <p14:creationId xmlns:p14="http://schemas.microsoft.com/office/powerpoint/2010/main" val="37138632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Over the past year, I’ve mainly been working on the first two chapters. So today</a:t>
            </a:r>
            <a:r>
              <a:rPr lang="en-US" altLang="zh-CN" dirty="0"/>
              <a:t> </a:t>
            </a:r>
            <a:r>
              <a:rPr lang="zh-CN" altLang="zh-CN" dirty="0"/>
              <a:t>I’ll focus on these two chapters and </a:t>
            </a:r>
            <a:r>
              <a:rPr lang="en-US" altLang="zh-CN" dirty="0"/>
              <a:t>give</a:t>
            </a:r>
            <a:r>
              <a:rPr lang="zh-CN" altLang="zh-CN" dirty="0"/>
              <a:t> </a:t>
            </a:r>
            <a:r>
              <a:rPr lang="en-US" altLang="zh-CN" dirty="0"/>
              <a:t>some</a:t>
            </a:r>
            <a:r>
              <a:rPr lang="zh-CN" altLang="zh-CN" dirty="0"/>
              <a:t> update on where the projects currently stand.</a:t>
            </a:r>
            <a:endParaRPr lang="en-US" altLang="zh-CN" dirty="0"/>
          </a:p>
          <a:p>
            <a:endParaRPr lang="en-US" altLang="zh-CN" dirty="0"/>
          </a:p>
          <a:p>
            <a:r>
              <a:rPr lang="en-US" altLang="zh-CN" dirty="0"/>
              <a:t>(Highlight the questions when I talk about every individual chapter again</a:t>
            </a:r>
            <a:endParaRPr lang="zh-CN" altLang="en-US" dirty="0"/>
          </a:p>
        </p:txBody>
      </p:sp>
      <p:sp>
        <p:nvSpPr>
          <p:cNvPr id="4" name="Slide Number Placeholder 3"/>
          <p:cNvSpPr>
            <a:spLocks noGrp="1"/>
          </p:cNvSpPr>
          <p:nvPr>
            <p:ph type="sldNum" sz="quarter" idx="5"/>
          </p:nvPr>
        </p:nvSpPr>
        <p:spPr/>
        <p:txBody>
          <a:bodyPr/>
          <a:lstStyle/>
          <a:p>
            <a:fld id="{8BB1352A-F5A4-438C-80B2-90A61EDF0371}" type="slidenum">
              <a:rPr lang="zh-CN" altLang="en-US" smtClean="0"/>
              <a:t>6</a:t>
            </a:fld>
            <a:endParaRPr lang="zh-CN" altLang="en-US"/>
          </a:p>
        </p:txBody>
      </p:sp>
    </p:spTree>
    <p:extLst>
      <p:ext uri="{BB962C8B-B14F-4D97-AF65-F5344CB8AC3E}">
        <p14:creationId xmlns:p14="http://schemas.microsoft.com/office/powerpoint/2010/main" val="18316797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For my first chapter, I wanted to take a more evolutionary perspective on masting.</a:t>
            </a:r>
          </a:p>
          <a:p>
            <a:r>
              <a:rPr lang="zh-CN" altLang="zh-CN" dirty="0"/>
              <a:t>As I mentioned earlier, there are multiple mechanisms that can contribute to masting, and these mechanisms are not necessarily mutually exclusive. Different reproductive traits may </a:t>
            </a:r>
            <a:r>
              <a:rPr lang="en-US" altLang="zh-CN" dirty="0"/>
              <a:t>act at different stages of reproductive cycle and </a:t>
            </a:r>
            <a:r>
              <a:rPr lang="zh-CN" altLang="zh-CN" dirty="0"/>
              <a:t>influence </a:t>
            </a:r>
            <a:r>
              <a:rPr lang="en-US" altLang="zh-CN" dirty="0"/>
              <a:t>masting </a:t>
            </a:r>
            <a:r>
              <a:rPr lang="zh-CN" altLang="zh-CN" dirty="0"/>
              <a:t>differently, so I was interested in whether we can use traits to understand why masting varies among species.</a:t>
            </a:r>
          </a:p>
          <a:p>
            <a:r>
              <a:rPr lang="zh-CN" altLang="zh-CN" dirty="0"/>
              <a:t>So, the main question for this chapter was: </a:t>
            </a:r>
            <a:r>
              <a:rPr lang="en-US" altLang="zh-CN" b="1" dirty="0"/>
              <a:t>Can reproductive traits associated with different hypotheses provide evidence for the mechanisms shaping masting pattern?</a:t>
            </a:r>
            <a:endParaRPr lang="zh-CN" altLang="zh-CN" dirty="0"/>
          </a:p>
          <a:p>
            <a:r>
              <a:rPr lang="zh-CN" altLang="zh-CN" dirty="0"/>
              <a:t>To address this, I used data from North American tree species and examined the relationships between reproductive traits and masting while accounting for phylogenetic relationships.</a:t>
            </a:r>
          </a:p>
          <a:p>
            <a:endParaRPr lang="en-US" altLang="zh-CN" dirty="0"/>
          </a:p>
          <a:p>
            <a:r>
              <a:rPr lang="en-US" altLang="zh-CN" dirty="0"/>
              <a:t>(Move the hypotheses here and replace hypotheses with icons)</a:t>
            </a:r>
            <a:endParaRPr lang="zh-CN" altLang="en-US" dirty="0"/>
          </a:p>
        </p:txBody>
      </p:sp>
      <p:sp>
        <p:nvSpPr>
          <p:cNvPr id="4" name="Slide Number Placeholder 3"/>
          <p:cNvSpPr>
            <a:spLocks noGrp="1"/>
          </p:cNvSpPr>
          <p:nvPr>
            <p:ph type="sldNum" sz="quarter" idx="5"/>
          </p:nvPr>
        </p:nvSpPr>
        <p:spPr/>
        <p:txBody>
          <a:bodyPr/>
          <a:lstStyle/>
          <a:p>
            <a:fld id="{8BB1352A-F5A4-438C-80B2-90A61EDF0371}" type="slidenum">
              <a:rPr lang="zh-CN" altLang="en-US" smtClean="0"/>
              <a:t>7</a:t>
            </a:fld>
            <a:endParaRPr lang="zh-CN" altLang="en-US"/>
          </a:p>
        </p:txBody>
      </p:sp>
    </p:spTree>
    <p:extLst>
      <p:ext uri="{BB962C8B-B14F-4D97-AF65-F5344CB8AC3E}">
        <p14:creationId xmlns:p14="http://schemas.microsoft.com/office/powerpoint/2010/main" val="27821490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81612-5EF8-3F39-DE0D-58F6569A1A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4AA612-D6C4-A5F3-7563-B3EAC625C7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9F18A0-B116-6214-B85B-0BF6BF90AFEB}"/>
              </a:ext>
            </a:extLst>
          </p:cNvPr>
          <p:cNvSpPr>
            <a:spLocks noGrp="1"/>
          </p:cNvSpPr>
          <p:nvPr>
            <p:ph type="body" idx="1"/>
          </p:nvPr>
        </p:nvSpPr>
        <p:spPr/>
        <p:txBody>
          <a:bodyPr/>
          <a:lstStyle/>
          <a:p>
            <a:r>
              <a:rPr lang="zh-CN" altLang="zh-CN" dirty="0"/>
              <a:t>So, these are the traits I selected for the analysis, along with the predictions for how each trait is expected to relate to masting. I linked each trait to the hypothesis that I thought it was most directly related to.</a:t>
            </a:r>
            <a:endParaRPr lang="en-US" altLang="zh-CN" dirty="0"/>
          </a:p>
        </p:txBody>
      </p:sp>
      <p:sp>
        <p:nvSpPr>
          <p:cNvPr id="4" name="Slide Number Placeholder 3">
            <a:extLst>
              <a:ext uri="{FF2B5EF4-FFF2-40B4-BE49-F238E27FC236}">
                <a16:creationId xmlns:a16="http://schemas.microsoft.com/office/drawing/2014/main" id="{D632A51A-AD2E-3FCA-689A-FC0E9C1FA121}"/>
              </a:ext>
            </a:extLst>
          </p:cNvPr>
          <p:cNvSpPr>
            <a:spLocks noGrp="1"/>
          </p:cNvSpPr>
          <p:nvPr>
            <p:ph type="sldNum" sz="quarter" idx="5"/>
          </p:nvPr>
        </p:nvSpPr>
        <p:spPr/>
        <p:txBody>
          <a:bodyPr/>
          <a:lstStyle/>
          <a:p>
            <a:fld id="{8BB1352A-F5A4-438C-80B2-90A61EDF0371}" type="slidenum">
              <a:rPr lang="zh-CN" altLang="en-US" smtClean="0"/>
              <a:t>8</a:t>
            </a:fld>
            <a:endParaRPr lang="zh-CN" altLang="en-US"/>
          </a:p>
        </p:txBody>
      </p:sp>
    </p:spTree>
    <p:extLst>
      <p:ext uri="{BB962C8B-B14F-4D97-AF65-F5344CB8AC3E}">
        <p14:creationId xmlns:p14="http://schemas.microsoft.com/office/powerpoint/2010/main" val="2234393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4135A-94D9-A65F-8446-31713B8C3B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A69AB2-FA06-6041-0582-27275C6ED2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5049B7-772C-CD22-60E9-A25BA9F30CFA}"/>
              </a:ext>
            </a:extLst>
          </p:cNvPr>
          <p:cNvSpPr>
            <a:spLocks noGrp="1"/>
          </p:cNvSpPr>
          <p:nvPr>
            <p:ph type="body" idx="1"/>
          </p:nvPr>
        </p:nvSpPr>
        <p:spPr/>
        <p:txBody>
          <a:bodyPr/>
          <a:lstStyle/>
          <a:p>
            <a:r>
              <a:rPr lang="zh-CN" altLang="zh-CN" dirty="0"/>
              <a:t>For the masting data, I extracted information from </a:t>
            </a:r>
            <a:r>
              <a:rPr lang="zh-CN" altLang="zh-CN" i="0" dirty="0"/>
              <a:t>Silvics of North America</a:t>
            </a:r>
            <a:r>
              <a:rPr lang="zh-CN" altLang="zh-CN" dirty="0"/>
              <a:t>. The book provides descriptive information on seed production pattern, so I </a:t>
            </a:r>
            <a:r>
              <a:rPr lang="en-US" altLang="zh-CN" dirty="0"/>
              <a:t>used certain wording as standard</a:t>
            </a:r>
            <a:r>
              <a:rPr lang="zh-CN" altLang="zh-CN" dirty="0"/>
              <a:t> to classify species into </a:t>
            </a:r>
            <a:r>
              <a:rPr lang="zh-CN" altLang="zh-CN" b="1" dirty="0"/>
              <a:t>strong masting</a:t>
            </a:r>
            <a:r>
              <a:rPr lang="zh-CN" altLang="zh-CN" dirty="0"/>
              <a:t> and </a:t>
            </a:r>
            <a:r>
              <a:rPr lang="zh-CN" altLang="zh-CN" b="1" dirty="0"/>
              <a:t>weak masting</a:t>
            </a:r>
            <a:r>
              <a:rPr lang="zh-CN" altLang="zh-CN" dirty="0"/>
              <a:t> categories.</a:t>
            </a:r>
          </a:p>
          <a:p>
            <a:r>
              <a:rPr lang="zh-CN" altLang="zh-CN" dirty="0"/>
              <a:t>In the final dataset, I had </a:t>
            </a:r>
            <a:r>
              <a:rPr lang="zh-CN" altLang="zh-CN" b="0" dirty="0"/>
              <a:t>98 angiosperm species </a:t>
            </a:r>
            <a:r>
              <a:rPr lang="zh-CN" altLang="zh-CN" dirty="0"/>
              <a:t>with masting information, of which </a:t>
            </a:r>
            <a:r>
              <a:rPr lang="zh-CN" altLang="zh-CN" b="0" dirty="0"/>
              <a:t>51 were classified as strong</a:t>
            </a:r>
            <a:r>
              <a:rPr lang="en-US" altLang="zh-CN" b="0" dirty="0"/>
              <a:t> </a:t>
            </a:r>
            <a:r>
              <a:rPr lang="zh-CN" altLang="zh-CN" b="0" dirty="0"/>
              <a:t>masting species. </a:t>
            </a:r>
            <a:r>
              <a:rPr lang="zh-CN" altLang="zh-CN" dirty="0"/>
              <a:t>For gymnosperms, I ha</a:t>
            </a:r>
            <a:r>
              <a:rPr lang="zh-CN" altLang="zh-CN" b="0" dirty="0"/>
              <a:t>d 61 species</a:t>
            </a:r>
            <a:r>
              <a:rPr lang="zh-CN" altLang="zh-CN" dirty="0"/>
              <a:t>, including </a:t>
            </a:r>
            <a:r>
              <a:rPr lang="zh-CN" altLang="zh-CN" b="0" dirty="0"/>
              <a:t>54 strong</a:t>
            </a:r>
            <a:r>
              <a:rPr lang="en-US" altLang="zh-CN" b="0" dirty="0"/>
              <a:t> </a:t>
            </a:r>
            <a:r>
              <a:rPr lang="zh-CN" altLang="zh-CN" b="0" dirty="0"/>
              <a:t>masting species.</a:t>
            </a:r>
          </a:p>
          <a:p>
            <a:r>
              <a:rPr lang="zh-CN" altLang="zh-CN" dirty="0"/>
              <a:t>The other trait data came from several different sources. However, data availability varied among traits and species, and some traits were particularly sparse</a:t>
            </a:r>
            <a:r>
              <a:rPr lang="en-US" altLang="zh-CN" dirty="0"/>
              <a:t> such as leaf longevity and seed oil content</a:t>
            </a:r>
            <a:r>
              <a:rPr lang="zh-CN" altLang="zh-CN" dirty="0"/>
              <a:t>.</a:t>
            </a:r>
            <a:endParaRPr lang="en-US" altLang="zh-CN" dirty="0"/>
          </a:p>
          <a:p>
            <a:r>
              <a:rPr lang="en-US" altLang="zh-CN" dirty="0"/>
              <a:t>Box around traits with sparse data.</a:t>
            </a:r>
            <a:endParaRPr lang="zh-CN" altLang="zh-CN" dirty="0"/>
          </a:p>
        </p:txBody>
      </p:sp>
      <p:sp>
        <p:nvSpPr>
          <p:cNvPr id="4" name="Slide Number Placeholder 3">
            <a:extLst>
              <a:ext uri="{FF2B5EF4-FFF2-40B4-BE49-F238E27FC236}">
                <a16:creationId xmlns:a16="http://schemas.microsoft.com/office/drawing/2014/main" id="{A1B15D35-F1F1-E244-2263-9D337FC78A6C}"/>
              </a:ext>
            </a:extLst>
          </p:cNvPr>
          <p:cNvSpPr>
            <a:spLocks noGrp="1"/>
          </p:cNvSpPr>
          <p:nvPr>
            <p:ph type="sldNum" sz="quarter" idx="5"/>
          </p:nvPr>
        </p:nvSpPr>
        <p:spPr/>
        <p:txBody>
          <a:bodyPr/>
          <a:lstStyle/>
          <a:p>
            <a:fld id="{8BB1352A-F5A4-438C-80B2-90A61EDF0371}" type="slidenum">
              <a:rPr lang="zh-CN" altLang="en-US" smtClean="0"/>
              <a:t>9</a:t>
            </a:fld>
            <a:endParaRPr lang="zh-CN" altLang="en-US"/>
          </a:p>
        </p:txBody>
      </p:sp>
    </p:spTree>
    <p:extLst>
      <p:ext uri="{BB962C8B-B14F-4D97-AF65-F5344CB8AC3E}">
        <p14:creationId xmlns:p14="http://schemas.microsoft.com/office/powerpoint/2010/main" val="16059594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F27F8-7F40-285C-AD5E-0A65DE1269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4C5B39-F7EC-0C81-E167-7FC18A0A38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850D95-5184-6A54-07C5-A3B52556BEF9}"/>
              </a:ext>
            </a:extLst>
          </p:cNvPr>
          <p:cNvSpPr>
            <a:spLocks noGrp="1"/>
          </p:cNvSpPr>
          <p:nvPr>
            <p:ph type="body" idx="1"/>
          </p:nvPr>
        </p:nvSpPr>
        <p:spPr/>
        <p:txBody>
          <a:bodyPr/>
          <a:lstStyle/>
          <a:p>
            <a:r>
              <a:rPr lang="zh-CN" altLang="zh-CN" dirty="0"/>
              <a:t>For the masting data, I extracted information from </a:t>
            </a:r>
            <a:r>
              <a:rPr lang="zh-CN" altLang="zh-CN" i="0" dirty="0"/>
              <a:t>Silvics of North America</a:t>
            </a:r>
            <a:r>
              <a:rPr lang="zh-CN" altLang="zh-CN" dirty="0"/>
              <a:t>. The book provides descriptive information on seed production pattern, so I </a:t>
            </a:r>
            <a:r>
              <a:rPr lang="en-US" altLang="zh-CN" dirty="0"/>
              <a:t>used certain wording as standard</a:t>
            </a:r>
            <a:r>
              <a:rPr lang="zh-CN" altLang="zh-CN" dirty="0"/>
              <a:t> to classify species into </a:t>
            </a:r>
            <a:r>
              <a:rPr lang="zh-CN" altLang="zh-CN" b="1" dirty="0"/>
              <a:t>strong masting</a:t>
            </a:r>
            <a:r>
              <a:rPr lang="zh-CN" altLang="zh-CN" dirty="0"/>
              <a:t> and </a:t>
            </a:r>
            <a:r>
              <a:rPr lang="zh-CN" altLang="zh-CN" b="1" dirty="0"/>
              <a:t>weak masting</a:t>
            </a:r>
            <a:r>
              <a:rPr lang="zh-CN" altLang="zh-CN" dirty="0"/>
              <a:t> categories.</a:t>
            </a:r>
          </a:p>
          <a:p>
            <a:r>
              <a:rPr lang="zh-CN" altLang="zh-CN" dirty="0"/>
              <a:t>In the final dataset, I had </a:t>
            </a:r>
            <a:r>
              <a:rPr lang="zh-CN" altLang="zh-CN" b="0" dirty="0"/>
              <a:t>98 angiosperm species </a:t>
            </a:r>
            <a:r>
              <a:rPr lang="zh-CN" altLang="zh-CN" dirty="0"/>
              <a:t>with masting information, of which </a:t>
            </a:r>
            <a:r>
              <a:rPr lang="zh-CN" altLang="zh-CN" b="0" dirty="0"/>
              <a:t>51 were classified as strong</a:t>
            </a:r>
            <a:r>
              <a:rPr lang="en-US" altLang="zh-CN" b="0" dirty="0"/>
              <a:t> </a:t>
            </a:r>
            <a:r>
              <a:rPr lang="zh-CN" altLang="zh-CN" b="0" dirty="0"/>
              <a:t>masting species. </a:t>
            </a:r>
            <a:r>
              <a:rPr lang="zh-CN" altLang="zh-CN" dirty="0"/>
              <a:t>For gymnosperms, I ha</a:t>
            </a:r>
            <a:r>
              <a:rPr lang="zh-CN" altLang="zh-CN" b="0" dirty="0"/>
              <a:t>d 61 species</a:t>
            </a:r>
            <a:r>
              <a:rPr lang="zh-CN" altLang="zh-CN" dirty="0"/>
              <a:t>, including </a:t>
            </a:r>
            <a:r>
              <a:rPr lang="zh-CN" altLang="zh-CN" b="0" dirty="0"/>
              <a:t>54 strong</a:t>
            </a:r>
            <a:r>
              <a:rPr lang="en-US" altLang="zh-CN" b="0" dirty="0"/>
              <a:t> </a:t>
            </a:r>
            <a:r>
              <a:rPr lang="zh-CN" altLang="zh-CN" b="0" dirty="0"/>
              <a:t>masting species.</a:t>
            </a:r>
          </a:p>
          <a:p>
            <a:r>
              <a:rPr lang="zh-CN" altLang="zh-CN" dirty="0"/>
              <a:t>The other trait data came from several different sources. However, data availability varied among traits and species, and some traits were particularly sparse</a:t>
            </a:r>
            <a:r>
              <a:rPr lang="en-US" altLang="zh-CN" dirty="0"/>
              <a:t> such as leaf longevity and seed oil content</a:t>
            </a:r>
            <a:r>
              <a:rPr lang="zh-CN" altLang="zh-CN" dirty="0"/>
              <a:t>.</a:t>
            </a:r>
            <a:endParaRPr lang="en-US" altLang="zh-CN" dirty="0"/>
          </a:p>
          <a:p>
            <a:r>
              <a:rPr lang="en-US" altLang="zh-CN" dirty="0"/>
              <a:t>Box around traits with sparse data.</a:t>
            </a:r>
            <a:endParaRPr lang="zh-CN" altLang="zh-CN" dirty="0"/>
          </a:p>
        </p:txBody>
      </p:sp>
      <p:sp>
        <p:nvSpPr>
          <p:cNvPr id="4" name="Slide Number Placeholder 3">
            <a:extLst>
              <a:ext uri="{FF2B5EF4-FFF2-40B4-BE49-F238E27FC236}">
                <a16:creationId xmlns:a16="http://schemas.microsoft.com/office/drawing/2014/main" id="{7438622A-E2CF-FFE5-E184-F9CB03EB5C42}"/>
              </a:ext>
            </a:extLst>
          </p:cNvPr>
          <p:cNvSpPr>
            <a:spLocks noGrp="1"/>
          </p:cNvSpPr>
          <p:nvPr>
            <p:ph type="sldNum" sz="quarter" idx="5"/>
          </p:nvPr>
        </p:nvSpPr>
        <p:spPr/>
        <p:txBody>
          <a:bodyPr/>
          <a:lstStyle/>
          <a:p>
            <a:fld id="{8BB1352A-F5A4-438C-80B2-90A61EDF0371}" type="slidenum">
              <a:rPr lang="zh-CN" altLang="en-US" smtClean="0"/>
              <a:t>10</a:t>
            </a:fld>
            <a:endParaRPr lang="zh-CN" altLang="en-US"/>
          </a:p>
        </p:txBody>
      </p:sp>
    </p:spTree>
    <p:extLst>
      <p:ext uri="{BB962C8B-B14F-4D97-AF65-F5344CB8AC3E}">
        <p14:creationId xmlns:p14="http://schemas.microsoft.com/office/powerpoint/2010/main" val="7395995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81F51-139C-93AA-7F9B-2472627DBE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0D0171-67C8-BB59-F5DC-C255369B74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D332C7-6F24-1A18-94B5-E6BAFBBDA54D}"/>
              </a:ext>
            </a:extLst>
          </p:cNvPr>
          <p:cNvSpPr>
            <a:spLocks noGrp="1"/>
          </p:cNvSpPr>
          <p:nvPr>
            <p:ph type="body" idx="1"/>
          </p:nvPr>
        </p:nvSpPr>
        <p:spPr/>
        <p:txBody>
          <a:bodyPr/>
          <a:lstStyle/>
          <a:p>
            <a:r>
              <a:rPr lang="zh-CN" altLang="zh-CN" dirty="0"/>
              <a:t>For the current progress on this chapter, I have completed the analyses of individual traits using phyloglm.</a:t>
            </a:r>
          </a:p>
          <a:p>
            <a:r>
              <a:rPr lang="zh-CN" altLang="zh-CN" dirty="0"/>
              <a:t>I also conducted a multivariate analysis usin</a:t>
            </a:r>
            <a:r>
              <a:rPr lang="zh-CN" altLang="zh-CN" b="0" dirty="0"/>
              <a:t>g NMDS </a:t>
            </a:r>
            <a:r>
              <a:rPr lang="zh-CN" altLang="zh-CN" dirty="0"/>
              <a:t>to examine whether masting patterns are associated with combinations of traits within each hypothes</a:t>
            </a:r>
            <a:r>
              <a:rPr lang="en-US" altLang="zh-CN" dirty="0"/>
              <a:t>is</a:t>
            </a:r>
            <a:r>
              <a:rPr lang="zh-CN" altLang="zh-CN" dirty="0"/>
              <a:t>.</a:t>
            </a:r>
          </a:p>
          <a:p>
            <a:r>
              <a:rPr lang="zh-CN" altLang="zh-CN" dirty="0"/>
              <a:t>Both of these analyses are now complete, and I have also finished the outline of the manuscript.</a:t>
            </a:r>
          </a:p>
          <a:p>
            <a:r>
              <a:rPr lang="zh-CN" altLang="zh-CN" dirty="0"/>
              <a:t>I am currently writing the manuscript, with most of my focus now on the </a:t>
            </a:r>
            <a:r>
              <a:rPr lang="zh-CN" altLang="zh-CN" b="0" dirty="0"/>
              <a:t>Discussion.</a:t>
            </a:r>
          </a:p>
          <a:p>
            <a:r>
              <a:rPr lang="zh-CN" altLang="zh-CN" dirty="0"/>
              <a:t>So, today I would particularly like to get your feedback on how I can strengthen the </a:t>
            </a:r>
            <a:r>
              <a:rPr lang="zh-CN" altLang="zh-CN" b="0" dirty="0"/>
              <a:t>evolutionary interpretation</a:t>
            </a:r>
            <a:r>
              <a:rPr lang="zh-CN" altLang="zh-CN" dirty="0"/>
              <a:t> of these results and better connect the findings to the evolutionary mechanisms underlying masting.</a:t>
            </a:r>
            <a:endParaRPr lang="en-US" altLang="zh-CN" dirty="0"/>
          </a:p>
          <a:p>
            <a:r>
              <a:rPr lang="en-US" altLang="zh-CN" dirty="0"/>
              <a:t>(Going to share the results today)</a:t>
            </a:r>
            <a:endParaRPr lang="zh-CN" altLang="zh-CN" dirty="0"/>
          </a:p>
        </p:txBody>
      </p:sp>
      <p:sp>
        <p:nvSpPr>
          <p:cNvPr id="4" name="Slide Number Placeholder 3">
            <a:extLst>
              <a:ext uri="{FF2B5EF4-FFF2-40B4-BE49-F238E27FC236}">
                <a16:creationId xmlns:a16="http://schemas.microsoft.com/office/drawing/2014/main" id="{7B442F6F-51DA-2122-A610-0202B7E9DB27}"/>
              </a:ext>
            </a:extLst>
          </p:cNvPr>
          <p:cNvSpPr>
            <a:spLocks noGrp="1"/>
          </p:cNvSpPr>
          <p:nvPr>
            <p:ph type="sldNum" sz="quarter" idx="5"/>
          </p:nvPr>
        </p:nvSpPr>
        <p:spPr/>
        <p:txBody>
          <a:bodyPr/>
          <a:lstStyle/>
          <a:p>
            <a:fld id="{8BB1352A-F5A4-438C-80B2-90A61EDF0371}" type="slidenum">
              <a:rPr lang="zh-CN" altLang="en-US" smtClean="0"/>
              <a:t>11</a:t>
            </a:fld>
            <a:endParaRPr lang="zh-CN" altLang="en-US"/>
          </a:p>
        </p:txBody>
      </p:sp>
    </p:spTree>
    <p:extLst>
      <p:ext uri="{BB962C8B-B14F-4D97-AF65-F5344CB8AC3E}">
        <p14:creationId xmlns:p14="http://schemas.microsoft.com/office/powerpoint/2010/main" val="14448109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A7188-2FBE-E7E0-0437-BECD8DF86F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C54648-BE6D-B4D8-0BBB-2FB8E08754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C4BA9A-8502-D213-7D79-05D2FB148340}"/>
              </a:ext>
            </a:extLst>
          </p:cNvPr>
          <p:cNvSpPr>
            <a:spLocks noGrp="1"/>
          </p:cNvSpPr>
          <p:nvPr>
            <p:ph type="body" idx="1"/>
          </p:nvPr>
        </p:nvSpPr>
        <p:spPr/>
        <p:txBody>
          <a:bodyPr/>
          <a:lstStyle/>
          <a:p>
            <a:r>
              <a:rPr lang="en-US" altLang="zh-CN" dirty="0"/>
              <a:t>For the results. I found significant relationships between traits related to predator satiation and pollination efficiency and strong masting in angiosperms.</a:t>
            </a:r>
          </a:p>
          <a:p>
            <a:endParaRPr lang="en-US" altLang="zh-CN" dirty="0"/>
          </a:p>
          <a:p>
            <a:r>
              <a:rPr lang="en-US" altLang="zh-CN" dirty="0"/>
              <a:t>For the traits related to predator satiation, seed weight was the only significant traits. Larger seed weight was associated with a higher probability of strong masting. I also looked into different dispersal groups. This relationship was slightly stronger among species with biotic seed dispersal.</a:t>
            </a:r>
          </a:p>
        </p:txBody>
      </p:sp>
      <p:sp>
        <p:nvSpPr>
          <p:cNvPr id="4" name="Slide Number Placeholder 3">
            <a:extLst>
              <a:ext uri="{FF2B5EF4-FFF2-40B4-BE49-F238E27FC236}">
                <a16:creationId xmlns:a16="http://schemas.microsoft.com/office/drawing/2014/main" id="{0841A6B0-E839-FD53-0E38-3F58B9F3C455}"/>
              </a:ext>
            </a:extLst>
          </p:cNvPr>
          <p:cNvSpPr>
            <a:spLocks noGrp="1"/>
          </p:cNvSpPr>
          <p:nvPr>
            <p:ph type="sldNum" sz="quarter" idx="5"/>
          </p:nvPr>
        </p:nvSpPr>
        <p:spPr/>
        <p:txBody>
          <a:bodyPr/>
          <a:lstStyle/>
          <a:p>
            <a:fld id="{8BB1352A-F5A4-438C-80B2-90A61EDF0371}" type="slidenum">
              <a:rPr lang="zh-CN" altLang="en-US" smtClean="0"/>
              <a:t>12</a:t>
            </a:fld>
            <a:endParaRPr lang="zh-CN" altLang="en-US"/>
          </a:p>
        </p:txBody>
      </p:sp>
    </p:spTree>
    <p:extLst>
      <p:ext uri="{BB962C8B-B14F-4D97-AF65-F5344CB8AC3E}">
        <p14:creationId xmlns:p14="http://schemas.microsoft.com/office/powerpoint/2010/main" val="1979332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CAF61-80B8-740E-C01B-D3750D6D2B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90CEAD-A068-CBB2-92FC-C8D98ECB8A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90700C-F758-AFE3-C394-699A24756EBA}"/>
              </a:ext>
            </a:extLst>
          </p:cNvPr>
          <p:cNvSpPr>
            <a:spLocks noGrp="1"/>
          </p:cNvSpPr>
          <p:nvPr>
            <p:ph type="body" idx="1"/>
          </p:nvPr>
        </p:nvSpPr>
        <p:spPr/>
        <p:txBody>
          <a:bodyPr/>
          <a:lstStyle/>
          <a:p>
            <a:r>
              <a:rPr lang="en-US" altLang="zh-CN" dirty="0"/>
              <a:t>For pollination related traits, pollination mode was the only significant trait. Wind-pollinated angiosperms had a higher </a:t>
            </a:r>
            <a:r>
              <a:rPr lang="en-US" altLang="zh-CN" dirty="0" err="1"/>
              <a:t>predictied</a:t>
            </a:r>
            <a:r>
              <a:rPr lang="en-US" altLang="zh-CN" dirty="0"/>
              <a:t> probability of strong masting compared with animal-pollinated species, which align with the literatures. One important point here is that all the gymnosperms species in our dataset were wind-pollinated, at the same time, gymnosperms also had a much higher proportion of strong masting species overall. These results suggest that some reproductive traits are associated with stronger masting, but the patterns may differ between major plant groups.</a:t>
            </a:r>
          </a:p>
        </p:txBody>
      </p:sp>
      <p:sp>
        <p:nvSpPr>
          <p:cNvPr id="4" name="Slide Number Placeholder 3">
            <a:extLst>
              <a:ext uri="{FF2B5EF4-FFF2-40B4-BE49-F238E27FC236}">
                <a16:creationId xmlns:a16="http://schemas.microsoft.com/office/drawing/2014/main" id="{13623DE1-65FC-2085-28D0-7BBBD97A80E3}"/>
              </a:ext>
            </a:extLst>
          </p:cNvPr>
          <p:cNvSpPr>
            <a:spLocks noGrp="1"/>
          </p:cNvSpPr>
          <p:nvPr>
            <p:ph type="sldNum" sz="quarter" idx="5"/>
          </p:nvPr>
        </p:nvSpPr>
        <p:spPr/>
        <p:txBody>
          <a:bodyPr/>
          <a:lstStyle/>
          <a:p>
            <a:fld id="{8BB1352A-F5A4-438C-80B2-90A61EDF0371}" type="slidenum">
              <a:rPr lang="zh-CN" altLang="en-US" smtClean="0"/>
              <a:t>13</a:t>
            </a:fld>
            <a:endParaRPr lang="zh-CN" altLang="en-US"/>
          </a:p>
        </p:txBody>
      </p:sp>
    </p:spTree>
    <p:extLst>
      <p:ext uri="{BB962C8B-B14F-4D97-AF65-F5344CB8AC3E}">
        <p14:creationId xmlns:p14="http://schemas.microsoft.com/office/powerpoint/2010/main" val="2663112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B12C0-AE3A-CAD4-9FAE-9E10F1A5DF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85C9F4-678C-3292-2C3C-E4A68F03B2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CB4FFA-8BAA-39DF-077C-3C697EB2A750}"/>
              </a:ext>
            </a:extLst>
          </p:cNvPr>
          <p:cNvSpPr>
            <a:spLocks noGrp="1"/>
          </p:cNvSpPr>
          <p:nvPr>
            <p:ph type="body" idx="1"/>
          </p:nvPr>
        </p:nvSpPr>
        <p:spPr/>
        <p:txBody>
          <a:bodyPr/>
          <a:lstStyle/>
          <a:p>
            <a:r>
              <a:rPr lang="en-US" altLang="zh-CN" dirty="0"/>
              <a:t>For pollination related traits, pollination mode was the only significant trait. Wind-pollinated angiosperms had a higher </a:t>
            </a:r>
            <a:r>
              <a:rPr lang="en-US" altLang="zh-CN" dirty="0" err="1"/>
              <a:t>predictied</a:t>
            </a:r>
            <a:r>
              <a:rPr lang="en-US" altLang="zh-CN" dirty="0"/>
              <a:t> probability of strong masting compared with animal-pollinated species, which align with the literatures. One important point here is that all the gymnosperms species in our dataset were wind-pollinated, at the same time, gymnosperms also had a much higher proportion of strong masting species overall. These results suggest that some reproductive traits are associated with stronger masting, but the patterns may differ between major plant groups.</a:t>
            </a:r>
          </a:p>
        </p:txBody>
      </p:sp>
      <p:sp>
        <p:nvSpPr>
          <p:cNvPr id="4" name="Slide Number Placeholder 3">
            <a:extLst>
              <a:ext uri="{FF2B5EF4-FFF2-40B4-BE49-F238E27FC236}">
                <a16:creationId xmlns:a16="http://schemas.microsoft.com/office/drawing/2014/main" id="{09F7C405-8FA7-A52D-F15B-6884B87A4C5D}"/>
              </a:ext>
            </a:extLst>
          </p:cNvPr>
          <p:cNvSpPr>
            <a:spLocks noGrp="1"/>
          </p:cNvSpPr>
          <p:nvPr>
            <p:ph type="sldNum" sz="quarter" idx="5"/>
          </p:nvPr>
        </p:nvSpPr>
        <p:spPr/>
        <p:txBody>
          <a:bodyPr/>
          <a:lstStyle/>
          <a:p>
            <a:fld id="{8BB1352A-F5A4-438C-80B2-90A61EDF0371}" type="slidenum">
              <a:rPr lang="zh-CN" altLang="en-US" smtClean="0"/>
              <a:t>14</a:t>
            </a:fld>
            <a:endParaRPr lang="zh-CN" altLang="en-US"/>
          </a:p>
        </p:txBody>
      </p:sp>
    </p:spTree>
    <p:extLst>
      <p:ext uri="{BB962C8B-B14F-4D97-AF65-F5344CB8AC3E}">
        <p14:creationId xmlns:p14="http://schemas.microsoft.com/office/powerpoint/2010/main" val="17236706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FA485-6BC4-4D49-DED8-66CB133309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D6FB73-FA5C-86E8-E54B-D23BE5BF60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48AE71-85DF-3391-67F8-67E753F0D225}"/>
              </a:ext>
            </a:extLst>
          </p:cNvPr>
          <p:cNvSpPr>
            <a:spLocks noGrp="1"/>
          </p:cNvSpPr>
          <p:nvPr>
            <p:ph type="body" idx="1"/>
          </p:nvPr>
        </p:nvSpPr>
        <p:spPr/>
        <p:txBody>
          <a:bodyPr/>
          <a:lstStyle/>
          <a:p>
            <a:r>
              <a:rPr lang="zh-CN" altLang="zh-CN" dirty="0"/>
              <a:t>So, for the discussion, there are three main points that I’m thinking about.</a:t>
            </a:r>
          </a:p>
          <a:p>
            <a:r>
              <a:rPr lang="zh-CN" altLang="zh-CN" dirty="0"/>
              <a:t>First, the results suggest that traits associated with different stages of reproduction may be linked to masting through different mechanisms. The association with wind pollination is consistent with th</a:t>
            </a:r>
            <a:r>
              <a:rPr lang="zh-CN" altLang="zh-CN" b="0" dirty="0"/>
              <a:t>e pollination coupling hypothesis</a:t>
            </a:r>
            <a:r>
              <a:rPr lang="zh-CN" altLang="zh-CN" dirty="0"/>
              <a:t>, while the relationship between seed weight and masting is consistent with the </a:t>
            </a:r>
            <a:r>
              <a:rPr lang="zh-CN" altLang="zh-CN" b="0" dirty="0"/>
              <a:t>predator satiation hypothesis</a:t>
            </a:r>
            <a:r>
              <a:rPr lang="zh-CN" altLang="zh-CN" dirty="0"/>
              <a:t>.</a:t>
            </a:r>
          </a:p>
          <a:p>
            <a:r>
              <a:rPr lang="en-US" altLang="zh-CN" dirty="0"/>
              <a:t>T</a:t>
            </a:r>
            <a:r>
              <a:rPr lang="zh-CN" altLang="zh-CN" dirty="0"/>
              <a:t>hese mechanisms operate at different stages of the </a:t>
            </a:r>
            <a:r>
              <a:rPr lang="en-US" altLang="zh-CN" dirty="0"/>
              <a:t>reproductive</a:t>
            </a:r>
            <a:r>
              <a:rPr lang="zh-CN" altLang="zh-CN" dirty="0"/>
              <a:t> process. From an evolutionary perspective, this could potentially indicate that selection favours coordinated strategies that increase the overall probability of successful reproduction and recruitment, rather than acting on only one stage of the reproductive cycle.</a:t>
            </a:r>
            <a:endParaRPr lang="en-US" altLang="zh-CN" dirty="0"/>
          </a:p>
          <a:p>
            <a:r>
              <a:rPr lang="en-US" altLang="zh-CN" dirty="0"/>
              <a:t>Also, bigger seeds usually is linked with higher established success, so this in the masting context make sure the survived seeds from predators can germinate.</a:t>
            </a:r>
            <a:endParaRPr lang="zh-CN" altLang="zh-CN" dirty="0"/>
          </a:p>
          <a:p>
            <a:r>
              <a:rPr lang="zh-CN" altLang="zh-CN" dirty="0"/>
              <a:t>Second, I think there are some important limitations to interpreting these relationships at the species level. Masting is fundamentally a population-level phenomenon, while most of the traits in my analysis are species-level. So, some traits that were not significant here may still be important within species or under particular environmental conditions.</a:t>
            </a:r>
          </a:p>
          <a:p>
            <a:r>
              <a:rPr lang="zh-CN" altLang="zh-CN" dirty="0"/>
              <a:t>There is also strong phylogenetic structure in many of these traits. This makes it difficult to completely separate the effect of a particular trait from the broader evolutionary history of the species.</a:t>
            </a:r>
          </a:p>
          <a:p>
            <a:r>
              <a:rPr lang="zh-CN" altLang="zh-CN" dirty="0"/>
              <a:t>This leads to my third point, </a:t>
            </a:r>
            <a:r>
              <a:rPr lang="en-US" altLang="zh-CN" dirty="0"/>
              <a:t>t</a:t>
            </a:r>
            <a:r>
              <a:rPr lang="zh-CN" altLang="zh-CN" dirty="0"/>
              <a:t>he strong difference between gymnosperms and angiosperms makes me wonder whether masting may have followed different evolutionary trajectories in these two groups. But to understand that, I think we need more targeted comparisons within clades, as well as more data at both the </a:t>
            </a:r>
            <a:r>
              <a:rPr lang="zh-CN" altLang="zh-CN" b="0" dirty="0"/>
              <a:t>population level and across deeper evolutionary relationships.</a:t>
            </a:r>
          </a:p>
        </p:txBody>
      </p:sp>
      <p:sp>
        <p:nvSpPr>
          <p:cNvPr id="4" name="Slide Number Placeholder 3">
            <a:extLst>
              <a:ext uri="{FF2B5EF4-FFF2-40B4-BE49-F238E27FC236}">
                <a16:creationId xmlns:a16="http://schemas.microsoft.com/office/drawing/2014/main" id="{BBEA786B-E808-4AC2-513E-62F0099EF37F}"/>
              </a:ext>
            </a:extLst>
          </p:cNvPr>
          <p:cNvSpPr>
            <a:spLocks noGrp="1"/>
          </p:cNvSpPr>
          <p:nvPr>
            <p:ph type="sldNum" sz="quarter" idx="5"/>
          </p:nvPr>
        </p:nvSpPr>
        <p:spPr/>
        <p:txBody>
          <a:bodyPr/>
          <a:lstStyle/>
          <a:p>
            <a:fld id="{8BB1352A-F5A4-438C-80B2-90A61EDF0371}" type="slidenum">
              <a:rPr lang="zh-CN" altLang="en-US" smtClean="0"/>
              <a:t>15</a:t>
            </a:fld>
            <a:endParaRPr lang="zh-CN" altLang="en-US"/>
          </a:p>
        </p:txBody>
      </p:sp>
    </p:spTree>
    <p:extLst>
      <p:ext uri="{BB962C8B-B14F-4D97-AF65-F5344CB8AC3E}">
        <p14:creationId xmlns:p14="http://schemas.microsoft.com/office/powerpoint/2010/main" val="20510393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778F2-6F1C-A73C-EB12-4B797EF2B8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55F7E-F917-5E9F-AB1A-34369B5DF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96C7DB-D07A-D8D6-1823-B460E0407F26}"/>
              </a:ext>
            </a:extLst>
          </p:cNvPr>
          <p:cNvSpPr>
            <a:spLocks noGrp="1"/>
          </p:cNvSpPr>
          <p:nvPr>
            <p:ph type="body" idx="1"/>
          </p:nvPr>
        </p:nvSpPr>
        <p:spPr/>
        <p:txBody>
          <a:bodyPr/>
          <a:lstStyle/>
          <a:p>
            <a:r>
              <a:rPr lang="en-US" altLang="zh-CN" dirty="0"/>
              <a:t>For the second chapter, I ‘m interested in the resource allocation perspective of masting, and specifically the relationship between growth and reproduction.</a:t>
            </a:r>
          </a:p>
          <a:p>
            <a:r>
              <a:rPr lang="en-US" altLang="zh-CN" dirty="0"/>
              <a:t>The key idea I want to explain with this conceptual figure is that trees have limited resources that can be allocated to different processes, here we concentrate on growth and reproduction.</a:t>
            </a:r>
          </a:p>
          <a:p>
            <a:r>
              <a:rPr lang="en-US" altLang="zh-CN" dirty="0"/>
              <a:t>Under a </a:t>
            </a:r>
            <a:r>
              <a:rPr lang="en-US" altLang="zh-CN" b="1" dirty="0"/>
              <a:t>constant allocation strategy</a:t>
            </a:r>
            <a:r>
              <a:rPr lang="en-US" altLang="zh-CN" b="0" dirty="0"/>
              <a:t>, a relatively consistent proportion of resources is allocated to reproduction each year. In this case, variation in seed mainly reflect resources availability. In contrast, under </a:t>
            </a:r>
            <a:r>
              <a:rPr lang="en-US" altLang="zh-CN" b="1" dirty="0"/>
              <a:t>a non-constant allocation strategy</a:t>
            </a:r>
            <a:r>
              <a:rPr lang="en-US" altLang="zh-CN" b="0" dirty="0"/>
              <a:t>, trees may shift allocation between growth and reproduction across years. This distinction is important to understand masting because if reproductive allocation changes among years, variation in seed production may not simply reflect variation in resource availability. Instead, it could reflect how trees actively allocate resources between growth and reproduction over time. In this chapter, I am using empirical data collected from Mount Rainier to investigate this growth reproduction relationship.</a:t>
            </a:r>
          </a:p>
          <a:p>
            <a:endParaRPr lang="en-US" altLang="zh-CN" b="0" dirty="0"/>
          </a:p>
          <a:p>
            <a:r>
              <a:rPr lang="en-US" altLang="zh-CN" b="0" dirty="0"/>
              <a:t>(Add my name to the figure)</a:t>
            </a:r>
            <a:endParaRPr lang="zh-CN" altLang="en-US" b="1" dirty="0"/>
          </a:p>
        </p:txBody>
      </p:sp>
      <p:sp>
        <p:nvSpPr>
          <p:cNvPr id="4" name="Slide Number Placeholder 3">
            <a:extLst>
              <a:ext uri="{FF2B5EF4-FFF2-40B4-BE49-F238E27FC236}">
                <a16:creationId xmlns:a16="http://schemas.microsoft.com/office/drawing/2014/main" id="{CD3B0694-6848-E6A3-B777-24E5BA366C7F}"/>
              </a:ext>
            </a:extLst>
          </p:cNvPr>
          <p:cNvSpPr>
            <a:spLocks noGrp="1"/>
          </p:cNvSpPr>
          <p:nvPr>
            <p:ph type="sldNum" sz="quarter" idx="5"/>
          </p:nvPr>
        </p:nvSpPr>
        <p:spPr/>
        <p:txBody>
          <a:bodyPr/>
          <a:lstStyle/>
          <a:p>
            <a:fld id="{8BB1352A-F5A4-438C-80B2-90A61EDF0371}" type="slidenum">
              <a:rPr lang="zh-CN" altLang="en-US" smtClean="0"/>
              <a:t>16</a:t>
            </a:fld>
            <a:endParaRPr lang="zh-CN" altLang="en-US"/>
          </a:p>
        </p:txBody>
      </p:sp>
    </p:spTree>
    <p:extLst>
      <p:ext uri="{BB962C8B-B14F-4D97-AF65-F5344CB8AC3E}">
        <p14:creationId xmlns:p14="http://schemas.microsoft.com/office/powerpoint/2010/main" val="30787696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5DCA6-209D-7BEC-5BF6-92A69F34FD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F03CFB-F1A2-7E92-9D47-BFB479D563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290CE8-33A8-22CD-E923-58EAD81A377E}"/>
              </a:ext>
            </a:extLst>
          </p:cNvPr>
          <p:cNvSpPr>
            <a:spLocks noGrp="1"/>
          </p:cNvSpPr>
          <p:nvPr>
            <p:ph type="body" idx="1"/>
          </p:nvPr>
        </p:nvSpPr>
        <p:spPr/>
        <p:txBody>
          <a:bodyPr/>
          <a:lstStyle/>
          <a:p>
            <a:r>
              <a:rPr lang="en-US" altLang="zh-CN" dirty="0"/>
              <a:t>We collected over 1000 tree cores from Mount Rainier two years ago and in the past year I’ve been working intensively on processing them, scanning them and measuring them with lots of help from our WL students. So far, we’ve finished the scanning of all cores and done with measurement for 5 stands. I still need to work on the cross-dating to make sure all the years are assigned correctly to each ring. At the same time, I’ve also been working on building the model.</a:t>
            </a:r>
            <a:endParaRPr lang="zh-CN" altLang="en-US" dirty="0"/>
          </a:p>
        </p:txBody>
      </p:sp>
      <p:sp>
        <p:nvSpPr>
          <p:cNvPr id="4" name="Slide Number Placeholder 3">
            <a:extLst>
              <a:ext uri="{FF2B5EF4-FFF2-40B4-BE49-F238E27FC236}">
                <a16:creationId xmlns:a16="http://schemas.microsoft.com/office/drawing/2014/main" id="{25C4FD26-E8F3-F60B-A43B-C52236E8B870}"/>
              </a:ext>
            </a:extLst>
          </p:cNvPr>
          <p:cNvSpPr>
            <a:spLocks noGrp="1"/>
          </p:cNvSpPr>
          <p:nvPr>
            <p:ph type="sldNum" sz="quarter" idx="5"/>
          </p:nvPr>
        </p:nvSpPr>
        <p:spPr/>
        <p:txBody>
          <a:bodyPr/>
          <a:lstStyle/>
          <a:p>
            <a:fld id="{8BB1352A-F5A4-438C-80B2-90A61EDF0371}" type="slidenum">
              <a:rPr lang="zh-CN" altLang="en-US" smtClean="0"/>
              <a:t>17</a:t>
            </a:fld>
            <a:endParaRPr lang="zh-CN" altLang="en-US"/>
          </a:p>
        </p:txBody>
      </p:sp>
    </p:spTree>
    <p:extLst>
      <p:ext uri="{BB962C8B-B14F-4D97-AF65-F5344CB8AC3E}">
        <p14:creationId xmlns:p14="http://schemas.microsoft.com/office/powerpoint/2010/main" val="366635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F099E-E279-BE71-C0CD-7FD2EC4F17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BEDDCE-6D25-9283-56A0-AA910D9E86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412181-5AE9-8146-BF39-75790905753A}"/>
              </a:ext>
            </a:extLst>
          </p:cNvPr>
          <p:cNvSpPr>
            <a:spLocks noGrp="1"/>
          </p:cNvSpPr>
          <p:nvPr>
            <p:ph type="body" idx="1"/>
          </p:nvPr>
        </p:nvSpPr>
        <p:spPr/>
        <p:txBody>
          <a:bodyPr/>
          <a:lstStyle/>
          <a:p>
            <a:r>
              <a:rPr lang="en-US" altLang="zh-CN" dirty="0"/>
              <a:t>We’ve worked on multiple versions of model, and finally decided to go for something simple. We take the mean from each individual tree within each stand to get a stand level growth to pair with stand level seed data. Seed production is directly linked to current year growth and previous year growth.</a:t>
            </a:r>
          </a:p>
          <a:p>
            <a:endParaRPr lang="en-US" altLang="zh-CN" dirty="0"/>
          </a:p>
          <a:p>
            <a:r>
              <a:rPr lang="en-US" altLang="zh-CN" dirty="0"/>
              <a:t>(Put boxes around gammas)</a:t>
            </a:r>
            <a:endParaRPr lang="zh-CN" altLang="en-US" dirty="0"/>
          </a:p>
        </p:txBody>
      </p:sp>
      <p:sp>
        <p:nvSpPr>
          <p:cNvPr id="4" name="Slide Number Placeholder 3">
            <a:extLst>
              <a:ext uri="{FF2B5EF4-FFF2-40B4-BE49-F238E27FC236}">
                <a16:creationId xmlns:a16="http://schemas.microsoft.com/office/drawing/2014/main" id="{AA964EA1-081E-7D87-27DC-7A4A695A517F}"/>
              </a:ext>
            </a:extLst>
          </p:cNvPr>
          <p:cNvSpPr>
            <a:spLocks noGrp="1"/>
          </p:cNvSpPr>
          <p:nvPr>
            <p:ph type="sldNum" sz="quarter" idx="5"/>
          </p:nvPr>
        </p:nvSpPr>
        <p:spPr/>
        <p:txBody>
          <a:bodyPr/>
          <a:lstStyle/>
          <a:p>
            <a:fld id="{8BB1352A-F5A4-438C-80B2-90A61EDF0371}" type="slidenum">
              <a:rPr lang="zh-CN" altLang="en-US" smtClean="0"/>
              <a:t>18</a:t>
            </a:fld>
            <a:endParaRPr lang="zh-CN" altLang="en-US"/>
          </a:p>
        </p:txBody>
      </p:sp>
    </p:spTree>
    <p:extLst>
      <p:ext uri="{BB962C8B-B14F-4D97-AF65-F5344CB8AC3E}">
        <p14:creationId xmlns:p14="http://schemas.microsoft.com/office/powerpoint/2010/main" val="33492981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3D24B-B571-880D-C937-2175A37500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F780AA-59BA-A6B2-7439-834B4C30F4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5CCDA7-D0EA-1DB7-A5DB-885D39BE6FC3}"/>
              </a:ext>
            </a:extLst>
          </p:cNvPr>
          <p:cNvSpPr>
            <a:spLocks noGrp="1"/>
          </p:cNvSpPr>
          <p:nvPr>
            <p:ph type="body" idx="1"/>
          </p:nvPr>
        </p:nvSpPr>
        <p:spPr/>
        <p:txBody>
          <a:bodyPr/>
          <a:lstStyle/>
          <a:p>
            <a:r>
              <a:rPr lang="en-US" altLang="zh-CN" dirty="0"/>
              <a:t>We’ve worked on multiple versions of model, and finally decided to go for something simple. We take the mean from each individual tree within each stand to get a stand level growth to pair with stand level seed data. Seed production is directly linked to current year growth and previous year growth.</a:t>
            </a:r>
          </a:p>
          <a:p>
            <a:endParaRPr lang="en-US" altLang="zh-CN" dirty="0"/>
          </a:p>
          <a:p>
            <a:r>
              <a:rPr lang="en-US" altLang="zh-CN" dirty="0"/>
              <a:t>(Put boxes around gammas)</a:t>
            </a:r>
            <a:endParaRPr lang="zh-CN" altLang="en-US" dirty="0"/>
          </a:p>
        </p:txBody>
      </p:sp>
      <p:sp>
        <p:nvSpPr>
          <p:cNvPr id="4" name="Slide Number Placeholder 3">
            <a:extLst>
              <a:ext uri="{FF2B5EF4-FFF2-40B4-BE49-F238E27FC236}">
                <a16:creationId xmlns:a16="http://schemas.microsoft.com/office/drawing/2014/main" id="{87D0BE14-DDE0-5B66-0FFB-24DFA335134D}"/>
              </a:ext>
            </a:extLst>
          </p:cNvPr>
          <p:cNvSpPr>
            <a:spLocks noGrp="1"/>
          </p:cNvSpPr>
          <p:nvPr>
            <p:ph type="sldNum" sz="quarter" idx="5"/>
          </p:nvPr>
        </p:nvSpPr>
        <p:spPr/>
        <p:txBody>
          <a:bodyPr/>
          <a:lstStyle/>
          <a:p>
            <a:fld id="{8BB1352A-F5A4-438C-80B2-90A61EDF0371}" type="slidenum">
              <a:rPr lang="zh-CN" altLang="en-US" smtClean="0"/>
              <a:t>19</a:t>
            </a:fld>
            <a:endParaRPr lang="zh-CN" altLang="en-US"/>
          </a:p>
        </p:txBody>
      </p:sp>
    </p:spTree>
    <p:extLst>
      <p:ext uri="{BB962C8B-B14F-4D97-AF65-F5344CB8AC3E}">
        <p14:creationId xmlns:p14="http://schemas.microsoft.com/office/powerpoint/2010/main" val="31921556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9FEEF-3BE7-B040-0CAB-39A2A33830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98DFAB-554B-3663-9D99-61D7C8438C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147E1F-2742-39A0-E309-2B25EF57560D}"/>
              </a:ext>
            </a:extLst>
          </p:cNvPr>
          <p:cNvSpPr>
            <a:spLocks noGrp="1"/>
          </p:cNvSpPr>
          <p:nvPr>
            <p:ph type="body" idx="1"/>
          </p:nvPr>
        </p:nvSpPr>
        <p:spPr/>
        <p:txBody>
          <a:bodyPr/>
          <a:lstStyle/>
          <a:p>
            <a:r>
              <a:rPr lang="en-US" altLang="zh-CN" dirty="0"/>
              <a:t>We’ve worked on multiple versions of model, and finally decided to go for something simple. We take the mean from each individual tree within each stand to get a stand level growth to pair with stand level seed data. Seed production is directly linked to current year growth and previous year growth.</a:t>
            </a:r>
          </a:p>
          <a:p>
            <a:endParaRPr lang="en-US" altLang="zh-CN" dirty="0"/>
          </a:p>
          <a:p>
            <a:r>
              <a:rPr lang="en-US" altLang="zh-CN" dirty="0"/>
              <a:t>(Put boxes around gammas)</a:t>
            </a:r>
            <a:endParaRPr lang="zh-CN" altLang="en-US" dirty="0"/>
          </a:p>
        </p:txBody>
      </p:sp>
      <p:sp>
        <p:nvSpPr>
          <p:cNvPr id="4" name="Slide Number Placeholder 3">
            <a:extLst>
              <a:ext uri="{FF2B5EF4-FFF2-40B4-BE49-F238E27FC236}">
                <a16:creationId xmlns:a16="http://schemas.microsoft.com/office/drawing/2014/main" id="{2B26A1EA-AE79-D628-1B86-9DAA120C9479}"/>
              </a:ext>
            </a:extLst>
          </p:cNvPr>
          <p:cNvSpPr>
            <a:spLocks noGrp="1"/>
          </p:cNvSpPr>
          <p:nvPr>
            <p:ph type="sldNum" sz="quarter" idx="5"/>
          </p:nvPr>
        </p:nvSpPr>
        <p:spPr/>
        <p:txBody>
          <a:bodyPr/>
          <a:lstStyle/>
          <a:p>
            <a:fld id="{8BB1352A-F5A4-438C-80B2-90A61EDF0371}" type="slidenum">
              <a:rPr lang="zh-CN" altLang="en-US" smtClean="0"/>
              <a:t>20</a:t>
            </a:fld>
            <a:endParaRPr lang="zh-CN" altLang="en-US"/>
          </a:p>
        </p:txBody>
      </p:sp>
    </p:spTree>
    <p:extLst>
      <p:ext uri="{BB962C8B-B14F-4D97-AF65-F5344CB8AC3E}">
        <p14:creationId xmlns:p14="http://schemas.microsoft.com/office/powerpoint/2010/main" val="32764505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EEF28-67C0-8182-7287-6E4AE9DBC9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D6CA9-C4F8-0D23-9185-F1DCE2DBED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783685-53E9-9A81-EF1D-959ECE3CE2D8}"/>
              </a:ext>
            </a:extLst>
          </p:cNvPr>
          <p:cNvSpPr>
            <a:spLocks noGrp="1"/>
          </p:cNvSpPr>
          <p:nvPr>
            <p:ph type="body" idx="1"/>
          </p:nvPr>
        </p:nvSpPr>
        <p:spPr/>
        <p:txBody>
          <a:bodyPr/>
          <a:lstStyle/>
          <a:p>
            <a:r>
              <a:rPr lang="en-US" altLang="zh-CN" dirty="0"/>
              <a:t>We’ve worked on multiple versions of model, and finally decided to go for something simple. We take the mean from each individual tree within each stand to get a stand level growth to pair with stand level seed data. Seed production is directly linked to current year growth and previous year growth.</a:t>
            </a:r>
          </a:p>
          <a:p>
            <a:endParaRPr lang="en-US" altLang="zh-CN" dirty="0"/>
          </a:p>
          <a:p>
            <a:r>
              <a:rPr lang="en-US" altLang="zh-CN" dirty="0"/>
              <a:t>(Put boxes around gammas)</a:t>
            </a:r>
            <a:endParaRPr lang="zh-CN" altLang="en-US" dirty="0"/>
          </a:p>
        </p:txBody>
      </p:sp>
      <p:sp>
        <p:nvSpPr>
          <p:cNvPr id="4" name="Slide Number Placeholder 3">
            <a:extLst>
              <a:ext uri="{FF2B5EF4-FFF2-40B4-BE49-F238E27FC236}">
                <a16:creationId xmlns:a16="http://schemas.microsoft.com/office/drawing/2014/main" id="{96421888-8ECA-DFCE-5636-54D269168701}"/>
              </a:ext>
            </a:extLst>
          </p:cNvPr>
          <p:cNvSpPr>
            <a:spLocks noGrp="1"/>
          </p:cNvSpPr>
          <p:nvPr>
            <p:ph type="sldNum" sz="quarter" idx="5"/>
          </p:nvPr>
        </p:nvSpPr>
        <p:spPr/>
        <p:txBody>
          <a:bodyPr/>
          <a:lstStyle/>
          <a:p>
            <a:fld id="{8BB1352A-F5A4-438C-80B2-90A61EDF0371}" type="slidenum">
              <a:rPr lang="zh-CN" altLang="en-US" smtClean="0"/>
              <a:t>21</a:t>
            </a:fld>
            <a:endParaRPr lang="zh-CN" altLang="en-US"/>
          </a:p>
        </p:txBody>
      </p:sp>
    </p:spTree>
    <p:extLst>
      <p:ext uri="{BB962C8B-B14F-4D97-AF65-F5344CB8AC3E}">
        <p14:creationId xmlns:p14="http://schemas.microsoft.com/office/powerpoint/2010/main" val="16754569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A2062-3712-3E5F-253B-C7BB29FBFB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FAF90D-8E16-D20E-CFCC-C99EED88E2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4D1796-2F00-31EC-9CED-AD118B0208AA}"/>
              </a:ext>
            </a:extLst>
          </p:cNvPr>
          <p:cNvSpPr>
            <a:spLocks noGrp="1"/>
          </p:cNvSpPr>
          <p:nvPr>
            <p:ph type="body" idx="1"/>
          </p:nvPr>
        </p:nvSpPr>
        <p:spPr/>
        <p:txBody>
          <a:bodyPr/>
          <a:lstStyle/>
          <a:p>
            <a:r>
              <a:rPr lang="en-US" altLang="zh-CN" dirty="0"/>
              <a:t>We’ve worked on multiple versions of model, and finally decided to go for something simple. We take the mean from each individual tree within each stand to get a stand level growth to pair with stand level seed data. Seed production is directly linked to current year growth and previous year growth.</a:t>
            </a:r>
          </a:p>
          <a:p>
            <a:endParaRPr lang="en-US" altLang="zh-CN" dirty="0"/>
          </a:p>
          <a:p>
            <a:r>
              <a:rPr lang="en-US" altLang="zh-CN" dirty="0"/>
              <a:t>(Put boxes around gammas)</a:t>
            </a:r>
            <a:endParaRPr lang="zh-CN" altLang="en-US" dirty="0"/>
          </a:p>
        </p:txBody>
      </p:sp>
      <p:sp>
        <p:nvSpPr>
          <p:cNvPr id="4" name="Slide Number Placeholder 3">
            <a:extLst>
              <a:ext uri="{FF2B5EF4-FFF2-40B4-BE49-F238E27FC236}">
                <a16:creationId xmlns:a16="http://schemas.microsoft.com/office/drawing/2014/main" id="{A00F0709-3EEA-D96C-DEC8-0EAB9AF7E6C2}"/>
              </a:ext>
            </a:extLst>
          </p:cNvPr>
          <p:cNvSpPr>
            <a:spLocks noGrp="1"/>
          </p:cNvSpPr>
          <p:nvPr>
            <p:ph type="sldNum" sz="quarter" idx="5"/>
          </p:nvPr>
        </p:nvSpPr>
        <p:spPr/>
        <p:txBody>
          <a:bodyPr/>
          <a:lstStyle/>
          <a:p>
            <a:fld id="{8BB1352A-F5A4-438C-80B2-90A61EDF0371}" type="slidenum">
              <a:rPr lang="zh-CN" altLang="en-US" smtClean="0"/>
              <a:t>22</a:t>
            </a:fld>
            <a:endParaRPr lang="zh-CN" altLang="en-US"/>
          </a:p>
        </p:txBody>
      </p:sp>
    </p:spTree>
    <p:extLst>
      <p:ext uri="{BB962C8B-B14F-4D97-AF65-F5344CB8AC3E}">
        <p14:creationId xmlns:p14="http://schemas.microsoft.com/office/powerpoint/2010/main" val="31409201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B20B9-4F15-8F16-CA04-79E32EDF8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C0048A-66AF-3E68-9BF9-53B77ADFD4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54B760-18A6-C9F9-C484-7A586832FFEF}"/>
              </a:ext>
            </a:extLst>
          </p:cNvPr>
          <p:cNvSpPr>
            <a:spLocks noGrp="1"/>
          </p:cNvSpPr>
          <p:nvPr>
            <p:ph type="body" idx="1"/>
          </p:nvPr>
        </p:nvSpPr>
        <p:spPr/>
        <p:txBody>
          <a:bodyPr/>
          <a:lstStyle/>
          <a:p>
            <a:r>
              <a:rPr lang="en-US" altLang="zh-CN" dirty="0"/>
              <a:t>(For this example species at one stand)</a:t>
            </a:r>
          </a:p>
          <a:p>
            <a:endParaRPr lang="en-US" altLang="zh-CN" dirty="0"/>
          </a:p>
          <a:p>
            <a:r>
              <a:rPr lang="en-US" altLang="zh-CN" dirty="0"/>
              <a:t>(another slide adding the climate parameters)</a:t>
            </a:r>
            <a:endParaRPr lang="zh-CN" altLang="en-US" dirty="0"/>
          </a:p>
        </p:txBody>
      </p:sp>
      <p:sp>
        <p:nvSpPr>
          <p:cNvPr id="4" name="Slide Number Placeholder 3">
            <a:extLst>
              <a:ext uri="{FF2B5EF4-FFF2-40B4-BE49-F238E27FC236}">
                <a16:creationId xmlns:a16="http://schemas.microsoft.com/office/drawing/2014/main" id="{BD03AE19-A351-5EE4-B321-D815E22D09BA}"/>
              </a:ext>
            </a:extLst>
          </p:cNvPr>
          <p:cNvSpPr>
            <a:spLocks noGrp="1"/>
          </p:cNvSpPr>
          <p:nvPr>
            <p:ph type="sldNum" sz="quarter" idx="5"/>
          </p:nvPr>
        </p:nvSpPr>
        <p:spPr/>
        <p:txBody>
          <a:bodyPr/>
          <a:lstStyle/>
          <a:p>
            <a:fld id="{8BB1352A-F5A4-438C-80B2-90A61EDF0371}" type="slidenum">
              <a:rPr lang="zh-CN" altLang="en-US" smtClean="0"/>
              <a:t>23</a:t>
            </a:fld>
            <a:endParaRPr lang="zh-CN" altLang="en-US"/>
          </a:p>
        </p:txBody>
      </p:sp>
    </p:spTree>
    <p:extLst>
      <p:ext uri="{BB962C8B-B14F-4D97-AF65-F5344CB8AC3E}">
        <p14:creationId xmlns:p14="http://schemas.microsoft.com/office/powerpoint/2010/main" val="8245774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B2C01-D134-383E-3144-68E105BDFE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3D429D-0B16-D9DB-4DF7-4705FF781A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748A82-7BC5-4D19-8A19-4AE75D0F05E0}"/>
              </a:ext>
            </a:extLst>
          </p:cNvPr>
          <p:cNvSpPr>
            <a:spLocks noGrp="1"/>
          </p:cNvSpPr>
          <p:nvPr>
            <p:ph type="body" idx="1"/>
          </p:nvPr>
        </p:nvSpPr>
        <p:spPr/>
        <p:txBody>
          <a:bodyPr/>
          <a:lstStyle/>
          <a:p>
            <a:endParaRPr lang="zh-CN" altLang="en-US" dirty="0"/>
          </a:p>
        </p:txBody>
      </p:sp>
      <p:sp>
        <p:nvSpPr>
          <p:cNvPr id="4" name="Slide Number Placeholder 3">
            <a:extLst>
              <a:ext uri="{FF2B5EF4-FFF2-40B4-BE49-F238E27FC236}">
                <a16:creationId xmlns:a16="http://schemas.microsoft.com/office/drawing/2014/main" id="{5896E867-7271-1549-5E46-7CC8D70BE866}"/>
              </a:ext>
            </a:extLst>
          </p:cNvPr>
          <p:cNvSpPr>
            <a:spLocks noGrp="1"/>
          </p:cNvSpPr>
          <p:nvPr>
            <p:ph type="sldNum" sz="quarter" idx="5"/>
          </p:nvPr>
        </p:nvSpPr>
        <p:spPr/>
        <p:txBody>
          <a:bodyPr/>
          <a:lstStyle/>
          <a:p>
            <a:fld id="{8BB1352A-F5A4-438C-80B2-90A61EDF0371}" type="slidenum">
              <a:rPr lang="zh-CN" altLang="en-US" smtClean="0"/>
              <a:t>24</a:t>
            </a:fld>
            <a:endParaRPr lang="zh-CN" altLang="en-US"/>
          </a:p>
        </p:txBody>
      </p:sp>
    </p:spTree>
    <p:extLst>
      <p:ext uri="{BB962C8B-B14F-4D97-AF65-F5344CB8AC3E}">
        <p14:creationId xmlns:p14="http://schemas.microsoft.com/office/powerpoint/2010/main" val="6646417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F33E5-CEB1-12C7-49D2-703D04E51E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C988E3-79C9-1347-E2E9-3BFA83A1F5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D2029F-ED62-3748-5AE0-53B8BB526DF4}"/>
              </a:ext>
            </a:extLst>
          </p:cNvPr>
          <p:cNvSpPr>
            <a:spLocks noGrp="1"/>
          </p:cNvSpPr>
          <p:nvPr>
            <p:ph type="body" idx="1"/>
          </p:nvPr>
        </p:nvSpPr>
        <p:spPr/>
        <p:txBody>
          <a:bodyPr/>
          <a:lstStyle/>
          <a:p>
            <a:endParaRPr lang="zh-CN" altLang="en-US" dirty="0"/>
          </a:p>
        </p:txBody>
      </p:sp>
      <p:sp>
        <p:nvSpPr>
          <p:cNvPr id="4" name="Slide Number Placeholder 3">
            <a:extLst>
              <a:ext uri="{FF2B5EF4-FFF2-40B4-BE49-F238E27FC236}">
                <a16:creationId xmlns:a16="http://schemas.microsoft.com/office/drawing/2014/main" id="{6CFC639D-8E9A-2963-0DB8-377459CB2DC7}"/>
              </a:ext>
            </a:extLst>
          </p:cNvPr>
          <p:cNvSpPr>
            <a:spLocks noGrp="1"/>
          </p:cNvSpPr>
          <p:nvPr>
            <p:ph type="sldNum" sz="quarter" idx="5"/>
          </p:nvPr>
        </p:nvSpPr>
        <p:spPr/>
        <p:txBody>
          <a:bodyPr/>
          <a:lstStyle/>
          <a:p>
            <a:fld id="{8BB1352A-F5A4-438C-80B2-90A61EDF0371}" type="slidenum">
              <a:rPr lang="zh-CN" altLang="en-US" smtClean="0"/>
              <a:t>25</a:t>
            </a:fld>
            <a:endParaRPr lang="zh-CN" altLang="en-US"/>
          </a:p>
        </p:txBody>
      </p:sp>
    </p:spTree>
    <p:extLst>
      <p:ext uri="{BB962C8B-B14F-4D97-AF65-F5344CB8AC3E}">
        <p14:creationId xmlns:p14="http://schemas.microsoft.com/office/powerpoint/2010/main" val="21621715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73EA5-9CE3-3EB9-67A0-3E54264AE6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A97E83-ECAF-6DA0-445F-8726F1F21C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287AB7-1BA1-8258-1A5E-AFED6F299AED}"/>
              </a:ext>
            </a:extLst>
          </p:cNvPr>
          <p:cNvSpPr>
            <a:spLocks noGrp="1"/>
          </p:cNvSpPr>
          <p:nvPr>
            <p:ph type="body" idx="1"/>
          </p:nvPr>
        </p:nvSpPr>
        <p:spPr/>
        <p:txBody>
          <a:bodyPr/>
          <a:lstStyle/>
          <a:p>
            <a:endParaRPr lang="zh-CN" altLang="en-US" dirty="0"/>
          </a:p>
        </p:txBody>
      </p:sp>
      <p:sp>
        <p:nvSpPr>
          <p:cNvPr id="4" name="Slide Number Placeholder 3">
            <a:extLst>
              <a:ext uri="{FF2B5EF4-FFF2-40B4-BE49-F238E27FC236}">
                <a16:creationId xmlns:a16="http://schemas.microsoft.com/office/drawing/2014/main" id="{98C6EE36-BB3B-0445-9CB9-7A6140E0FDF5}"/>
              </a:ext>
            </a:extLst>
          </p:cNvPr>
          <p:cNvSpPr>
            <a:spLocks noGrp="1"/>
          </p:cNvSpPr>
          <p:nvPr>
            <p:ph type="sldNum" sz="quarter" idx="5"/>
          </p:nvPr>
        </p:nvSpPr>
        <p:spPr/>
        <p:txBody>
          <a:bodyPr/>
          <a:lstStyle/>
          <a:p>
            <a:fld id="{8BB1352A-F5A4-438C-80B2-90A61EDF0371}" type="slidenum">
              <a:rPr lang="zh-CN" altLang="en-US" smtClean="0"/>
              <a:t>26</a:t>
            </a:fld>
            <a:endParaRPr lang="zh-CN" altLang="en-US"/>
          </a:p>
        </p:txBody>
      </p:sp>
    </p:spTree>
    <p:extLst>
      <p:ext uri="{BB962C8B-B14F-4D97-AF65-F5344CB8AC3E}">
        <p14:creationId xmlns:p14="http://schemas.microsoft.com/office/powerpoint/2010/main" val="1709320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DC0A2-C778-86E6-A4B8-3C1DC2EC20DB}"/>
              </a:ext>
            </a:extLst>
          </p:cNvPr>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a:extLst>
              <a:ext uri="{FF2B5EF4-FFF2-40B4-BE49-F238E27FC236}">
                <a16:creationId xmlns:a16="http://schemas.microsoft.com/office/drawing/2014/main" id="{54D5CC88-EEA4-2871-552C-CD4D28F3B6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a:extLst>
              <a:ext uri="{FF2B5EF4-FFF2-40B4-BE49-F238E27FC236}">
                <a16:creationId xmlns:a16="http://schemas.microsoft.com/office/drawing/2014/main" id="{5D29EB2A-2914-A947-BB23-C26EED226FB5}"/>
              </a:ext>
            </a:extLst>
          </p:cNvPr>
          <p:cNvSpPr>
            <a:spLocks noGrp="1"/>
          </p:cNvSpPr>
          <p:nvPr>
            <p:ph type="dt" sz="half" idx="10"/>
          </p:nvPr>
        </p:nvSpPr>
        <p:spPr/>
        <p:txBody>
          <a:bodyPr/>
          <a:lstStyle/>
          <a:p>
            <a:fld id="{E47D0C65-DC76-4516-8AE1-CCBCB1D6989C}" type="datetimeFigureOut">
              <a:rPr lang="zh-CN" altLang="en-US" smtClean="0"/>
              <a:t>2026/9/25</a:t>
            </a:fld>
            <a:endParaRPr lang="zh-CN" altLang="en-US"/>
          </a:p>
        </p:txBody>
      </p:sp>
      <p:sp>
        <p:nvSpPr>
          <p:cNvPr id="5" name="Footer Placeholder 4">
            <a:extLst>
              <a:ext uri="{FF2B5EF4-FFF2-40B4-BE49-F238E27FC236}">
                <a16:creationId xmlns:a16="http://schemas.microsoft.com/office/drawing/2014/main" id="{13956833-AE14-B435-0788-FA16D0276724}"/>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CBC6F680-99FF-7ECB-A445-2E7106B0C17E}"/>
              </a:ext>
            </a:extLst>
          </p:cNvPr>
          <p:cNvSpPr>
            <a:spLocks noGrp="1"/>
          </p:cNvSpPr>
          <p:nvPr>
            <p:ph type="sldNum" sz="quarter" idx="12"/>
          </p:nvPr>
        </p:nvSpPr>
        <p:spPr/>
        <p:txBody>
          <a:bodyPr/>
          <a:lstStyle/>
          <a:p>
            <a:fld id="{A7351EFA-9F73-4214-9D99-E1B64BB83872}" type="slidenum">
              <a:rPr lang="zh-CN" altLang="en-US" smtClean="0"/>
              <a:t>‹#›</a:t>
            </a:fld>
            <a:endParaRPr lang="zh-CN" altLang="en-US"/>
          </a:p>
        </p:txBody>
      </p:sp>
    </p:spTree>
    <p:extLst>
      <p:ext uri="{BB962C8B-B14F-4D97-AF65-F5344CB8AC3E}">
        <p14:creationId xmlns:p14="http://schemas.microsoft.com/office/powerpoint/2010/main" val="2300930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D4182-5553-0E2F-CEA9-DC13BD844F55}"/>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4144C2F6-74AB-6082-6BF7-0B916BEC42C8}"/>
              </a:ext>
            </a:extLst>
          </p:cNvPr>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92C867E3-50DC-8B39-0318-697122B33EF8}"/>
              </a:ext>
            </a:extLst>
          </p:cNvPr>
          <p:cNvSpPr>
            <a:spLocks noGrp="1"/>
          </p:cNvSpPr>
          <p:nvPr>
            <p:ph type="dt" sz="half" idx="10"/>
          </p:nvPr>
        </p:nvSpPr>
        <p:spPr/>
        <p:txBody>
          <a:bodyPr/>
          <a:lstStyle/>
          <a:p>
            <a:fld id="{E47D0C65-DC76-4516-8AE1-CCBCB1D6989C}" type="datetimeFigureOut">
              <a:rPr lang="zh-CN" altLang="en-US" smtClean="0"/>
              <a:t>2026/9/25</a:t>
            </a:fld>
            <a:endParaRPr lang="zh-CN" altLang="en-US"/>
          </a:p>
        </p:txBody>
      </p:sp>
      <p:sp>
        <p:nvSpPr>
          <p:cNvPr id="5" name="Footer Placeholder 4">
            <a:extLst>
              <a:ext uri="{FF2B5EF4-FFF2-40B4-BE49-F238E27FC236}">
                <a16:creationId xmlns:a16="http://schemas.microsoft.com/office/drawing/2014/main" id="{2BF51ED9-F1F5-F25E-D5D5-953A80638444}"/>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F333E9B5-7486-8B45-ADDE-9A8FEB932D98}"/>
              </a:ext>
            </a:extLst>
          </p:cNvPr>
          <p:cNvSpPr>
            <a:spLocks noGrp="1"/>
          </p:cNvSpPr>
          <p:nvPr>
            <p:ph type="sldNum" sz="quarter" idx="12"/>
          </p:nvPr>
        </p:nvSpPr>
        <p:spPr/>
        <p:txBody>
          <a:bodyPr/>
          <a:lstStyle/>
          <a:p>
            <a:fld id="{A7351EFA-9F73-4214-9D99-E1B64BB83872}" type="slidenum">
              <a:rPr lang="zh-CN" altLang="en-US" smtClean="0"/>
              <a:t>‹#›</a:t>
            </a:fld>
            <a:endParaRPr lang="zh-CN" altLang="en-US"/>
          </a:p>
        </p:txBody>
      </p:sp>
    </p:spTree>
    <p:extLst>
      <p:ext uri="{BB962C8B-B14F-4D97-AF65-F5344CB8AC3E}">
        <p14:creationId xmlns:p14="http://schemas.microsoft.com/office/powerpoint/2010/main" val="1445044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99EEC-D01E-5209-84EF-3339A9A96BB4}"/>
              </a:ext>
            </a:extLst>
          </p:cNvPr>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55A0DBDE-EAFE-F93C-E28A-6AF3262D859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B120BC90-2AD0-C0B3-2E76-01FFB873D9F5}"/>
              </a:ext>
            </a:extLst>
          </p:cNvPr>
          <p:cNvSpPr>
            <a:spLocks noGrp="1"/>
          </p:cNvSpPr>
          <p:nvPr>
            <p:ph type="dt" sz="half" idx="10"/>
          </p:nvPr>
        </p:nvSpPr>
        <p:spPr/>
        <p:txBody>
          <a:bodyPr/>
          <a:lstStyle/>
          <a:p>
            <a:fld id="{E47D0C65-DC76-4516-8AE1-CCBCB1D6989C}" type="datetimeFigureOut">
              <a:rPr lang="zh-CN" altLang="en-US" smtClean="0"/>
              <a:t>2026/9/25</a:t>
            </a:fld>
            <a:endParaRPr lang="zh-CN" altLang="en-US"/>
          </a:p>
        </p:txBody>
      </p:sp>
      <p:sp>
        <p:nvSpPr>
          <p:cNvPr id="5" name="Footer Placeholder 4">
            <a:extLst>
              <a:ext uri="{FF2B5EF4-FFF2-40B4-BE49-F238E27FC236}">
                <a16:creationId xmlns:a16="http://schemas.microsoft.com/office/drawing/2014/main" id="{805756A7-3FE9-0461-3D44-4A28F707FEF4}"/>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A0F696F0-9948-3F7E-B335-CA9C50819ADE}"/>
              </a:ext>
            </a:extLst>
          </p:cNvPr>
          <p:cNvSpPr>
            <a:spLocks noGrp="1"/>
          </p:cNvSpPr>
          <p:nvPr>
            <p:ph type="sldNum" sz="quarter" idx="12"/>
          </p:nvPr>
        </p:nvSpPr>
        <p:spPr/>
        <p:txBody>
          <a:bodyPr/>
          <a:lstStyle/>
          <a:p>
            <a:fld id="{A7351EFA-9F73-4214-9D99-E1B64BB83872}" type="slidenum">
              <a:rPr lang="zh-CN" altLang="en-US" smtClean="0"/>
              <a:t>‹#›</a:t>
            </a:fld>
            <a:endParaRPr lang="zh-CN" altLang="en-US"/>
          </a:p>
        </p:txBody>
      </p:sp>
    </p:spTree>
    <p:extLst>
      <p:ext uri="{BB962C8B-B14F-4D97-AF65-F5344CB8AC3E}">
        <p14:creationId xmlns:p14="http://schemas.microsoft.com/office/powerpoint/2010/main" val="3437675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556E1-B2CA-EE3A-D9B4-43065B8528BE}"/>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3F7B7502-EE51-A979-1571-F60BE3850A9C}"/>
              </a:ext>
            </a:extLst>
          </p:cNvPr>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41D0F8A4-FA38-B8A5-EB05-050EED866C12}"/>
              </a:ext>
            </a:extLst>
          </p:cNvPr>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79C40375-8FE3-4BB2-D9F0-D42A81FD2DB6}"/>
              </a:ext>
            </a:extLst>
          </p:cNvPr>
          <p:cNvSpPr>
            <a:spLocks noGrp="1"/>
          </p:cNvSpPr>
          <p:nvPr>
            <p:ph type="dt" sz="half" idx="10"/>
          </p:nvPr>
        </p:nvSpPr>
        <p:spPr/>
        <p:txBody>
          <a:bodyPr/>
          <a:lstStyle/>
          <a:p>
            <a:fld id="{E47D0C65-DC76-4516-8AE1-CCBCB1D6989C}" type="datetimeFigureOut">
              <a:rPr lang="zh-CN" altLang="en-US" smtClean="0"/>
              <a:t>2026/9/25</a:t>
            </a:fld>
            <a:endParaRPr lang="zh-CN" altLang="en-US"/>
          </a:p>
        </p:txBody>
      </p:sp>
      <p:sp>
        <p:nvSpPr>
          <p:cNvPr id="6" name="Footer Placeholder 5">
            <a:extLst>
              <a:ext uri="{FF2B5EF4-FFF2-40B4-BE49-F238E27FC236}">
                <a16:creationId xmlns:a16="http://schemas.microsoft.com/office/drawing/2014/main" id="{0079E446-A8D0-EC39-512A-5D54441B0DD3}"/>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212B7D2B-7CCC-F8FD-A618-9DC3BFA64169}"/>
              </a:ext>
            </a:extLst>
          </p:cNvPr>
          <p:cNvSpPr>
            <a:spLocks noGrp="1"/>
          </p:cNvSpPr>
          <p:nvPr>
            <p:ph type="sldNum" sz="quarter" idx="12"/>
          </p:nvPr>
        </p:nvSpPr>
        <p:spPr/>
        <p:txBody>
          <a:bodyPr/>
          <a:lstStyle/>
          <a:p>
            <a:fld id="{A7351EFA-9F73-4214-9D99-E1B64BB83872}" type="slidenum">
              <a:rPr lang="zh-CN" altLang="en-US" smtClean="0"/>
              <a:t>‹#›</a:t>
            </a:fld>
            <a:endParaRPr lang="zh-CN" altLang="en-US"/>
          </a:p>
        </p:txBody>
      </p:sp>
    </p:spTree>
    <p:extLst>
      <p:ext uri="{BB962C8B-B14F-4D97-AF65-F5344CB8AC3E}">
        <p14:creationId xmlns:p14="http://schemas.microsoft.com/office/powerpoint/2010/main" val="2977552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56859-8FAF-0C24-7741-338F3F75A76E}"/>
              </a:ext>
            </a:extLst>
          </p:cNvPr>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B947527F-F6FA-E1A1-5A14-7E0DDBEE6F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a:extLst>
              <a:ext uri="{FF2B5EF4-FFF2-40B4-BE49-F238E27FC236}">
                <a16:creationId xmlns:a16="http://schemas.microsoft.com/office/drawing/2014/main" id="{784C599D-B614-2683-626A-FDBB40883985}"/>
              </a:ext>
            </a:extLst>
          </p:cNvPr>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47EB2703-FC4F-7872-9214-672F90C0B5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a:extLst>
              <a:ext uri="{FF2B5EF4-FFF2-40B4-BE49-F238E27FC236}">
                <a16:creationId xmlns:a16="http://schemas.microsoft.com/office/drawing/2014/main" id="{A3D1DB23-8A7A-7261-591B-9B14A3DAB25C}"/>
              </a:ext>
            </a:extLst>
          </p:cNvPr>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81F5401E-60A1-0823-45A0-0B21C8DD567A}"/>
              </a:ext>
            </a:extLst>
          </p:cNvPr>
          <p:cNvSpPr>
            <a:spLocks noGrp="1"/>
          </p:cNvSpPr>
          <p:nvPr>
            <p:ph type="dt" sz="half" idx="10"/>
          </p:nvPr>
        </p:nvSpPr>
        <p:spPr/>
        <p:txBody>
          <a:bodyPr/>
          <a:lstStyle/>
          <a:p>
            <a:fld id="{E47D0C65-DC76-4516-8AE1-CCBCB1D6989C}" type="datetimeFigureOut">
              <a:rPr lang="zh-CN" altLang="en-US" smtClean="0"/>
              <a:t>2026/9/25</a:t>
            </a:fld>
            <a:endParaRPr lang="zh-CN" altLang="en-US"/>
          </a:p>
        </p:txBody>
      </p:sp>
      <p:sp>
        <p:nvSpPr>
          <p:cNvPr id="8" name="Footer Placeholder 7">
            <a:extLst>
              <a:ext uri="{FF2B5EF4-FFF2-40B4-BE49-F238E27FC236}">
                <a16:creationId xmlns:a16="http://schemas.microsoft.com/office/drawing/2014/main" id="{C57CAE23-04FA-AEEF-B10D-9179FA93D1EE}"/>
              </a:ext>
            </a:extLst>
          </p:cNvPr>
          <p:cNvSpPr>
            <a:spLocks noGrp="1"/>
          </p:cNvSpPr>
          <p:nvPr>
            <p:ph type="ftr" sz="quarter" idx="11"/>
          </p:nvPr>
        </p:nvSpPr>
        <p:spPr/>
        <p:txBody>
          <a:bodyPr/>
          <a:lstStyle/>
          <a:p>
            <a:endParaRPr lang="zh-CN" altLang="en-US"/>
          </a:p>
        </p:txBody>
      </p:sp>
      <p:sp>
        <p:nvSpPr>
          <p:cNvPr id="9" name="Slide Number Placeholder 8">
            <a:extLst>
              <a:ext uri="{FF2B5EF4-FFF2-40B4-BE49-F238E27FC236}">
                <a16:creationId xmlns:a16="http://schemas.microsoft.com/office/drawing/2014/main" id="{034E9A00-A827-B75D-67D4-9E6479AB1B3F}"/>
              </a:ext>
            </a:extLst>
          </p:cNvPr>
          <p:cNvSpPr>
            <a:spLocks noGrp="1"/>
          </p:cNvSpPr>
          <p:nvPr>
            <p:ph type="sldNum" sz="quarter" idx="12"/>
          </p:nvPr>
        </p:nvSpPr>
        <p:spPr/>
        <p:txBody>
          <a:bodyPr/>
          <a:lstStyle/>
          <a:p>
            <a:fld id="{A7351EFA-9F73-4214-9D99-E1B64BB83872}" type="slidenum">
              <a:rPr lang="zh-CN" altLang="en-US" smtClean="0"/>
              <a:t>‹#›</a:t>
            </a:fld>
            <a:endParaRPr lang="zh-CN" altLang="en-US"/>
          </a:p>
        </p:txBody>
      </p:sp>
    </p:spTree>
    <p:extLst>
      <p:ext uri="{BB962C8B-B14F-4D97-AF65-F5344CB8AC3E}">
        <p14:creationId xmlns:p14="http://schemas.microsoft.com/office/powerpoint/2010/main" val="662748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1FA31-1F24-0C35-99AF-A2B9E4BB2CC4}"/>
              </a:ext>
            </a:extLst>
          </p:cNvPr>
          <p:cNvSpPr>
            <a:spLocks noGrp="1"/>
          </p:cNvSpPr>
          <p:nvPr>
            <p:ph type="title"/>
          </p:nvPr>
        </p:nvSpPr>
        <p:spPr/>
        <p:txBody>
          <a:body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8F3BD6CC-BB1F-4B07-9E04-EE984A66FB53}"/>
              </a:ext>
            </a:extLst>
          </p:cNvPr>
          <p:cNvSpPr>
            <a:spLocks noGrp="1"/>
          </p:cNvSpPr>
          <p:nvPr>
            <p:ph type="dt" sz="half" idx="10"/>
          </p:nvPr>
        </p:nvSpPr>
        <p:spPr/>
        <p:txBody>
          <a:bodyPr/>
          <a:lstStyle/>
          <a:p>
            <a:fld id="{E47D0C65-DC76-4516-8AE1-CCBCB1D6989C}" type="datetimeFigureOut">
              <a:rPr lang="zh-CN" altLang="en-US" smtClean="0"/>
              <a:t>2026/9/25</a:t>
            </a:fld>
            <a:endParaRPr lang="zh-CN" altLang="en-US"/>
          </a:p>
        </p:txBody>
      </p:sp>
      <p:sp>
        <p:nvSpPr>
          <p:cNvPr id="4" name="Footer Placeholder 3">
            <a:extLst>
              <a:ext uri="{FF2B5EF4-FFF2-40B4-BE49-F238E27FC236}">
                <a16:creationId xmlns:a16="http://schemas.microsoft.com/office/drawing/2014/main" id="{5B1DF6F9-C087-8AB5-B344-B3F690B0DA69}"/>
              </a:ext>
            </a:extLst>
          </p:cNvPr>
          <p:cNvSpPr>
            <a:spLocks noGrp="1"/>
          </p:cNvSpPr>
          <p:nvPr>
            <p:ph type="ftr" sz="quarter" idx="11"/>
          </p:nvPr>
        </p:nvSpPr>
        <p:spPr/>
        <p:txBody>
          <a:bodyPr/>
          <a:lstStyle/>
          <a:p>
            <a:endParaRPr lang="zh-CN" altLang="en-US"/>
          </a:p>
        </p:txBody>
      </p:sp>
      <p:sp>
        <p:nvSpPr>
          <p:cNvPr id="5" name="Slide Number Placeholder 4">
            <a:extLst>
              <a:ext uri="{FF2B5EF4-FFF2-40B4-BE49-F238E27FC236}">
                <a16:creationId xmlns:a16="http://schemas.microsoft.com/office/drawing/2014/main" id="{8A87D672-EEF9-5A53-07D6-EA03EAE22858}"/>
              </a:ext>
            </a:extLst>
          </p:cNvPr>
          <p:cNvSpPr>
            <a:spLocks noGrp="1"/>
          </p:cNvSpPr>
          <p:nvPr>
            <p:ph type="sldNum" sz="quarter" idx="12"/>
          </p:nvPr>
        </p:nvSpPr>
        <p:spPr/>
        <p:txBody>
          <a:bodyPr/>
          <a:lstStyle/>
          <a:p>
            <a:fld id="{A7351EFA-9F73-4214-9D99-E1B64BB83872}" type="slidenum">
              <a:rPr lang="zh-CN" altLang="en-US" smtClean="0"/>
              <a:t>‹#›</a:t>
            </a:fld>
            <a:endParaRPr lang="zh-CN" altLang="en-US"/>
          </a:p>
        </p:txBody>
      </p:sp>
    </p:spTree>
    <p:extLst>
      <p:ext uri="{BB962C8B-B14F-4D97-AF65-F5344CB8AC3E}">
        <p14:creationId xmlns:p14="http://schemas.microsoft.com/office/powerpoint/2010/main" val="1025108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3B6B33-1611-74A3-042B-DAE46F35845F}"/>
              </a:ext>
            </a:extLst>
          </p:cNvPr>
          <p:cNvSpPr>
            <a:spLocks noGrp="1"/>
          </p:cNvSpPr>
          <p:nvPr>
            <p:ph type="dt" sz="half" idx="10"/>
          </p:nvPr>
        </p:nvSpPr>
        <p:spPr/>
        <p:txBody>
          <a:bodyPr/>
          <a:lstStyle/>
          <a:p>
            <a:fld id="{E47D0C65-DC76-4516-8AE1-CCBCB1D6989C}" type="datetimeFigureOut">
              <a:rPr lang="zh-CN" altLang="en-US" smtClean="0"/>
              <a:t>2026/9/25</a:t>
            </a:fld>
            <a:endParaRPr lang="zh-CN" altLang="en-US"/>
          </a:p>
        </p:txBody>
      </p:sp>
      <p:sp>
        <p:nvSpPr>
          <p:cNvPr id="3" name="Footer Placeholder 2">
            <a:extLst>
              <a:ext uri="{FF2B5EF4-FFF2-40B4-BE49-F238E27FC236}">
                <a16:creationId xmlns:a16="http://schemas.microsoft.com/office/drawing/2014/main" id="{DF81B4D2-1041-6643-1A94-209D4680E673}"/>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FF4EAF68-306B-11F7-CFA4-5FE3C0E73CB2}"/>
              </a:ext>
            </a:extLst>
          </p:cNvPr>
          <p:cNvSpPr>
            <a:spLocks noGrp="1"/>
          </p:cNvSpPr>
          <p:nvPr>
            <p:ph type="sldNum" sz="quarter" idx="12"/>
          </p:nvPr>
        </p:nvSpPr>
        <p:spPr/>
        <p:txBody>
          <a:bodyPr/>
          <a:lstStyle/>
          <a:p>
            <a:fld id="{A7351EFA-9F73-4214-9D99-E1B64BB83872}" type="slidenum">
              <a:rPr lang="zh-CN" altLang="en-US" smtClean="0"/>
              <a:t>‹#›</a:t>
            </a:fld>
            <a:endParaRPr lang="zh-CN" altLang="en-US"/>
          </a:p>
        </p:txBody>
      </p:sp>
    </p:spTree>
    <p:extLst>
      <p:ext uri="{BB962C8B-B14F-4D97-AF65-F5344CB8AC3E}">
        <p14:creationId xmlns:p14="http://schemas.microsoft.com/office/powerpoint/2010/main" val="2879989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E0AC5-D0FC-643E-842B-021ED9D21A95}"/>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1D60139E-3E3F-36D7-3355-4D5A1FB001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E2205DBF-6C3A-DA04-048F-5DE072D172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A176F993-D0BF-6C85-2387-12190BB0A896}"/>
              </a:ext>
            </a:extLst>
          </p:cNvPr>
          <p:cNvSpPr>
            <a:spLocks noGrp="1"/>
          </p:cNvSpPr>
          <p:nvPr>
            <p:ph type="dt" sz="half" idx="10"/>
          </p:nvPr>
        </p:nvSpPr>
        <p:spPr/>
        <p:txBody>
          <a:bodyPr/>
          <a:lstStyle/>
          <a:p>
            <a:fld id="{E47D0C65-DC76-4516-8AE1-CCBCB1D6989C}" type="datetimeFigureOut">
              <a:rPr lang="zh-CN" altLang="en-US" smtClean="0"/>
              <a:t>2026/9/25</a:t>
            </a:fld>
            <a:endParaRPr lang="zh-CN" altLang="en-US"/>
          </a:p>
        </p:txBody>
      </p:sp>
      <p:sp>
        <p:nvSpPr>
          <p:cNvPr id="6" name="Footer Placeholder 5">
            <a:extLst>
              <a:ext uri="{FF2B5EF4-FFF2-40B4-BE49-F238E27FC236}">
                <a16:creationId xmlns:a16="http://schemas.microsoft.com/office/drawing/2014/main" id="{EF9198C8-0DAE-64AF-41E1-A462BD217926}"/>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A580B8E5-8A6B-B648-372E-D284B6FDBA6E}"/>
              </a:ext>
            </a:extLst>
          </p:cNvPr>
          <p:cNvSpPr>
            <a:spLocks noGrp="1"/>
          </p:cNvSpPr>
          <p:nvPr>
            <p:ph type="sldNum" sz="quarter" idx="12"/>
          </p:nvPr>
        </p:nvSpPr>
        <p:spPr/>
        <p:txBody>
          <a:bodyPr/>
          <a:lstStyle/>
          <a:p>
            <a:fld id="{A7351EFA-9F73-4214-9D99-E1B64BB83872}" type="slidenum">
              <a:rPr lang="zh-CN" altLang="en-US" smtClean="0"/>
              <a:t>‹#›</a:t>
            </a:fld>
            <a:endParaRPr lang="zh-CN" altLang="en-US"/>
          </a:p>
        </p:txBody>
      </p:sp>
    </p:spTree>
    <p:extLst>
      <p:ext uri="{BB962C8B-B14F-4D97-AF65-F5344CB8AC3E}">
        <p14:creationId xmlns:p14="http://schemas.microsoft.com/office/powerpoint/2010/main" val="1522851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E8AA7-7656-824F-BD4C-EBA1B42E2074}"/>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1B3E04AD-E115-9478-3091-D2E3DAAD2B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a:extLst>
              <a:ext uri="{FF2B5EF4-FFF2-40B4-BE49-F238E27FC236}">
                <a16:creationId xmlns:a16="http://schemas.microsoft.com/office/drawing/2014/main" id="{87D87205-DA68-B383-3C47-4FC05BEA6F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9E1C15EE-CF9E-AB9E-FE25-AA04774B92BC}"/>
              </a:ext>
            </a:extLst>
          </p:cNvPr>
          <p:cNvSpPr>
            <a:spLocks noGrp="1"/>
          </p:cNvSpPr>
          <p:nvPr>
            <p:ph type="dt" sz="half" idx="10"/>
          </p:nvPr>
        </p:nvSpPr>
        <p:spPr/>
        <p:txBody>
          <a:bodyPr/>
          <a:lstStyle/>
          <a:p>
            <a:fld id="{E47D0C65-DC76-4516-8AE1-CCBCB1D6989C}" type="datetimeFigureOut">
              <a:rPr lang="zh-CN" altLang="en-US" smtClean="0"/>
              <a:t>2026/9/25</a:t>
            </a:fld>
            <a:endParaRPr lang="zh-CN" altLang="en-US"/>
          </a:p>
        </p:txBody>
      </p:sp>
      <p:sp>
        <p:nvSpPr>
          <p:cNvPr id="6" name="Footer Placeholder 5">
            <a:extLst>
              <a:ext uri="{FF2B5EF4-FFF2-40B4-BE49-F238E27FC236}">
                <a16:creationId xmlns:a16="http://schemas.microsoft.com/office/drawing/2014/main" id="{B40C0DD2-AF47-D15C-67AF-8DE3C8461C6D}"/>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88816F21-3DD4-CD66-FC0F-42C4FAA765D7}"/>
              </a:ext>
            </a:extLst>
          </p:cNvPr>
          <p:cNvSpPr>
            <a:spLocks noGrp="1"/>
          </p:cNvSpPr>
          <p:nvPr>
            <p:ph type="sldNum" sz="quarter" idx="12"/>
          </p:nvPr>
        </p:nvSpPr>
        <p:spPr/>
        <p:txBody>
          <a:bodyPr/>
          <a:lstStyle/>
          <a:p>
            <a:fld id="{A7351EFA-9F73-4214-9D99-E1B64BB83872}" type="slidenum">
              <a:rPr lang="zh-CN" altLang="en-US" smtClean="0"/>
              <a:t>‹#›</a:t>
            </a:fld>
            <a:endParaRPr lang="zh-CN" altLang="en-US"/>
          </a:p>
        </p:txBody>
      </p:sp>
    </p:spTree>
    <p:extLst>
      <p:ext uri="{BB962C8B-B14F-4D97-AF65-F5344CB8AC3E}">
        <p14:creationId xmlns:p14="http://schemas.microsoft.com/office/powerpoint/2010/main" val="1063664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118D6-EA45-F2F2-5938-BFE39C429E2A}"/>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FFD581E5-DBE5-F4E2-6358-CC57D816A2B1}"/>
              </a:ext>
            </a:extLst>
          </p:cNvPr>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E9564C75-9F09-CD50-7B33-085C3AF3BBC6}"/>
              </a:ext>
            </a:extLst>
          </p:cNvPr>
          <p:cNvSpPr>
            <a:spLocks noGrp="1"/>
          </p:cNvSpPr>
          <p:nvPr>
            <p:ph type="dt" sz="half" idx="10"/>
          </p:nvPr>
        </p:nvSpPr>
        <p:spPr/>
        <p:txBody>
          <a:bodyPr/>
          <a:lstStyle/>
          <a:p>
            <a:fld id="{E47D0C65-DC76-4516-8AE1-CCBCB1D6989C}" type="datetimeFigureOut">
              <a:rPr lang="zh-CN" altLang="en-US" smtClean="0"/>
              <a:t>2026/9/25</a:t>
            </a:fld>
            <a:endParaRPr lang="zh-CN" altLang="en-US"/>
          </a:p>
        </p:txBody>
      </p:sp>
      <p:sp>
        <p:nvSpPr>
          <p:cNvPr id="5" name="Footer Placeholder 4">
            <a:extLst>
              <a:ext uri="{FF2B5EF4-FFF2-40B4-BE49-F238E27FC236}">
                <a16:creationId xmlns:a16="http://schemas.microsoft.com/office/drawing/2014/main" id="{52598479-7459-A6D3-B77B-B43C585BFC8B}"/>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A49DED72-0D37-B4B9-C247-0D204B1DCFC2}"/>
              </a:ext>
            </a:extLst>
          </p:cNvPr>
          <p:cNvSpPr>
            <a:spLocks noGrp="1"/>
          </p:cNvSpPr>
          <p:nvPr>
            <p:ph type="sldNum" sz="quarter" idx="12"/>
          </p:nvPr>
        </p:nvSpPr>
        <p:spPr/>
        <p:txBody>
          <a:bodyPr/>
          <a:lstStyle/>
          <a:p>
            <a:fld id="{A7351EFA-9F73-4214-9D99-E1B64BB83872}" type="slidenum">
              <a:rPr lang="zh-CN" altLang="en-US" smtClean="0"/>
              <a:t>‹#›</a:t>
            </a:fld>
            <a:endParaRPr lang="zh-CN" altLang="en-US"/>
          </a:p>
        </p:txBody>
      </p:sp>
    </p:spTree>
    <p:extLst>
      <p:ext uri="{BB962C8B-B14F-4D97-AF65-F5344CB8AC3E}">
        <p14:creationId xmlns:p14="http://schemas.microsoft.com/office/powerpoint/2010/main" val="636217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412C59-9543-1172-8060-D33360A9B1E2}"/>
              </a:ext>
            </a:extLst>
          </p:cNvPr>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3716FF18-D3D7-34B2-70FC-2F47792BE2FA}"/>
              </a:ext>
            </a:extLst>
          </p:cNvPr>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1F91F17B-8AFC-9971-82D9-10D12554C639}"/>
              </a:ext>
            </a:extLst>
          </p:cNvPr>
          <p:cNvSpPr>
            <a:spLocks noGrp="1"/>
          </p:cNvSpPr>
          <p:nvPr>
            <p:ph type="dt" sz="half" idx="10"/>
          </p:nvPr>
        </p:nvSpPr>
        <p:spPr/>
        <p:txBody>
          <a:bodyPr/>
          <a:lstStyle/>
          <a:p>
            <a:fld id="{E47D0C65-DC76-4516-8AE1-CCBCB1D6989C}" type="datetimeFigureOut">
              <a:rPr lang="zh-CN" altLang="en-US" smtClean="0"/>
              <a:t>2026/9/25</a:t>
            </a:fld>
            <a:endParaRPr lang="zh-CN" altLang="en-US"/>
          </a:p>
        </p:txBody>
      </p:sp>
      <p:sp>
        <p:nvSpPr>
          <p:cNvPr id="5" name="Footer Placeholder 4">
            <a:extLst>
              <a:ext uri="{FF2B5EF4-FFF2-40B4-BE49-F238E27FC236}">
                <a16:creationId xmlns:a16="http://schemas.microsoft.com/office/drawing/2014/main" id="{E3DDFD23-D414-1B5A-CA2B-9BE735180D5E}"/>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E92F9BA3-B884-C039-E2BE-F83C5E44F1BE}"/>
              </a:ext>
            </a:extLst>
          </p:cNvPr>
          <p:cNvSpPr>
            <a:spLocks noGrp="1"/>
          </p:cNvSpPr>
          <p:nvPr>
            <p:ph type="sldNum" sz="quarter" idx="12"/>
          </p:nvPr>
        </p:nvSpPr>
        <p:spPr/>
        <p:txBody>
          <a:bodyPr/>
          <a:lstStyle/>
          <a:p>
            <a:fld id="{A7351EFA-9F73-4214-9D99-E1B64BB83872}" type="slidenum">
              <a:rPr lang="zh-CN" altLang="en-US" smtClean="0"/>
              <a:t>‹#›</a:t>
            </a:fld>
            <a:endParaRPr lang="zh-CN" altLang="en-US"/>
          </a:p>
        </p:txBody>
      </p:sp>
    </p:spTree>
    <p:extLst>
      <p:ext uri="{BB962C8B-B14F-4D97-AF65-F5344CB8AC3E}">
        <p14:creationId xmlns:p14="http://schemas.microsoft.com/office/powerpoint/2010/main" val="38701986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1B5421-20C9-9AD5-BD3F-7D8671C30C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0210F522-38B2-5084-1B7F-A4367FBA26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FE390DB6-1547-5973-7960-FF50214135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47D0C65-DC76-4516-8AE1-CCBCB1D6989C}" type="datetimeFigureOut">
              <a:rPr lang="zh-CN" altLang="en-US" smtClean="0"/>
              <a:t>2026/9/25</a:t>
            </a:fld>
            <a:endParaRPr lang="zh-CN" altLang="en-US"/>
          </a:p>
        </p:txBody>
      </p:sp>
      <p:sp>
        <p:nvSpPr>
          <p:cNvPr id="5" name="Footer Placeholder 4">
            <a:extLst>
              <a:ext uri="{FF2B5EF4-FFF2-40B4-BE49-F238E27FC236}">
                <a16:creationId xmlns:a16="http://schemas.microsoft.com/office/drawing/2014/main" id="{F9B1ECF8-3DBD-499C-5AF7-E98E75FDFA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Slide Number Placeholder 5">
            <a:extLst>
              <a:ext uri="{FF2B5EF4-FFF2-40B4-BE49-F238E27FC236}">
                <a16:creationId xmlns:a16="http://schemas.microsoft.com/office/drawing/2014/main" id="{998D0F91-DC97-C670-F363-72C600830A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351EFA-9F73-4214-9D99-E1B64BB83872}" type="slidenum">
              <a:rPr lang="zh-CN" altLang="en-US" smtClean="0"/>
              <a:t>‹#›</a:t>
            </a:fld>
            <a:endParaRPr lang="zh-CN" altLang="en-US"/>
          </a:p>
        </p:txBody>
      </p:sp>
    </p:spTree>
    <p:extLst>
      <p:ext uri="{BB962C8B-B14F-4D97-AF65-F5344CB8AC3E}">
        <p14:creationId xmlns:p14="http://schemas.microsoft.com/office/powerpoint/2010/main" val="40388553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5.emf"/><Relationship Id="rId5" Type="http://schemas.openxmlformats.org/officeDocument/2006/relationships/oleObject" Target="../embeddings/oleObject1.bin"/><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9.jp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3.jpg"/><Relationship Id="rId4" Type="http://schemas.openxmlformats.org/officeDocument/2006/relationships/image" Target="../media/image22.jpeg"/></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25.jpg"/><Relationship Id="rId4" Type="http://schemas.openxmlformats.org/officeDocument/2006/relationships/image" Target="../media/image24.jpeg"/></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0D9C67A-5537-0CBC-1919-47D67FD74E2E}"/>
              </a:ext>
            </a:extLst>
          </p:cNvPr>
          <p:cNvSpPr/>
          <p:nvPr/>
        </p:nvSpPr>
        <p:spPr>
          <a:xfrm>
            <a:off x="1072896" y="1999488"/>
            <a:ext cx="10290048" cy="1804416"/>
          </a:xfrm>
          <a:prstGeom prst="rect">
            <a:avLst/>
          </a:prstGeom>
          <a:solidFill>
            <a:schemeClr val="bg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itle 1">
            <a:extLst>
              <a:ext uri="{FF2B5EF4-FFF2-40B4-BE49-F238E27FC236}">
                <a16:creationId xmlns:a16="http://schemas.microsoft.com/office/drawing/2014/main" id="{62F30260-2E2B-C1DD-3D22-1A4930BD39A7}"/>
              </a:ext>
            </a:extLst>
          </p:cNvPr>
          <p:cNvSpPr>
            <a:spLocks noGrp="1"/>
          </p:cNvSpPr>
          <p:nvPr>
            <p:ph type="ctrTitle"/>
          </p:nvPr>
        </p:nvSpPr>
        <p:spPr>
          <a:xfrm>
            <a:off x="556082" y="2062199"/>
            <a:ext cx="11323675" cy="2387600"/>
          </a:xfrm>
        </p:spPr>
        <p:txBody>
          <a:bodyPr/>
          <a:lstStyle/>
          <a:p>
            <a:r>
              <a:rPr lang="en-US" altLang="zh-CN" b="1" dirty="0">
                <a:solidFill>
                  <a:schemeClr val="tx1">
                    <a:lumMod val="75000"/>
                    <a:lumOff val="25000"/>
                  </a:schemeClr>
                </a:solidFill>
                <a:latin typeface="+mn-lt"/>
              </a:rPr>
              <a:t>The fine balance</a:t>
            </a:r>
            <a:br>
              <a:rPr lang="en-US" altLang="zh-CN" b="1" dirty="0">
                <a:solidFill>
                  <a:schemeClr val="tx1">
                    <a:lumMod val="75000"/>
                    <a:lumOff val="25000"/>
                  </a:schemeClr>
                </a:solidFill>
              </a:rPr>
            </a:br>
            <a:br>
              <a:rPr lang="en-US" altLang="zh-CN" dirty="0">
                <a:solidFill>
                  <a:schemeClr val="bg1"/>
                </a:solidFill>
              </a:rPr>
            </a:br>
            <a:r>
              <a:rPr lang="en-US" altLang="zh-CN" sz="2400" b="0" i="0" u="none" strike="noStrike" baseline="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Exploring the Interplay of Reproductive Strategies and Growth Dynamics in Trees</a:t>
            </a:r>
            <a:endParaRPr lang="zh-CN" altLang="en-US" dirty="0">
              <a:solidFill>
                <a:schemeClr val="bg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
        <p:nvSpPr>
          <p:cNvPr id="5" name="Subtitle 2">
            <a:extLst>
              <a:ext uri="{FF2B5EF4-FFF2-40B4-BE49-F238E27FC236}">
                <a16:creationId xmlns:a16="http://schemas.microsoft.com/office/drawing/2014/main" id="{FE8F0C0E-6F9E-1D0A-0FD7-CC0758058350}"/>
              </a:ext>
            </a:extLst>
          </p:cNvPr>
          <p:cNvSpPr>
            <a:spLocks noGrp="1"/>
          </p:cNvSpPr>
          <p:nvPr>
            <p:ph type="subTitle" idx="1"/>
          </p:nvPr>
        </p:nvSpPr>
        <p:spPr>
          <a:xfrm>
            <a:off x="1524000" y="4795801"/>
            <a:ext cx="9144000" cy="1655762"/>
          </a:xfrm>
        </p:spPr>
        <p:txBody>
          <a:bodyPr>
            <a:normAutofit/>
          </a:bodyPr>
          <a:lstStyle/>
          <a:p>
            <a:r>
              <a:rPr lang="en-US" altLang="zh-CN" dirty="0">
                <a:solidFill>
                  <a:schemeClr val="bg1"/>
                </a:solidFill>
              </a:rPr>
              <a:t>Xiaomao (Mao) Wang</a:t>
            </a:r>
          </a:p>
          <a:p>
            <a:r>
              <a:rPr lang="en-US" altLang="zh-CN" dirty="0">
                <a:solidFill>
                  <a:schemeClr val="bg1"/>
                </a:solidFill>
              </a:rPr>
              <a:t>Supervisor: Elizabeth </a:t>
            </a:r>
            <a:r>
              <a:rPr lang="en-US" altLang="zh-CN" dirty="0" err="1">
                <a:solidFill>
                  <a:schemeClr val="bg1"/>
                </a:solidFill>
              </a:rPr>
              <a:t>Wolkovich</a:t>
            </a:r>
            <a:endParaRPr lang="en-US" altLang="zh-CN" dirty="0">
              <a:solidFill>
                <a:schemeClr val="bg1"/>
              </a:solidFill>
            </a:endParaRPr>
          </a:p>
        </p:txBody>
      </p:sp>
      <p:pic>
        <p:nvPicPr>
          <p:cNvPr id="6" name="Picture 5">
            <a:extLst>
              <a:ext uri="{FF2B5EF4-FFF2-40B4-BE49-F238E27FC236}">
                <a16:creationId xmlns:a16="http://schemas.microsoft.com/office/drawing/2014/main" id="{6A3F004B-5724-A2B6-B30F-60C625075C34}"/>
              </a:ext>
            </a:extLst>
          </p:cNvPr>
          <p:cNvPicPr>
            <a:picLocks noChangeAspect="1"/>
          </p:cNvPicPr>
          <p:nvPr/>
        </p:nvPicPr>
        <p:blipFill>
          <a:blip r:embed="rId4"/>
          <a:stretch>
            <a:fillRect/>
          </a:stretch>
        </p:blipFill>
        <p:spPr>
          <a:xfrm>
            <a:off x="0" y="-120575"/>
            <a:ext cx="1481544" cy="1481544"/>
          </a:xfrm>
          <a:prstGeom prst="rect">
            <a:avLst/>
          </a:prstGeom>
        </p:spPr>
      </p:pic>
      <p:sp>
        <p:nvSpPr>
          <p:cNvPr id="7" name="TextBox 6">
            <a:extLst>
              <a:ext uri="{FF2B5EF4-FFF2-40B4-BE49-F238E27FC236}">
                <a16:creationId xmlns:a16="http://schemas.microsoft.com/office/drawing/2014/main" id="{EAEAD06E-A0BD-A7A0-E912-05F7409A3202}"/>
              </a:ext>
            </a:extLst>
          </p:cNvPr>
          <p:cNvSpPr txBox="1"/>
          <p:nvPr/>
        </p:nvSpPr>
        <p:spPr>
          <a:xfrm>
            <a:off x="1357495" y="356460"/>
            <a:ext cx="4738505" cy="1382943"/>
          </a:xfrm>
          <a:prstGeom prst="rect">
            <a:avLst/>
          </a:prstGeom>
          <a:noFill/>
        </p:spPr>
        <p:txBody>
          <a:bodyPr wrap="square" rtlCol="0">
            <a:spAutoFit/>
          </a:bodyPr>
          <a:lstStyle/>
          <a:p>
            <a:pPr>
              <a:lnSpc>
                <a:spcPct val="90000"/>
              </a:lnSpc>
              <a:spcBef>
                <a:spcPts val="1000"/>
              </a:spcBef>
            </a:pPr>
            <a:r>
              <a:rPr lang="en-US" altLang="zh-CN" sz="1600" b="1" dirty="0">
                <a:solidFill>
                  <a:schemeClr val="bg1"/>
                </a:solidFill>
              </a:rPr>
              <a:t>Faculty of Forestry, University of British Columbia</a:t>
            </a:r>
          </a:p>
          <a:p>
            <a:pPr>
              <a:lnSpc>
                <a:spcPct val="90000"/>
              </a:lnSpc>
              <a:spcBef>
                <a:spcPts val="1000"/>
              </a:spcBef>
            </a:pPr>
            <a:r>
              <a:rPr lang="en-US" altLang="zh-CN" sz="1600" b="1" dirty="0">
                <a:solidFill>
                  <a:schemeClr val="bg1"/>
                </a:solidFill>
              </a:rPr>
              <a:t>2</a:t>
            </a:r>
            <a:r>
              <a:rPr lang="en-US" altLang="zh-CN" sz="1600" b="1" baseline="30000" dirty="0">
                <a:solidFill>
                  <a:schemeClr val="bg1"/>
                </a:solidFill>
              </a:rPr>
              <a:t>nd</a:t>
            </a:r>
            <a:r>
              <a:rPr lang="en-US" altLang="zh-CN" sz="1600" b="1" dirty="0">
                <a:solidFill>
                  <a:schemeClr val="bg1"/>
                </a:solidFill>
              </a:rPr>
              <a:t> Doctoral Committee Meeting</a:t>
            </a:r>
          </a:p>
          <a:p>
            <a:pPr>
              <a:lnSpc>
                <a:spcPct val="90000"/>
              </a:lnSpc>
              <a:spcBef>
                <a:spcPts val="1000"/>
              </a:spcBef>
            </a:pPr>
            <a:endParaRPr lang="en-US" altLang="zh-CN" sz="1600" b="1" dirty="0">
              <a:solidFill>
                <a:schemeClr val="bg1"/>
              </a:solidFill>
            </a:endParaRPr>
          </a:p>
          <a:p>
            <a:endParaRPr lang="zh-CN" altLang="en-US" sz="1200" b="1" dirty="0">
              <a:solidFill>
                <a:schemeClr val="bg1"/>
              </a:solidFill>
            </a:endParaRPr>
          </a:p>
          <a:p>
            <a:endParaRPr lang="zh-CN" altLang="en-US" sz="1200" b="1" dirty="0"/>
          </a:p>
        </p:txBody>
      </p:sp>
    </p:spTree>
    <p:extLst>
      <p:ext uri="{BB962C8B-B14F-4D97-AF65-F5344CB8AC3E}">
        <p14:creationId xmlns:p14="http://schemas.microsoft.com/office/powerpoint/2010/main" val="3452457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98A78173-72CA-2324-A5FA-A29B308F69B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92CC47E-1E16-C4CB-D06C-31875163F233}"/>
              </a:ext>
            </a:extLst>
          </p:cNvPr>
          <p:cNvSpPr/>
          <p:nvPr/>
        </p:nvSpPr>
        <p:spPr>
          <a:xfrm>
            <a:off x="353568" y="379398"/>
            <a:ext cx="11484864" cy="6099204"/>
          </a:xfrm>
          <a:prstGeom prst="rect">
            <a:avLst/>
          </a:prstGeom>
          <a:solidFill>
            <a:schemeClr val="bg1">
              <a:alpha val="90000"/>
            </a:schemeClr>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a:extLst>
              <a:ext uri="{FF2B5EF4-FFF2-40B4-BE49-F238E27FC236}">
                <a16:creationId xmlns:a16="http://schemas.microsoft.com/office/drawing/2014/main" id="{6BF6E721-9845-A7C9-345F-C533DDAD4B29}"/>
              </a:ext>
            </a:extLst>
          </p:cNvPr>
          <p:cNvSpPr txBox="1"/>
          <p:nvPr/>
        </p:nvSpPr>
        <p:spPr>
          <a:xfrm>
            <a:off x="540381" y="317555"/>
            <a:ext cx="3837066" cy="584775"/>
          </a:xfrm>
          <a:prstGeom prst="rect">
            <a:avLst/>
          </a:prstGeom>
          <a:noFill/>
        </p:spPr>
        <p:txBody>
          <a:bodyPr wrap="square">
            <a:spAutoFit/>
          </a:bodyPr>
          <a:lstStyle/>
          <a:p>
            <a:r>
              <a:rPr lang="en-US" altLang="zh-CN" sz="3200" b="1" dirty="0">
                <a:solidFill>
                  <a:schemeClr val="tx2">
                    <a:lumMod val="90000"/>
                    <a:lumOff val="10000"/>
                  </a:schemeClr>
                </a:solidFill>
                <a:effectLst>
                  <a:outerShdw blurRad="38100" dist="38100" dir="2700000" algn="tl">
                    <a:srgbClr val="000000">
                      <a:alpha val="43137"/>
                    </a:srgbClr>
                  </a:outerShdw>
                </a:effectLst>
              </a:rPr>
              <a:t>Table of content</a:t>
            </a:r>
            <a:endParaRPr lang="zh-CN" altLang="en-US" sz="2000" b="1" dirty="0">
              <a:effectLst>
                <a:outerShdw blurRad="38100" dist="38100" dir="2700000" algn="tl">
                  <a:srgbClr val="000000">
                    <a:alpha val="43137"/>
                  </a:srgbClr>
                </a:outerShdw>
              </a:effectLst>
            </a:endParaRPr>
          </a:p>
        </p:txBody>
      </p:sp>
      <p:sp>
        <p:nvSpPr>
          <p:cNvPr id="4" name="Content Placeholder 2">
            <a:extLst>
              <a:ext uri="{FF2B5EF4-FFF2-40B4-BE49-F238E27FC236}">
                <a16:creationId xmlns:a16="http://schemas.microsoft.com/office/drawing/2014/main" id="{47C66B20-8318-6FD7-6778-E7BD8608C0B5}"/>
              </a:ext>
            </a:extLst>
          </p:cNvPr>
          <p:cNvSpPr txBox="1">
            <a:spLocks/>
          </p:cNvSpPr>
          <p:nvPr/>
        </p:nvSpPr>
        <p:spPr>
          <a:xfrm>
            <a:off x="1249889" y="1825371"/>
            <a:ext cx="3438906" cy="3207258"/>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en-US" altLang="zh-CN" sz="2000" dirty="0">
                <a:solidFill>
                  <a:srgbClr val="163E64"/>
                </a:solidFill>
              </a:rPr>
              <a:t>Brief background</a:t>
            </a:r>
          </a:p>
          <a:p>
            <a:pPr marL="342900" indent="-342900" algn="l">
              <a:buFont typeface="Arial" panose="020B0604020202020204" pitchFamily="34" charset="0"/>
              <a:buChar char="•"/>
            </a:pPr>
            <a:r>
              <a:rPr lang="en-US" altLang="zh-CN" sz="2000" dirty="0">
                <a:solidFill>
                  <a:srgbClr val="163E64"/>
                </a:solidFill>
              </a:rPr>
              <a:t>Research questions</a:t>
            </a:r>
          </a:p>
          <a:p>
            <a:pPr marL="342900" indent="-342900" algn="l">
              <a:buFont typeface="Arial" panose="020B0604020202020204" pitchFamily="34" charset="0"/>
              <a:buChar char="•"/>
            </a:pPr>
            <a:r>
              <a:rPr lang="en-US" altLang="zh-CN" sz="2000" dirty="0">
                <a:solidFill>
                  <a:srgbClr val="163E64"/>
                </a:solidFill>
              </a:rPr>
              <a:t>Individual chapters</a:t>
            </a:r>
            <a:endParaRPr lang="en-US" altLang="zh-CN" sz="2100" dirty="0">
              <a:solidFill>
                <a:srgbClr val="163E64"/>
              </a:solidFill>
            </a:endParaRPr>
          </a:p>
          <a:p>
            <a:pPr marL="342900" indent="-342900" algn="l">
              <a:lnSpc>
                <a:spcPct val="100000"/>
              </a:lnSpc>
              <a:buFont typeface="Arial" panose="020B0604020202020204" pitchFamily="34" charset="0"/>
              <a:buChar char="•"/>
            </a:pPr>
            <a:r>
              <a:rPr lang="en-US" altLang="zh-CN" sz="2000" dirty="0">
                <a:solidFill>
                  <a:srgbClr val="163E64"/>
                </a:solidFill>
              </a:rPr>
              <a:t>Other activities</a:t>
            </a:r>
          </a:p>
          <a:p>
            <a:pPr algn="l"/>
            <a:endParaRPr lang="en-US" altLang="zh-CN" sz="2000" dirty="0">
              <a:solidFill>
                <a:srgbClr val="163E64"/>
              </a:solidFill>
            </a:endParaRPr>
          </a:p>
          <a:p>
            <a:pPr algn="l"/>
            <a:endParaRPr lang="en-US" altLang="zh-CN" sz="2000" dirty="0">
              <a:solidFill>
                <a:schemeClr val="tx2">
                  <a:lumMod val="90000"/>
                  <a:lumOff val="10000"/>
                </a:schemeClr>
              </a:solidFill>
            </a:endParaRPr>
          </a:p>
        </p:txBody>
      </p:sp>
      <p:pic>
        <p:nvPicPr>
          <p:cNvPr id="6" name="Picture 5">
            <a:extLst>
              <a:ext uri="{FF2B5EF4-FFF2-40B4-BE49-F238E27FC236}">
                <a16:creationId xmlns:a16="http://schemas.microsoft.com/office/drawing/2014/main" id="{00C3ED8B-92C8-4F8E-1824-F71204E496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93271" y="1433863"/>
            <a:ext cx="4612066" cy="3462749"/>
          </a:xfrm>
          <a:prstGeom prst="rect">
            <a:avLst/>
          </a:prstGeom>
          <a:effectLst>
            <a:softEdge rad="317500"/>
          </a:effectLst>
        </p:spPr>
      </p:pic>
    </p:spTree>
    <p:extLst>
      <p:ext uri="{BB962C8B-B14F-4D97-AF65-F5344CB8AC3E}">
        <p14:creationId xmlns:p14="http://schemas.microsoft.com/office/powerpoint/2010/main" val="675638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DC963D02-BFFC-2AAE-8F24-5C0003D709F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EBC5624-21A2-EAB6-968C-9DECC728BCD4}"/>
              </a:ext>
            </a:extLst>
          </p:cNvPr>
          <p:cNvSpPr/>
          <p:nvPr/>
        </p:nvSpPr>
        <p:spPr>
          <a:xfrm>
            <a:off x="353568" y="379398"/>
            <a:ext cx="11484864" cy="6099204"/>
          </a:xfrm>
          <a:prstGeom prst="rect">
            <a:avLst/>
          </a:prstGeom>
          <a:solidFill>
            <a:schemeClr val="bg1">
              <a:alpha val="90000"/>
            </a:schemeClr>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TextBox 2">
            <a:extLst>
              <a:ext uri="{FF2B5EF4-FFF2-40B4-BE49-F238E27FC236}">
                <a16:creationId xmlns:a16="http://schemas.microsoft.com/office/drawing/2014/main" id="{9B3D8F55-DA41-D7C6-7D10-C30909271C18}"/>
              </a:ext>
            </a:extLst>
          </p:cNvPr>
          <p:cNvSpPr txBox="1"/>
          <p:nvPr/>
        </p:nvSpPr>
        <p:spPr>
          <a:xfrm>
            <a:off x="540380" y="317555"/>
            <a:ext cx="4132761" cy="584775"/>
          </a:xfrm>
          <a:prstGeom prst="rect">
            <a:avLst/>
          </a:prstGeom>
          <a:noFill/>
        </p:spPr>
        <p:txBody>
          <a:bodyPr wrap="square">
            <a:spAutoFit/>
          </a:bodyPr>
          <a:lstStyle/>
          <a:p>
            <a:r>
              <a:rPr lang="en-US" altLang="zh-CN" sz="3200" b="1" dirty="0">
                <a:solidFill>
                  <a:schemeClr val="tx2">
                    <a:lumMod val="90000"/>
                    <a:lumOff val="10000"/>
                  </a:schemeClr>
                </a:solidFill>
                <a:effectLst>
                  <a:outerShdw blurRad="38100" dist="38100" dir="2700000" algn="tl">
                    <a:srgbClr val="000000">
                      <a:alpha val="43137"/>
                    </a:srgbClr>
                  </a:outerShdw>
                </a:effectLst>
              </a:rPr>
              <a:t>What is masting?</a:t>
            </a:r>
            <a:endParaRPr lang="zh-CN" altLang="en-US" sz="2000" b="1" dirty="0">
              <a:effectLst>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D7D7638B-7A72-93D4-C29C-344022B6F610}"/>
              </a:ext>
            </a:extLst>
          </p:cNvPr>
          <p:cNvSpPr txBox="1"/>
          <p:nvPr/>
        </p:nvSpPr>
        <p:spPr>
          <a:xfrm>
            <a:off x="1779638" y="1182231"/>
            <a:ext cx="8632723" cy="2246769"/>
          </a:xfrm>
          <a:prstGeom prst="rect">
            <a:avLst/>
          </a:prstGeom>
          <a:noFill/>
        </p:spPr>
        <p:txBody>
          <a:bodyPr wrap="square">
            <a:spAutoFit/>
          </a:bodyPr>
          <a:lstStyle/>
          <a:p>
            <a:r>
              <a:rPr lang="en-US" altLang="zh-CN" sz="2000" dirty="0">
                <a:solidFill>
                  <a:schemeClr val="tx2">
                    <a:lumMod val="90000"/>
                    <a:lumOff val="10000"/>
                  </a:schemeClr>
                </a:solidFill>
              </a:rPr>
              <a:t>Synchronized variation of large seed crop within a population between years</a:t>
            </a:r>
          </a:p>
          <a:p>
            <a:endParaRPr lang="en-US" altLang="zh-CN" sz="2000" dirty="0">
              <a:solidFill>
                <a:srgbClr val="163E64"/>
              </a:solidFill>
            </a:endParaRPr>
          </a:p>
          <a:p>
            <a:r>
              <a:rPr lang="en-US" altLang="zh-CN" sz="2000" dirty="0">
                <a:solidFill>
                  <a:srgbClr val="163E64"/>
                </a:solidFill>
              </a:rPr>
              <a:t>Characteristics:</a:t>
            </a:r>
          </a:p>
          <a:p>
            <a:pPr marL="285750" indent="-285750">
              <a:buFont typeface="Arial" panose="020B0604020202020204" pitchFamily="34" charset="0"/>
              <a:buChar char="•"/>
            </a:pPr>
            <a:r>
              <a:rPr lang="en-US" altLang="zh-CN" sz="2000" dirty="0">
                <a:solidFill>
                  <a:srgbClr val="163E64"/>
                </a:solidFill>
              </a:rPr>
              <a:t>Interannual variation</a:t>
            </a:r>
          </a:p>
          <a:p>
            <a:pPr marL="285750" indent="-285750">
              <a:buFont typeface="Arial" panose="020B0604020202020204" pitchFamily="34" charset="0"/>
              <a:buChar char="•"/>
            </a:pPr>
            <a:r>
              <a:rPr lang="en-US" altLang="zh-CN" sz="2000" dirty="0">
                <a:solidFill>
                  <a:srgbClr val="163E64"/>
                </a:solidFill>
              </a:rPr>
              <a:t>Spatial synchrony</a:t>
            </a:r>
          </a:p>
          <a:p>
            <a:pPr marL="285750" indent="-285750">
              <a:buFont typeface="Arial" panose="020B0604020202020204" pitchFamily="34" charset="0"/>
              <a:buChar char="•"/>
            </a:pPr>
            <a:r>
              <a:rPr lang="en-US" altLang="zh-CN" sz="2000" dirty="0">
                <a:solidFill>
                  <a:srgbClr val="163E64"/>
                </a:solidFill>
              </a:rPr>
              <a:t>Temporal autocorrelation</a:t>
            </a:r>
          </a:p>
          <a:p>
            <a:pPr marL="285750" indent="-285750">
              <a:buFont typeface="Arial" panose="020B0604020202020204" pitchFamily="34" charset="0"/>
              <a:buChar char="•"/>
            </a:pPr>
            <a:r>
              <a:rPr lang="en-US" altLang="zh-CN" sz="2000" dirty="0">
                <a:solidFill>
                  <a:srgbClr val="163E64"/>
                </a:solidFill>
              </a:rPr>
              <a:t>Frequency</a:t>
            </a:r>
            <a:endParaRPr lang="zh-CN" altLang="en-US" sz="2000" dirty="0">
              <a:solidFill>
                <a:srgbClr val="163E64"/>
              </a:solidFill>
            </a:endParaRPr>
          </a:p>
        </p:txBody>
      </p:sp>
      <p:pic>
        <p:nvPicPr>
          <p:cNvPr id="9" name="Picture 2">
            <a:extLst>
              <a:ext uri="{FF2B5EF4-FFF2-40B4-BE49-F238E27FC236}">
                <a16:creationId xmlns:a16="http://schemas.microsoft.com/office/drawing/2014/main" id="{3709616A-C3C7-E572-1BC8-07FC55FDF5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1489" y="3774617"/>
            <a:ext cx="623369" cy="66690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a:extLst>
              <a:ext uri="{FF2B5EF4-FFF2-40B4-BE49-F238E27FC236}">
                <a16:creationId xmlns:a16="http://schemas.microsoft.com/office/drawing/2014/main" id="{399B25CE-C8C2-58C9-8E90-3A664301BBA5}"/>
              </a:ext>
            </a:extLst>
          </p:cNvPr>
          <p:cNvPicPr>
            <a:picLocks noChangeAspect="1"/>
          </p:cNvPicPr>
          <p:nvPr/>
        </p:nvPicPr>
        <p:blipFill>
          <a:blip r:embed="rId5"/>
          <a:stretch>
            <a:fillRect/>
          </a:stretch>
        </p:blipFill>
        <p:spPr>
          <a:xfrm>
            <a:off x="5191951" y="3739618"/>
            <a:ext cx="657016" cy="701905"/>
          </a:xfrm>
          <a:prstGeom prst="rect">
            <a:avLst/>
          </a:prstGeom>
        </p:spPr>
      </p:pic>
      <p:pic>
        <p:nvPicPr>
          <p:cNvPr id="25" name="Picture 24">
            <a:extLst>
              <a:ext uri="{FF2B5EF4-FFF2-40B4-BE49-F238E27FC236}">
                <a16:creationId xmlns:a16="http://schemas.microsoft.com/office/drawing/2014/main" id="{09A64199-0104-6D87-232C-7973634B340B}"/>
              </a:ext>
            </a:extLst>
          </p:cNvPr>
          <p:cNvPicPr>
            <a:picLocks noChangeAspect="1"/>
          </p:cNvPicPr>
          <p:nvPr/>
        </p:nvPicPr>
        <p:blipFill>
          <a:blip r:embed="rId6"/>
          <a:stretch>
            <a:fillRect/>
          </a:stretch>
        </p:blipFill>
        <p:spPr>
          <a:xfrm>
            <a:off x="5420335" y="3860596"/>
            <a:ext cx="56614" cy="45719"/>
          </a:xfrm>
          <a:prstGeom prst="rect">
            <a:avLst/>
          </a:prstGeom>
        </p:spPr>
      </p:pic>
      <p:pic>
        <p:nvPicPr>
          <p:cNvPr id="33" name="Picture 32">
            <a:extLst>
              <a:ext uri="{FF2B5EF4-FFF2-40B4-BE49-F238E27FC236}">
                <a16:creationId xmlns:a16="http://schemas.microsoft.com/office/drawing/2014/main" id="{53B47DA3-0600-E0BB-2C23-91E13595373A}"/>
              </a:ext>
            </a:extLst>
          </p:cNvPr>
          <p:cNvPicPr>
            <a:picLocks noChangeAspect="1"/>
          </p:cNvPicPr>
          <p:nvPr/>
        </p:nvPicPr>
        <p:blipFill>
          <a:blip r:embed="rId6"/>
          <a:stretch>
            <a:fillRect/>
          </a:stretch>
        </p:blipFill>
        <p:spPr>
          <a:xfrm rot="17884929">
            <a:off x="5555901" y="3939960"/>
            <a:ext cx="56614" cy="45719"/>
          </a:xfrm>
          <a:prstGeom prst="rect">
            <a:avLst/>
          </a:prstGeom>
        </p:spPr>
      </p:pic>
      <p:pic>
        <p:nvPicPr>
          <p:cNvPr id="35" name="Picture 34">
            <a:extLst>
              <a:ext uri="{FF2B5EF4-FFF2-40B4-BE49-F238E27FC236}">
                <a16:creationId xmlns:a16="http://schemas.microsoft.com/office/drawing/2014/main" id="{042AA6D1-33B1-087A-2605-B02FA85AAD97}"/>
              </a:ext>
            </a:extLst>
          </p:cNvPr>
          <p:cNvPicPr>
            <a:picLocks noChangeAspect="1"/>
          </p:cNvPicPr>
          <p:nvPr/>
        </p:nvPicPr>
        <p:blipFill>
          <a:blip r:embed="rId5"/>
          <a:stretch>
            <a:fillRect/>
          </a:stretch>
        </p:blipFill>
        <p:spPr>
          <a:xfrm>
            <a:off x="4673142" y="4602848"/>
            <a:ext cx="657016" cy="701905"/>
          </a:xfrm>
          <a:prstGeom prst="rect">
            <a:avLst/>
          </a:prstGeom>
        </p:spPr>
      </p:pic>
      <p:pic>
        <p:nvPicPr>
          <p:cNvPr id="37" name="Picture 36">
            <a:extLst>
              <a:ext uri="{FF2B5EF4-FFF2-40B4-BE49-F238E27FC236}">
                <a16:creationId xmlns:a16="http://schemas.microsoft.com/office/drawing/2014/main" id="{E20926A5-1EEB-CA90-F5E9-E23996461988}"/>
              </a:ext>
            </a:extLst>
          </p:cNvPr>
          <p:cNvPicPr>
            <a:picLocks noChangeAspect="1"/>
          </p:cNvPicPr>
          <p:nvPr/>
        </p:nvPicPr>
        <p:blipFill>
          <a:blip r:embed="rId6"/>
          <a:stretch>
            <a:fillRect/>
          </a:stretch>
        </p:blipFill>
        <p:spPr>
          <a:xfrm>
            <a:off x="4901526" y="4723826"/>
            <a:ext cx="56614" cy="45719"/>
          </a:xfrm>
          <a:prstGeom prst="rect">
            <a:avLst/>
          </a:prstGeom>
        </p:spPr>
      </p:pic>
      <p:pic>
        <p:nvPicPr>
          <p:cNvPr id="41" name="Picture 40">
            <a:extLst>
              <a:ext uri="{FF2B5EF4-FFF2-40B4-BE49-F238E27FC236}">
                <a16:creationId xmlns:a16="http://schemas.microsoft.com/office/drawing/2014/main" id="{224152EF-1808-FDD5-0A1F-0B8927B0A7C6}"/>
              </a:ext>
            </a:extLst>
          </p:cNvPr>
          <p:cNvPicPr>
            <a:picLocks noChangeAspect="1"/>
          </p:cNvPicPr>
          <p:nvPr/>
        </p:nvPicPr>
        <p:blipFill>
          <a:blip r:embed="rId5"/>
          <a:stretch>
            <a:fillRect/>
          </a:stretch>
        </p:blipFill>
        <p:spPr>
          <a:xfrm>
            <a:off x="5663721" y="4483511"/>
            <a:ext cx="657016" cy="701905"/>
          </a:xfrm>
          <a:prstGeom prst="rect">
            <a:avLst/>
          </a:prstGeom>
        </p:spPr>
      </p:pic>
      <p:pic>
        <p:nvPicPr>
          <p:cNvPr id="45" name="Picture 44">
            <a:extLst>
              <a:ext uri="{FF2B5EF4-FFF2-40B4-BE49-F238E27FC236}">
                <a16:creationId xmlns:a16="http://schemas.microsoft.com/office/drawing/2014/main" id="{1CAE5E09-2F62-BAA5-4781-12A0A9D705D7}"/>
              </a:ext>
            </a:extLst>
          </p:cNvPr>
          <p:cNvPicPr>
            <a:picLocks noChangeAspect="1"/>
          </p:cNvPicPr>
          <p:nvPr/>
        </p:nvPicPr>
        <p:blipFill>
          <a:blip r:embed="rId6"/>
          <a:stretch>
            <a:fillRect/>
          </a:stretch>
        </p:blipFill>
        <p:spPr>
          <a:xfrm rot="17884929">
            <a:off x="6027671" y="4683853"/>
            <a:ext cx="56614" cy="45719"/>
          </a:xfrm>
          <a:prstGeom prst="rect">
            <a:avLst/>
          </a:prstGeom>
        </p:spPr>
      </p:pic>
      <p:pic>
        <p:nvPicPr>
          <p:cNvPr id="47" name="Picture 2">
            <a:extLst>
              <a:ext uri="{FF2B5EF4-FFF2-40B4-BE49-F238E27FC236}">
                <a16:creationId xmlns:a16="http://schemas.microsoft.com/office/drawing/2014/main" id="{9618FF51-02EB-E799-0F94-91AA47E1FD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5561" y="4620348"/>
            <a:ext cx="623369" cy="666906"/>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
            <a:extLst>
              <a:ext uri="{FF2B5EF4-FFF2-40B4-BE49-F238E27FC236}">
                <a16:creationId xmlns:a16="http://schemas.microsoft.com/office/drawing/2014/main" id="{8BD60C95-A8B1-6A1F-82A7-E4097963C6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2952" y="4501010"/>
            <a:ext cx="623369" cy="666906"/>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0">
            <a:extLst>
              <a:ext uri="{FF2B5EF4-FFF2-40B4-BE49-F238E27FC236}">
                <a16:creationId xmlns:a16="http://schemas.microsoft.com/office/drawing/2014/main" id="{086A4DBA-5426-0A07-7B94-ABAE6FE33413}"/>
              </a:ext>
            </a:extLst>
          </p:cNvPr>
          <p:cNvPicPr>
            <a:picLocks noChangeAspect="1"/>
          </p:cNvPicPr>
          <p:nvPr/>
        </p:nvPicPr>
        <p:blipFill>
          <a:blip r:embed="rId5"/>
          <a:stretch>
            <a:fillRect/>
          </a:stretch>
        </p:blipFill>
        <p:spPr>
          <a:xfrm>
            <a:off x="7518720" y="3739618"/>
            <a:ext cx="657016" cy="701905"/>
          </a:xfrm>
          <a:prstGeom prst="rect">
            <a:avLst/>
          </a:prstGeom>
        </p:spPr>
      </p:pic>
      <p:pic>
        <p:nvPicPr>
          <p:cNvPr id="53" name="Picture 52">
            <a:extLst>
              <a:ext uri="{FF2B5EF4-FFF2-40B4-BE49-F238E27FC236}">
                <a16:creationId xmlns:a16="http://schemas.microsoft.com/office/drawing/2014/main" id="{728DC150-4F20-235E-D75C-D038A3B81172}"/>
              </a:ext>
            </a:extLst>
          </p:cNvPr>
          <p:cNvPicPr>
            <a:picLocks noChangeAspect="1"/>
          </p:cNvPicPr>
          <p:nvPr/>
        </p:nvPicPr>
        <p:blipFill>
          <a:blip r:embed="rId6"/>
          <a:stretch>
            <a:fillRect/>
          </a:stretch>
        </p:blipFill>
        <p:spPr>
          <a:xfrm>
            <a:off x="7747104" y="3860596"/>
            <a:ext cx="56614" cy="45719"/>
          </a:xfrm>
          <a:prstGeom prst="rect">
            <a:avLst/>
          </a:prstGeom>
        </p:spPr>
      </p:pic>
      <p:pic>
        <p:nvPicPr>
          <p:cNvPr id="55" name="Picture 54">
            <a:extLst>
              <a:ext uri="{FF2B5EF4-FFF2-40B4-BE49-F238E27FC236}">
                <a16:creationId xmlns:a16="http://schemas.microsoft.com/office/drawing/2014/main" id="{054B3375-6E54-AA78-379D-D0F331E7A2D4}"/>
              </a:ext>
            </a:extLst>
          </p:cNvPr>
          <p:cNvPicPr>
            <a:picLocks noChangeAspect="1"/>
          </p:cNvPicPr>
          <p:nvPr/>
        </p:nvPicPr>
        <p:blipFill>
          <a:blip r:embed="rId6"/>
          <a:stretch>
            <a:fillRect/>
          </a:stretch>
        </p:blipFill>
        <p:spPr>
          <a:xfrm rot="17884929">
            <a:off x="7882670" y="3939960"/>
            <a:ext cx="56614" cy="45719"/>
          </a:xfrm>
          <a:prstGeom prst="rect">
            <a:avLst/>
          </a:prstGeom>
        </p:spPr>
      </p:pic>
      <p:pic>
        <p:nvPicPr>
          <p:cNvPr id="57" name="Picture 56">
            <a:extLst>
              <a:ext uri="{FF2B5EF4-FFF2-40B4-BE49-F238E27FC236}">
                <a16:creationId xmlns:a16="http://schemas.microsoft.com/office/drawing/2014/main" id="{A6011D82-6863-3F86-5201-4C8C2FDF0B3B}"/>
              </a:ext>
            </a:extLst>
          </p:cNvPr>
          <p:cNvPicPr>
            <a:picLocks noChangeAspect="1"/>
          </p:cNvPicPr>
          <p:nvPr/>
        </p:nvPicPr>
        <p:blipFill>
          <a:blip r:embed="rId5"/>
          <a:stretch>
            <a:fillRect/>
          </a:stretch>
        </p:blipFill>
        <p:spPr>
          <a:xfrm>
            <a:off x="6999911" y="4602848"/>
            <a:ext cx="657016" cy="701905"/>
          </a:xfrm>
          <a:prstGeom prst="rect">
            <a:avLst/>
          </a:prstGeom>
        </p:spPr>
      </p:pic>
      <p:pic>
        <p:nvPicPr>
          <p:cNvPr id="59" name="Picture 58">
            <a:extLst>
              <a:ext uri="{FF2B5EF4-FFF2-40B4-BE49-F238E27FC236}">
                <a16:creationId xmlns:a16="http://schemas.microsoft.com/office/drawing/2014/main" id="{054877C4-9972-363E-A129-4661EC42AFFB}"/>
              </a:ext>
            </a:extLst>
          </p:cNvPr>
          <p:cNvPicPr>
            <a:picLocks noChangeAspect="1"/>
          </p:cNvPicPr>
          <p:nvPr/>
        </p:nvPicPr>
        <p:blipFill>
          <a:blip r:embed="rId6"/>
          <a:stretch>
            <a:fillRect/>
          </a:stretch>
        </p:blipFill>
        <p:spPr>
          <a:xfrm>
            <a:off x="7228295" y="4723826"/>
            <a:ext cx="56614" cy="45719"/>
          </a:xfrm>
          <a:prstGeom prst="rect">
            <a:avLst/>
          </a:prstGeom>
        </p:spPr>
      </p:pic>
      <p:pic>
        <p:nvPicPr>
          <p:cNvPr id="61" name="Picture 60">
            <a:extLst>
              <a:ext uri="{FF2B5EF4-FFF2-40B4-BE49-F238E27FC236}">
                <a16:creationId xmlns:a16="http://schemas.microsoft.com/office/drawing/2014/main" id="{A7834A84-7073-DD16-F28D-4234022D67FF}"/>
              </a:ext>
            </a:extLst>
          </p:cNvPr>
          <p:cNvPicPr>
            <a:picLocks noChangeAspect="1"/>
          </p:cNvPicPr>
          <p:nvPr/>
        </p:nvPicPr>
        <p:blipFill>
          <a:blip r:embed="rId5"/>
          <a:stretch>
            <a:fillRect/>
          </a:stretch>
        </p:blipFill>
        <p:spPr>
          <a:xfrm>
            <a:off x="7990490" y="4483511"/>
            <a:ext cx="657016" cy="701905"/>
          </a:xfrm>
          <a:prstGeom prst="rect">
            <a:avLst/>
          </a:prstGeom>
        </p:spPr>
      </p:pic>
      <p:pic>
        <p:nvPicPr>
          <p:cNvPr id="63" name="Picture 62">
            <a:extLst>
              <a:ext uri="{FF2B5EF4-FFF2-40B4-BE49-F238E27FC236}">
                <a16:creationId xmlns:a16="http://schemas.microsoft.com/office/drawing/2014/main" id="{47A7BF6C-CA38-F9A2-6DCB-95185990583E}"/>
              </a:ext>
            </a:extLst>
          </p:cNvPr>
          <p:cNvPicPr>
            <a:picLocks noChangeAspect="1"/>
          </p:cNvPicPr>
          <p:nvPr/>
        </p:nvPicPr>
        <p:blipFill>
          <a:blip r:embed="rId6"/>
          <a:stretch>
            <a:fillRect/>
          </a:stretch>
        </p:blipFill>
        <p:spPr>
          <a:xfrm rot="17884929">
            <a:off x="8354440" y="4683853"/>
            <a:ext cx="56614" cy="45719"/>
          </a:xfrm>
          <a:prstGeom prst="rect">
            <a:avLst/>
          </a:prstGeom>
        </p:spPr>
      </p:pic>
      <p:pic>
        <p:nvPicPr>
          <p:cNvPr id="65" name="Picture 64">
            <a:extLst>
              <a:ext uri="{FF2B5EF4-FFF2-40B4-BE49-F238E27FC236}">
                <a16:creationId xmlns:a16="http://schemas.microsoft.com/office/drawing/2014/main" id="{44558100-BF97-0899-15DF-1D73C7457F65}"/>
              </a:ext>
            </a:extLst>
          </p:cNvPr>
          <p:cNvPicPr>
            <a:picLocks noChangeAspect="1"/>
          </p:cNvPicPr>
          <p:nvPr/>
        </p:nvPicPr>
        <p:blipFill>
          <a:blip r:embed="rId6"/>
          <a:stretch>
            <a:fillRect/>
          </a:stretch>
        </p:blipFill>
        <p:spPr>
          <a:xfrm rot="15773625">
            <a:off x="7324770" y="4961858"/>
            <a:ext cx="56614" cy="45719"/>
          </a:xfrm>
          <a:prstGeom prst="rect">
            <a:avLst/>
          </a:prstGeom>
        </p:spPr>
      </p:pic>
      <p:pic>
        <p:nvPicPr>
          <p:cNvPr id="67" name="Picture 66">
            <a:extLst>
              <a:ext uri="{FF2B5EF4-FFF2-40B4-BE49-F238E27FC236}">
                <a16:creationId xmlns:a16="http://schemas.microsoft.com/office/drawing/2014/main" id="{9F163693-F6F5-8E90-9379-A31C4B0F13A0}"/>
              </a:ext>
            </a:extLst>
          </p:cNvPr>
          <p:cNvPicPr>
            <a:picLocks noChangeAspect="1"/>
          </p:cNvPicPr>
          <p:nvPr/>
        </p:nvPicPr>
        <p:blipFill>
          <a:blip r:embed="rId6"/>
          <a:stretch>
            <a:fillRect/>
          </a:stretch>
        </p:blipFill>
        <p:spPr>
          <a:xfrm rot="15773625">
            <a:off x="7393570" y="4801674"/>
            <a:ext cx="56614" cy="45719"/>
          </a:xfrm>
          <a:prstGeom prst="rect">
            <a:avLst/>
          </a:prstGeom>
        </p:spPr>
      </p:pic>
      <p:pic>
        <p:nvPicPr>
          <p:cNvPr id="69" name="Picture 68">
            <a:extLst>
              <a:ext uri="{FF2B5EF4-FFF2-40B4-BE49-F238E27FC236}">
                <a16:creationId xmlns:a16="http://schemas.microsoft.com/office/drawing/2014/main" id="{0F97B440-3C0F-12ED-8419-0ED35DF4C58F}"/>
              </a:ext>
            </a:extLst>
          </p:cNvPr>
          <p:cNvPicPr>
            <a:picLocks noChangeAspect="1"/>
          </p:cNvPicPr>
          <p:nvPr/>
        </p:nvPicPr>
        <p:blipFill>
          <a:blip r:embed="rId6"/>
          <a:stretch>
            <a:fillRect/>
          </a:stretch>
        </p:blipFill>
        <p:spPr>
          <a:xfrm rot="18436993">
            <a:off x="7747103" y="4048841"/>
            <a:ext cx="56614" cy="45719"/>
          </a:xfrm>
          <a:prstGeom prst="rect">
            <a:avLst/>
          </a:prstGeom>
        </p:spPr>
      </p:pic>
      <p:sp>
        <p:nvSpPr>
          <p:cNvPr id="2" name="TextBox 1">
            <a:extLst>
              <a:ext uri="{FF2B5EF4-FFF2-40B4-BE49-F238E27FC236}">
                <a16:creationId xmlns:a16="http://schemas.microsoft.com/office/drawing/2014/main" id="{B1C8E2A2-F424-2AB4-D1D2-8F69E50026A7}"/>
              </a:ext>
            </a:extLst>
          </p:cNvPr>
          <p:cNvSpPr txBox="1"/>
          <p:nvPr/>
        </p:nvSpPr>
        <p:spPr>
          <a:xfrm>
            <a:off x="2488875" y="5466303"/>
            <a:ext cx="1547446" cy="369332"/>
          </a:xfrm>
          <a:prstGeom prst="rect">
            <a:avLst/>
          </a:prstGeom>
          <a:noFill/>
        </p:spPr>
        <p:txBody>
          <a:bodyPr wrap="square" rtlCol="0">
            <a:spAutoFit/>
          </a:bodyPr>
          <a:lstStyle/>
          <a:p>
            <a:r>
              <a:rPr lang="en-US" altLang="zh-CN" dirty="0"/>
              <a:t>Mast year</a:t>
            </a:r>
            <a:endParaRPr lang="zh-CN" altLang="en-US" dirty="0"/>
          </a:p>
        </p:txBody>
      </p:sp>
      <p:sp>
        <p:nvSpPr>
          <p:cNvPr id="6" name="TextBox 5">
            <a:extLst>
              <a:ext uri="{FF2B5EF4-FFF2-40B4-BE49-F238E27FC236}">
                <a16:creationId xmlns:a16="http://schemas.microsoft.com/office/drawing/2014/main" id="{EB0F02D0-A63C-4C69-2B1D-92A74930281F}"/>
              </a:ext>
            </a:extLst>
          </p:cNvPr>
          <p:cNvSpPr txBox="1"/>
          <p:nvPr/>
        </p:nvSpPr>
        <p:spPr>
          <a:xfrm>
            <a:off x="4746736" y="5466303"/>
            <a:ext cx="1547446" cy="369332"/>
          </a:xfrm>
          <a:prstGeom prst="rect">
            <a:avLst/>
          </a:prstGeom>
          <a:noFill/>
        </p:spPr>
        <p:txBody>
          <a:bodyPr wrap="square" rtlCol="0">
            <a:spAutoFit/>
          </a:bodyPr>
          <a:lstStyle/>
          <a:p>
            <a:r>
              <a:rPr lang="en-US" altLang="zh-CN" dirty="0"/>
              <a:t>Mast year + 1</a:t>
            </a:r>
            <a:endParaRPr lang="zh-CN" altLang="en-US" dirty="0"/>
          </a:p>
        </p:txBody>
      </p:sp>
      <p:sp>
        <p:nvSpPr>
          <p:cNvPr id="10" name="TextBox 9">
            <a:extLst>
              <a:ext uri="{FF2B5EF4-FFF2-40B4-BE49-F238E27FC236}">
                <a16:creationId xmlns:a16="http://schemas.microsoft.com/office/drawing/2014/main" id="{57B995A5-93B8-1670-C2B7-D82E0BD7E0D2}"/>
              </a:ext>
            </a:extLst>
          </p:cNvPr>
          <p:cNvSpPr txBox="1"/>
          <p:nvPr/>
        </p:nvSpPr>
        <p:spPr>
          <a:xfrm>
            <a:off x="7037023" y="5471038"/>
            <a:ext cx="1547446" cy="369332"/>
          </a:xfrm>
          <a:prstGeom prst="rect">
            <a:avLst/>
          </a:prstGeom>
          <a:noFill/>
        </p:spPr>
        <p:txBody>
          <a:bodyPr wrap="square" rtlCol="0">
            <a:spAutoFit/>
          </a:bodyPr>
          <a:lstStyle/>
          <a:p>
            <a:r>
              <a:rPr lang="en-US" altLang="zh-CN" dirty="0"/>
              <a:t>Mast year + 2</a:t>
            </a:r>
            <a:endParaRPr lang="zh-CN" altLang="en-US" dirty="0"/>
          </a:p>
        </p:txBody>
      </p:sp>
    </p:spTree>
    <p:extLst>
      <p:ext uri="{BB962C8B-B14F-4D97-AF65-F5344CB8AC3E}">
        <p14:creationId xmlns:p14="http://schemas.microsoft.com/office/powerpoint/2010/main" val="4052897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3B2F109D-5085-673C-77D2-9B466CD561D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621028A-4351-A03D-1E3D-8A7C0B2670E1}"/>
              </a:ext>
            </a:extLst>
          </p:cNvPr>
          <p:cNvSpPr/>
          <p:nvPr/>
        </p:nvSpPr>
        <p:spPr>
          <a:xfrm>
            <a:off x="353568" y="379398"/>
            <a:ext cx="11484864" cy="6099204"/>
          </a:xfrm>
          <a:prstGeom prst="rect">
            <a:avLst/>
          </a:prstGeom>
          <a:solidFill>
            <a:schemeClr val="bg1">
              <a:alpha val="90000"/>
            </a:schemeClr>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TextBox 2">
            <a:extLst>
              <a:ext uri="{FF2B5EF4-FFF2-40B4-BE49-F238E27FC236}">
                <a16:creationId xmlns:a16="http://schemas.microsoft.com/office/drawing/2014/main" id="{BFC83862-C4B4-4E57-E87E-62DFC7259213}"/>
              </a:ext>
            </a:extLst>
          </p:cNvPr>
          <p:cNvSpPr txBox="1"/>
          <p:nvPr/>
        </p:nvSpPr>
        <p:spPr>
          <a:xfrm>
            <a:off x="540380" y="317555"/>
            <a:ext cx="7257141" cy="584775"/>
          </a:xfrm>
          <a:prstGeom prst="rect">
            <a:avLst/>
          </a:prstGeom>
          <a:noFill/>
        </p:spPr>
        <p:txBody>
          <a:bodyPr wrap="square">
            <a:spAutoFit/>
          </a:bodyPr>
          <a:lstStyle>
            <a:defPPr>
              <a:defRPr lang="zh-CN"/>
            </a:defPPr>
            <a:lvl1pPr>
              <a:defRPr sz="3200" b="1">
                <a:solidFill>
                  <a:schemeClr val="tx2">
                    <a:lumMod val="90000"/>
                    <a:lumOff val="10000"/>
                  </a:schemeClr>
                </a:solidFill>
                <a:effectLst>
                  <a:outerShdw blurRad="38100" dist="38100" dir="2700000" algn="tl">
                    <a:srgbClr val="000000">
                      <a:alpha val="43137"/>
                    </a:srgbClr>
                  </a:outerShdw>
                </a:effectLst>
              </a:defRPr>
            </a:lvl1pPr>
          </a:lstStyle>
          <a:p>
            <a:r>
              <a:rPr lang="en-US" altLang="zh-CN" dirty="0"/>
              <a:t>Hypotheses explaining masting</a:t>
            </a:r>
            <a:endParaRPr lang="zh-CN" altLang="en-US" dirty="0"/>
          </a:p>
        </p:txBody>
      </p:sp>
      <p:sp>
        <p:nvSpPr>
          <p:cNvPr id="4" name="TextBox 3">
            <a:extLst>
              <a:ext uri="{FF2B5EF4-FFF2-40B4-BE49-F238E27FC236}">
                <a16:creationId xmlns:a16="http://schemas.microsoft.com/office/drawing/2014/main" id="{A9C897A2-B66D-6ECC-D5EF-672618EC3F8D}"/>
              </a:ext>
            </a:extLst>
          </p:cNvPr>
          <p:cNvSpPr txBox="1"/>
          <p:nvPr/>
        </p:nvSpPr>
        <p:spPr>
          <a:xfrm>
            <a:off x="891122" y="4148138"/>
            <a:ext cx="2133918" cy="400110"/>
          </a:xfrm>
          <a:prstGeom prst="rect">
            <a:avLst/>
          </a:prstGeom>
          <a:noFill/>
        </p:spPr>
        <p:txBody>
          <a:bodyPr wrap="none" rtlCol="0">
            <a:spAutoFit/>
          </a:bodyPr>
          <a:lstStyle/>
          <a:p>
            <a:r>
              <a:rPr lang="en-US" altLang="zh-CN" sz="2000" dirty="0">
                <a:solidFill>
                  <a:srgbClr val="163E64"/>
                </a:solidFill>
              </a:rPr>
              <a:t>Predator satiation</a:t>
            </a:r>
            <a:endParaRPr lang="zh-CN" altLang="en-US" sz="2000" dirty="0">
              <a:solidFill>
                <a:srgbClr val="163E64"/>
              </a:solidFill>
            </a:endParaRPr>
          </a:p>
        </p:txBody>
      </p:sp>
      <p:sp>
        <p:nvSpPr>
          <p:cNvPr id="6" name="TextBox 5">
            <a:extLst>
              <a:ext uri="{FF2B5EF4-FFF2-40B4-BE49-F238E27FC236}">
                <a16:creationId xmlns:a16="http://schemas.microsoft.com/office/drawing/2014/main" id="{0CB1B92F-DBB0-3C79-8556-D2E0E7B9FFAD}"/>
              </a:ext>
            </a:extLst>
          </p:cNvPr>
          <p:cNvSpPr txBox="1"/>
          <p:nvPr/>
        </p:nvSpPr>
        <p:spPr>
          <a:xfrm>
            <a:off x="6194746" y="4148738"/>
            <a:ext cx="2289409" cy="400110"/>
          </a:xfrm>
          <a:prstGeom prst="rect">
            <a:avLst/>
          </a:prstGeom>
          <a:noFill/>
        </p:spPr>
        <p:txBody>
          <a:bodyPr wrap="none" rtlCol="0">
            <a:spAutoFit/>
          </a:bodyPr>
          <a:lstStyle/>
          <a:p>
            <a:r>
              <a:rPr lang="en-US" altLang="zh-CN" sz="2000" dirty="0">
                <a:solidFill>
                  <a:srgbClr val="163E64"/>
                </a:solidFill>
              </a:rPr>
              <a:t>Resource matching</a:t>
            </a:r>
            <a:endParaRPr lang="zh-CN" altLang="en-US" sz="2000" dirty="0">
              <a:solidFill>
                <a:srgbClr val="163E64"/>
              </a:solidFill>
            </a:endParaRPr>
          </a:p>
        </p:txBody>
      </p:sp>
      <p:sp>
        <p:nvSpPr>
          <p:cNvPr id="9" name="TextBox 8">
            <a:extLst>
              <a:ext uri="{FF2B5EF4-FFF2-40B4-BE49-F238E27FC236}">
                <a16:creationId xmlns:a16="http://schemas.microsoft.com/office/drawing/2014/main" id="{D816545C-59D1-9148-B317-A061C4CE57B1}"/>
              </a:ext>
            </a:extLst>
          </p:cNvPr>
          <p:cNvSpPr txBox="1"/>
          <p:nvPr/>
        </p:nvSpPr>
        <p:spPr>
          <a:xfrm>
            <a:off x="3447300" y="4148138"/>
            <a:ext cx="2369559" cy="400110"/>
          </a:xfrm>
          <a:prstGeom prst="rect">
            <a:avLst/>
          </a:prstGeom>
          <a:noFill/>
        </p:spPr>
        <p:txBody>
          <a:bodyPr wrap="none" rtlCol="0">
            <a:spAutoFit/>
          </a:bodyPr>
          <a:lstStyle/>
          <a:p>
            <a:r>
              <a:rPr lang="en-US" altLang="zh-CN" sz="2000" dirty="0">
                <a:solidFill>
                  <a:srgbClr val="163E64"/>
                </a:solidFill>
              </a:rPr>
              <a:t>Pollination coupling</a:t>
            </a:r>
            <a:endParaRPr lang="zh-CN" altLang="en-US" sz="2000" dirty="0">
              <a:solidFill>
                <a:srgbClr val="163E64"/>
              </a:solidFill>
            </a:endParaRPr>
          </a:p>
        </p:txBody>
      </p:sp>
      <p:sp>
        <p:nvSpPr>
          <p:cNvPr id="11" name="TextBox 10">
            <a:extLst>
              <a:ext uri="{FF2B5EF4-FFF2-40B4-BE49-F238E27FC236}">
                <a16:creationId xmlns:a16="http://schemas.microsoft.com/office/drawing/2014/main" id="{866E43F8-897C-8D88-BC99-C8A666C51F94}"/>
              </a:ext>
            </a:extLst>
          </p:cNvPr>
          <p:cNvSpPr txBox="1"/>
          <p:nvPr/>
        </p:nvSpPr>
        <p:spPr>
          <a:xfrm>
            <a:off x="8904300" y="4148737"/>
            <a:ext cx="2326278" cy="400110"/>
          </a:xfrm>
          <a:prstGeom prst="rect">
            <a:avLst/>
          </a:prstGeom>
          <a:noFill/>
        </p:spPr>
        <p:txBody>
          <a:bodyPr wrap="none" rtlCol="0">
            <a:spAutoFit/>
          </a:bodyPr>
          <a:lstStyle/>
          <a:p>
            <a:r>
              <a:rPr lang="en-US" altLang="zh-CN" sz="2000" dirty="0">
                <a:solidFill>
                  <a:srgbClr val="163E64"/>
                </a:solidFill>
              </a:rPr>
              <a:t>Environmental cues</a:t>
            </a:r>
            <a:endParaRPr lang="zh-CN" altLang="en-US" sz="2000" dirty="0">
              <a:solidFill>
                <a:srgbClr val="163E64"/>
              </a:solidFill>
            </a:endParaRPr>
          </a:p>
        </p:txBody>
      </p:sp>
      <p:pic>
        <p:nvPicPr>
          <p:cNvPr id="13" name="Picture 12" descr="A black background with a black square&#10;&#10;Description automatically generated with medium confidence">
            <a:extLst>
              <a:ext uri="{FF2B5EF4-FFF2-40B4-BE49-F238E27FC236}">
                <a16:creationId xmlns:a16="http://schemas.microsoft.com/office/drawing/2014/main" id="{88901316-F054-8449-44B2-B982300F1F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3473" y="2366270"/>
            <a:ext cx="1654270" cy="1654270"/>
          </a:xfrm>
          <a:prstGeom prst="rect">
            <a:avLst/>
          </a:prstGeom>
        </p:spPr>
      </p:pic>
      <p:pic>
        <p:nvPicPr>
          <p:cNvPr id="15" name="Picture 14" descr="A black and white circular object&#10;&#10;Description automatically generated">
            <a:extLst>
              <a:ext uri="{FF2B5EF4-FFF2-40B4-BE49-F238E27FC236}">
                <a16:creationId xmlns:a16="http://schemas.microsoft.com/office/drawing/2014/main" id="{5C3CB6C4-0020-F2BB-4760-4CCB7C6088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12316" y="2383365"/>
            <a:ext cx="1654271" cy="1654271"/>
          </a:xfrm>
          <a:prstGeom prst="rect">
            <a:avLst/>
          </a:prstGeom>
        </p:spPr>
      </p:pic>
      <p:pic>
        <p:nvPicPr>
          <p:cNvPr id="17" name="Picture 16" descr="A black background with a black square&#10;&#10;Description automatically generated with medium confidence">
            <a:extLst>
              <a:ext uri="{FF2B5EF4-FFF2-40B4-BE49-F238E27FC236}">
                <a16:creationId xmlns:a16="http://schemas.microsoft.com/office/drawing/2014/main" id="{56F66248-3EDF-68EC-C585-7C272E44EF0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04945" y="2351987"/>
            <a:ext cx="1654271" cy="1654271"/>
          </a:xfrm>
          <a:prstGeom prst="rect">
            <a:avLst/>
          </a:prstGeom>
        </p:spPr>
      </p:pic>
      <p:pic>
        <p:nvPicPr>
          <p:cNvPr id="19" name="Picture 18" descr="A black background with a black square&#10;&#10;Description automatically generated with medium confidence">
            <a:extLst>
              <a:ext uri="{FF2B5EF4-FFF2-40B4-BE49-F238E27FC236}">
                <a16:creationId xmlns:a16="http://schemas.microsoft.com/office/drawing/2014/main" id="{2B075039-0827-F743-4D14-973C92D6863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240304" y="2383365"/>
            <a:ext cx="1654270" cy="1654270"/>
          </a:xfrm>
          <a:prstGeom prst="rect">
            <a:avLst/>
          </a:prstGeom>
        </p:spPr>
      </p:pic>
    </p:spTree>
    <p:extLst>
      <p:ext uri="{BB962C8B-B14F-4D97-AF65-F5344CB8AC3E}">
        <p14:creationId xmlns:p14="http://schemas.microsoft.com/office/powerpoint/2010/main" val="459917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0FFE9B81-7C94-D4B3-DAAE-13F95F7BAE8F}"/>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05D9A348-0F5C-FD18-B958-C38627E49C14}"/>
              </a:ext>
            </a:extLst>
          </p:cNvPr>
          <p:cNvSpPr/>
          <p:nvPr/>
        </p:nvSpPr>
        <p:spPr>
          <a:xfrm>
            <a:off x="353568" y="379398"/>
            <a:ext cx="11484864" cy="6099204"/>
          </a:xfrm>
          <a:prstGeom prst="rect">
            <a:avLst/>
          </a:prstGeom>
          <a:solidFill>
            <a:schemeClr val="bg1">
              <a:alpha val="90000"/>
            </a:schemeClr>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TextBox 2">
            <a:extLst>
              <a:ext uri="{FF2B5EF4-FFF2-40B4-BE49-F238E27FC236}">
                <a16:creationId xmlns:a16="http://schemas.microsoft.com/office/drawing/2014/main" id="{B85625A9-1B06-881D-A209-1085B43C7618}"/>
              </a:ext>
            </a:extLst>
          </p:cNvPr>
          <p:cNvSpPr txBox="1"/>
          <p:nvPr/>
        </p:nvSpPr>
        <p:spPr>
          <a:xfrm>
            <a:off x="540380" y="317555"/>
            <a:ext cx="5093535" cy="584775"/>
          </a:xfrm>
          <a:prstGeom prst="rect">
            <a:avLst/>
          </a:prstGeom>
          <a:noFill/>
        </p:spPr>
        <p:txBody>
          <a:bodyPr wrap="square">
            <a:spAutoFit/>
          </a:bodyPr>
          <a:lstStyle>
            <a:defPPr>
              <a:defRPr lang="zh-CN"/>
            </a:defPPr>
            <a:lvl1pPr>
              <a:defRPr sz="3200" b="1">
                <a:solidFill>
                  <a:schemeClr val="tx2">
                    <a:lumMod val="90000"/>
                    <a:lumOff val="10000"/>
                  </a:schemeClr>
                </a:solidFill>
                <a:effectLst>
                  <a:outerShdw blurRad="38100" dist="38100" dir="2700000" algn="tl">
                    <a:srgbClr val="000000">
                      <a:alpha val="43137"/>
                    </a:srgbClr>
                  </a:outerShdw>
                </a:effectLst>
              </a:defRPr>
            </a:lvl1pPr>
          </a:lstStyle>
          <a:p>
            <a:r>
              <a:rPr lang="en-US" altLang="zh-CN" dirty="0"/>
              <a:t>Research questions</a:t>
            </a:r>
            <a:endParaRPr lang="zh-CN" altLang="en-US" dirty="0"/>
          </a:p>
        </p:txBody>
      </p:sp>
      <p:sp>
        <p:nvSpPr>
          <p:cNvPr id="24" name="TextBox 23">
            <a:extLst>
              <a:ext uri="{FF2B5EF4-FFF2-40B4-BE49-F238E27FC236}">
                <a16:creationId xmlns:a16="http://schemas.microsoft.com/office/drawing/2014/main" id="{38BE9669-A083-8F67-0B57-0163525FB600}"/>
              </a:ext>
            </a:extLst>
          </p:cNvPr>
          <p:cNvSpPr txBox="1"/>
          <p:nvPr/>
        </p:nvSpPr>
        <p:spPr>
          <a:xfrm>
            <a:off x="925749" y="2051262"/>
            <a:ext cx="10340502" cy="2246769"/>
          </a:xfrm>
          <a:prstGeom prst="rect">
            <a:avLst/>
          </a:prstGeom>
          <a:noFill/>
        </p:spPr>
        <p:txBody>
          <a:bodyPr wrap="square">
            <a:spAutoFit/>
          </a:bodyPr>
          <a:lstStyle/>
          <a:p>
            <a:pPr marL="0" indent="0">
              <a:buNone/>
            </a:pPr>
            <a:r>
              <a:rPr lang="en-US" altLang="zh-CN" sz="2800" dirty="0">
                <a:solidFill>
                  <a:srgbClr val="163E64"/>
                </a:solidFill>
              </a:rPr>
              <a:t>Chapter 1: What reproduction-related traits are related to masing?</a:t>
            </a:r>
          </a:p>
          <a:p>
            <a:pPr marL="0" indent="0">
              <a:buNone/>
            </a:pPr>
            <a:endParaRPr lang="en-US" altLang="zh-CN" sz="2800" dirty="0">
              <a:solidFill>
                <a:srgbClr val="163E64"/>
              </a:solidFill>
            </a:endParaRPr>
          </a:p>
          <a:p>
            <a:pPr marL="0" indent="0">
              <a:buNone/>
            </a:pPr>
            <a:r>
              <a:rPr lang="en-US" altLang="zh-CN" sz="2800" dirty="0">
                <a:solidFill>
                  <a:srgbClr val="163E64"/>
                </a:solidFill>
              </a:rPr>
              <a:t>Chapter 2: What is the relationship between masting and growth?</a:t>
            </a:r>
          </a:p>
          <a:p>
            <a:pPr marL="0" indent="0">
              <a:buNone/>
            </a:pPr>
            <a:endParaRPr lang="en-US" altLang="zh-CN" sz="2800" dirty="0">
              <a:solidFill>
                <a:srgbClr val="163E64"/>
              </a:solidFill>
            </a:endParaRPr>
          </a:p>
          <a:p>
            <a:pPr marL="0" indent="0">
              <a:buNone/>
            </a:pPr>
            <a:r>
              <a:rPr lang="en-US" altLang="zh-CN" sz="2800" dirty="0">
                <a:solidFill>
                  <a:srgbClr val="163E64"/>
                </a:solidFill>
              </a:rPr>
              <a:t>Chapter 3: </a:t>
            </a:r>
            <a:r>
              <a:rPr lang="en-US" altLang="zh-CN" sz="2800" dirty="0">
                <a:solidFill>
                  <a:srgbClr val="163E64"/>
                </a:solidFill>
                <a:effectLst/>
              </a:rPr>
              <a:t>How does changing climate affect seed dynamics?</a:t>
            </a:r>
            <a:endParaRPr lang="zh-CN" altLang="en-US" sz="2800" dirty="0">
              <a:solidFill>
                <a:srgbClr val="163E64"/>
              </a:solidFill>
            </a:endParaRPr>
          </a:p>
        </p:txBody>
      </p:sp>
    </p:spTree>
    <p:extLst>
      <p:ext uri="{BB962C8B-B14F-4D97-AF65-F5344CB8AC3E}">
        <p14:creationId xmlns:p14="http://schemas.microsoft.com/office/powerpoint/2010/main" val="4102304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69380D03-564C-12A6-2B52-AAD733E73D5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DE3F3D5-9764-318B-5FD1-243DC89C7F23}"/>
              </a:ext>
            </a:extLst>
          </p:cNvPr>
          <p:cNvSpPr/>
          <p:nvPr/>
        </p:nvSpPr>
        <p:spPr>
          <a:xfrm>
            <a:off x="353568" y="379398"/>
            <a:ext cx="11484864" cy="6099204"/>
          </a:xfrm>
          <a:prstGeom prst="rect">
            <a:avLst/>
          </a:prstGeom>
          <a:solidFill>
            <a:schemeClr val="bg1">
              <a:alpha val="90000"/>
            </a:schemeClr>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TextBox 2">
            <a:extLst>
              <a:ext uri="{FF2B5EF4-FFF2-40B4-BE49-F238E27FC236}">
                <a16:creationId xmlns:a16="http://schemas.microsoft.com/office/drawing/2014/main" id="{CAF033FE-3E2A-A0F9-EE85-550374CE1D97}"/>
              </a:ext>
            </a:extLst>
          </p:cNvPr>
          <p:cNvSpPr txBox="1"/>
          <p:nvPr/>
        </p:nvSpPr>
        <p:spPr>
          <a:xfrm>
            <a:off x="540380" y="317555"/>
            <a:ext cx="5093535" cy="584775"/>
          </a:xfrm>
          <a:prstGeom prst="rect">
            <a:avLst/>
          </a:prstGeom>
          <a:noFill/>
        </p:spPr>
        <p:txBody>
          <a:bodyPr wrap="square">
            <a:spAutoFit/>
          </a:bodyPr>
          <a:lstStyle>
            <a:defPPr>
              <a:defRPr lang="zh-CN"/>
            </a:defPPr>
            <a:lvl1pPr>
              <a:defRPr sz="3200" b="1">
                <a:solidFill>
                  <a:schemeClr val="tx2">
                    <a:lumMod val="90000"/>
                    <a:lumOff val="10000"/>
                  </a:schemeClr>
                </a:solidFill>
                <a:effectLst>
                  <a:outerShdw blurRad="38100" dist="38100" dir="2700000" algn="tl">
                    <a:srgbClr val="000000">
                      <a:alpha val="43137"/>
                    </a:srgbClr>
                  </a:outerShdw>
                </a:effectLst>
              </a:defRPr>
            </a:lvl1pPr>
          </a:lstStyle>
          <a:p>
            <a:r>
              <a:rPr lang="en-US" altLang="zh-CN" dirty="0"/>
              <a:t>Research questions</a:t>
            </a:r>
            <a:endParaRPr lang="zh-CN" altLang="en-US" dirty="0"/>
          </a:p>
        </p:txBody>
      </p:sp>
      <p:sp>
        <p:nvSpPr>
          <p:cNvPr id="24" name="TextBox 23">
            <a:extLst>
              <a:ext uri="{FF2B5EF4-FFF2-40B4-BE49-F238E27FC236}">
                <a16:creationId xmlns:a16="http://schemas.microsoft.com/office/drawing/2014/main" id="{46B712F1-1E4B-869F-129A-34711C90D164}"/>
              </a:ext>
            </a:extLst>
          </p:cNvPr>
          <p:cNvSpPr txBox="1"/>
          <p:nvPr/>
        </p:nvSpPr>
        <p:spPr>
          <a:xfrm>
            <a:off x="925749" y="2051262"/>
            <a:ext cx="10340502" cy="2246769"/>
          </a:xfrm>
          <a:prstGeom prst="rect">
            <a:avLst/>
          </a:prstGeom>
          <a:noFill/>
        </p:spPr>
        <p:txBody>
          <a:bodyPr wrap="square">
            <a:spAutoFit/>
          </a:bodyPr>
          <a:lstStyle/>
          <a:p>
            <a:r>
              <a:rPr lang="en-US" altLang="zh-CN" sz="2800" dirty="0">
                <a:solidFill>
                  <a:srgbClr val="163E64"/>
                </a:solidFill>
              </a:rPr>
              <a:t>Chapter 1: What reproduction-related traits are related to masing?</a:t>
            </a:r>
          </a:p>
          <a:p>
            <a:pPr marL="0" indent="0">
              <a:buNone/>
            </a:pPr>
            <a:endParaRPr lang="en-US" altLang="zh-CN" sz="2800" dirty="0">
              <a:solidFill>
                <a:srgbClr val="163E64"/>
              </a:solidFill>
            </a:endParaRPr>
          </a:p>
          <a:p>
            <a:pPr marL="0" indent="0">
              <a:buNone/>
            </a:pPr>
            <a:r>
              <a:rPr lang="en-US" altLang="zh-CN" sz="2800" dirty="0">
                <a:solidFill>
                  <a:srgbClr val="163E64"/>
                </a:solidFill>
              </a:rPr>
              <a:t>Chapter 2: What is the relationship between masting and growth?</a:t>
            </a:r>
          </a:p>
          <a:p>
            <a:pPr marL="0" indent="0">
              <a:buNone/>
            </a:pPr>
            <a:endParaRPr lang="en-US" altLang="zh-CN" sz="2800" dirty="0">
              <a:solidFill>
                <a:srgbClr val="163E64"/>
              </a:solidFill>
            </a:endParaRPr>
          </a:p>
          <a:p>
            <a:pPr marL="0" indent="0">
              <a:buNone/>
            </a:pPr>
            <a:r>
              <a:rPr lang="en-US" altLang="zh-CN" sz="2800" dirty="0">
                <a:solidFill>
                  <a:schemeClr val="bg2">
                    <a:lumMod val="75000"/>
                  </a:schemeClr>
                </a:solidFill>
              </a:rPr>
              <a:t>Chapter 3: </a:t>
            </a:r>
            <a:r>
              <a:rPr lang="en-US" altLang="zh-CN" sz="2800" dirty="0">
                <a:solidFill>
                  <a:schemeClr val="bg2">
                    <a:lumMod val="75000"/>
                  </a:schemeClr>
                </a:solidFill>
                <a:effectLst/>
              </a:rPr>
              <a:t>How does changing climate affect seed dynamics?</a:t>
            </a:r>
            <a:endParaRPr lang="zh-CN" altLang="en-US" sz="2800" dirty="0">
              <a:solidFill>
                <a:schemeClr val="bg2">
                  <a:lumMod val="75000"/>
                </a:schemeClr>
              </a:solidFill>
            </a:endParaRPr>
          </a:p>
        </p:txBody>
      </p:sp>
    </p:spTree>
    <p:extLst>
      <p:ext uri="{BB962C8B-B14F-4D97-AF65-F5344CB8AC3E}">
        <p14:creationId xmlns:p14="http://schemas.microsoft.com/office/powerpoint/2010/main" val="3546703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A2CBE5C4-817B-1DB4-AAD1-317F81838CBD}"/>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70D15C0-154C-4375-828D-86AC9F825D8B}"/>
              </a:ext>
            </a:extLst>
          </p:cNvPr>
          <p:cNvSpPr/>
          <p:nvPr/>
        </p:nvSpPr>
        <p:spPr>
          <a:xfrm>
            <a:off x="353568" y="379398"/>
            <a:ext cx="11484864" cy="6099204"/>
          </a:xfrm>
          <a:prstGeom prst="rect">
            <a:avLst/>
          </a:prstGeom>
          <a:solidFill>
            <a:schemeClr val="bg1">
              <a:alpha val="90000"/>
            </a:schemeClr>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TextBox 2">
            <a:extLst>
              <a:ext uri="{FF2B5EF4-FFF2-40B4-BE49-F238E27FC236}">
                <a16:creationId xmlns:a16="http://schemas.microsoft.com/office/drawing/2014/main" id="{E0E9543C-BB6F-7A12-3876-0DACAD7AF99B}"/>
              </a:ext>
            </a:extLst>
          </p:cNvPr>
          <p:cNvSpPr txBox="1"/>
          <p:nvPr/>
        </p:nvSpPr>
        <p:spPr>
          <a:xfrm>
            <a:off x="540380" y="317555"/>
            <a:ext cx="5093535" cy="584775"/>
          </a:xfrm>
          <a:prstGeom prst="rect">
            <a:avLst/>
          </a:prstGeom>
          <a:noFill/>
        </p:spPr>
        <p:txBody>
          <a:bodyPr wrap="square">
            <a:spAutoFit/>
          </a:bodyPr>
          <a:lstStyle>
            <a:defPPr>
              <a:defRPr lang="zh-CN"/>
            </a:defPPr>
            <a:lvl1pPr>
              <a:defRPr sz="3200" b="1">
                <a:solidFill>
                  <a:schemeClr val="tx2">
                    <a:lumMod val="90000"/>
                    <a:lumOff val="10000"/>
                  </a:schemeClr>
                </a:solidFill>
                <a:effectLst>
                  <a:outerShdw blurRad="38100" dist="38100" dir="2700000" algn="tl">
                    <a:srgbClr val="000000">
                      <a:alpha val="43137"/>
                    </a:srgbClr>
                  </a:outerShdw>
                </a:effectLst>
              </a:defRPr>
            </a:lvl1pPr>
          </a:lstStyle>
          <a:p>
            <a:r>
              <a:rPr lang="en-US" altLang="zh-CN" dirty="0"/>
              <a:t>Chapter 1: Mast-Traits</a:t>
            </a:r>
            <a:endParaRPr lang="zh-CN" altLang="en-US" dirty="0"/>
          </a:p>
        </p:txBody>
      </p:sp>
      <p:sp>
        <p:nvSpPr>
          <p:cNvPr id="2" name="TextBox 1">
            <a:extLst>
              <a:ext uri="{FF2B5EF4-FFF2-40B4-BE49-F238E27FC236}">
                <a16:creationId xmlns:a16="http://schemas.microsoft.com/office/drawing/2014/main" id="{0288E9F7-90D2-EB3A-37BC-D4E7CEB6D3DC}"/>
              </a:ext>
            </a:extLst>
          </p:cNvPr>
          <p:cNvSpPr txBox="1"/>
          <p:nvPr/>
        </p:nvSpPr>
        <p:spPr>
          <a:xfrm>
            <a:off x="1219200" y="1694688"/>
            <a:ext cx="9375648" cy="3785652"/>
          </a:xfrm>
          <a:prstGeom prst="rect">
            <a:avLst/>
          </a:prstGeom>
          <a:noFill/>
        </p:spPr>
        <p:txBody>
          <a:bodyPr wrap="square" rtlCol="0">
            <a:spAutoFit/>
          </a:bodyPr>
          <a:lstStyle/>
          <a:p>
            <a:pPr marL="800100" lvl="1" indent="-342900">
              <a:buFont typeface="Arial" panose="020B0604020202020204" pitchFamily="34" charset="0"/>
              <a:buChar char="•"/>
            </a:pPr>
            <a:r>
              <a:rPr lang="zh-CN" altLang="zh-CN" sz="2000" dirty="0">
                <a:solidFill>
                  <a:srgbClr val="163E64"/>
                </a:solidFill>
              </a:rPr>
              <a:t>Masting</a:t>
            </a:r>
            <a:r>
              <a:rPr lang="en-US" altLang="zh-CN" sz="2000" dirty="0">
                <a:solidFill>
                  <a:srgbClr val="163E64"/>
                </a:solidFill>
              </a:rPr>
              <a:t> can</a:t>
            </a:r>
            <a:r>
              <a:rPr lang="zh-CN" altLang="zh-CN" sz="2000" dirty="0">
                <a:solidFill>
                  <a:srgbClr val="163E64"/>
                </a:solidFill>
              </a:rPr>
              <a:t> </a:t>
            </a:r>
            <a:r>
              <a:rPr lang="en-US" altLang="zh-CN" sz="2000" dirty="0">
                <a:solidFill>
                  <a:srgbClr val="163E64"/>
                </a:solidFill>
              </a:rPr>
              <a:t>involve different</a:t>
            </a:r>
            <a:r>
              <a:rPr lang="zh-CN" altLang="zh-CN" sz="2000" dirty="0">
                <a:solidFill>
                  <a:srgbClr val="163E64"/>
                </a:solidFill>
              </a:rPr>
              <a:t>, </a:t>
            </a:r>
            <a:r>
              <a:rPr lang="zh-CN" altLang="zh-CN" sz="2000" b="1" dirty="0">
                <a:solidFill>
                  <a:srgbClr val="163E64"/>
                </a:solidFill>
              </a:rPr>
              <a:t>non-mutually exclusive mechanisms</a:t>
            </a:r>
            <a:r>
              <a:rPr lang="en-US" altLang="zh-CN" sz="2000" dirty="0">
                <a:solidFill>
                  <a:srgbClr val="163E64"/>
                </a:solidFill>
              </a:rPr>
              <a:t> at different </a:t>
            </a:r>
            <a:r>
              <a:rPr lang="en-US" altLang="zh-CN" sz="2000" b="1" dirty="0">
                <a:solidFill>
                  <a:srgbClr val="163E64"/>
                </a:solidFill>
              </a:rPr>
              <a:t>reproductive stages</a:t>
            </a:r>
            <a:r>
              <a:rPr lang="en-US" altLang="zh-CN" sz="2000" dirty="0">
                <a:solidFill>
                  <a:srgbClr val="163E64"/>
                </a:solidFill>
              </a:rPr>
              <a:t>:</a:t>
            </a:r>
            <a:r>
              <a:rPr lang="zh-CN" altLang="zh-CN" sz="2000" dirty="0">
                <a:solidFill>
                  <a:srgbClr val="163E64"/>
                </a:solidFill>
              </a:rPr>
              <a:t> </a:t>
            </a:r>
          </a:p>
          <a:p>
            <a:pPr marL="1257300" lvl="2" indent="-342900">
              <a:buFont typeface="Wingdings" panose="05000000000000000000" pitchFamily="2" charset="2"/>
              <a:buChar char="Ø"/>
            </a:pPr>
            <a:r>
              <a:rPr lang="zh-CN" altLang="zh-CN" sz="2000" dirty="0">
                <a:solidFill>
                  <a:srgbClr val="163E64"/>
                </a:solidFill>
              </a:rPr>
              <a:t>Pollination coupling </a:t>
            </a:r>
            <a:r>
              <a:rPr lang="en-US" altLang="zh-CN" sz="2000" dirty="0">
                <a:solidFill>
                  <a:srgbClr val="163E64"/>
                </a:solidFill>
              </a:rPr>
              <a:t>(pollination)</a:t>
            </a:r>
          </a:p>
          <a:p>
            <a:pPr marL="1257300" lvl="2" indent="-342900">
              <a:buFont typeface="Wingdings" panose="05000000000000000000" pitchFamily="2" charset="2"/>
              <a:buChar char="Ø"/>
            </a:pPr>
            <a:r>
              <a:rPr lang="zh-CN" altLang="zh-CN" sz="2000" dirty="0">
                <a:solidFill>
                  <a:srgbClr val="163E64"/>
                </a:solidFill>
              </a:rPr>
              <a:t>Resource availability </a:t>
            </a:r>
            <a:r>
              <a:rPr lang="en-US" altLang="zh-CN" sz="2000" dirty="0">
                <a:solidFill>
                  <a:srgbClr val="163E64"/>
                </a:solidFill>
              </a:rPr>
              <a:t>(seed maturation)</a:t>
            </a:r>
          </a:p>
          <a:p>
            <a:pPr marL="1257300" lvl="2" indent="-342900">
              <a:buFont typeface="Wingdings" panose="05000000000000000000" pitchFamily="2" charset="2"/>
              <a:buChar char="Ø"/>
            </a:pPr>
            <a:r>
              <a:rPr lang="zh-CN" altLang="zh-CN" sz="2000" dirty="0">
                <a:solidFill>
                  <a:srgbClr val="163E64"/>
                </a:solidFill>
              </a:rPr>
              <a:t>Predator satiation </a:t>
            </a:r>
            <a:r>
              <a:rPr lang="en-US" altLang="zh-CN" sz="2000" dirty="0">
                <a:solidFill>
                  <a:srgbClr val="163E64"/>
                </a:solidFill>
              </a:rPr>
              <a:t>(seed dispersal)</a:t>
            </a:r>
          </a:p>
          <a:p>
            <a:pPr marL="800100" lvl="1" indent="-342900">
              <a:buFont typeface="Arial" panose="020B0604020202020204" pitchFamily="34" charset="0"/>
              <a:buChar char="•"/>
            </a:pPr>
            <a:endParaRPr lang="zh-CN" altLang="zh-CN" sz="2000" dirty="0">
              <a:solidFill>
                <a:srgbClr val="163E64"/>
              </a:solidFill>
            </a:endParaRPr>
          </a:p>
          <a:p>
            <a:pPr marL="800100" lvl="1" indent="-342900">
              <a:buFont typeface="Arial" panose="020B0604020202020204" pitchFamily="34" charset="0"/>
              <a:buChar char="•"/>
            </a:pPr>
            <a:r>
              <a:rPr lang="zh-CN" altLang="zh-CN" sz="2000" dirty="0">
                <a:solidFill>
                  <a:srgbClr val="163E64"/>
                </a:solidFill>
              </a:rPr>
              <a:t>Species differ in</a:t>
            </a:r>
            <a:r>
              <a:rPr lang="zh-CN" altLang="zh-CN" sz="2000" b="1" dirty="0">
                <a:solidFill>
                  <a:srgbClr val="163E64"/>
                </a:solidFill>
              </a:rPr>
              <a:t> traits </a:t>
            </a:r>
            <a:r>
              <a:rPr lang="zh-CN" altLang="zh-CN" sz="2000" dirty="0">
                <a:solidFill>
                  <a:srgbClr val="163E64"/>
                </a:solidFill>
              </a:rPr>
              <a:t>that may influence these mechanisms. </a:t>
            </a:r>
            <a:endParaRPr lang="en-US" altLang="zh-CN" sz="2000" dirty="0">
              <a:solidFill>
                <a:srgbClr val="163E64"/>
              </a:solidFill>
            </a:endParaRPr>
          </a:p>
          <a:p>
            <a:pPr marL="800100" lvl="1" indent="-342900">
              <a:buFont typeface="Arial" panose="020B0604020202020204" pitchFamily="34" charset="0"/>
              <a:buChar char="•"/>
            </a:pPr>
            <a:endParaRPr lang="zh-CN" altLang="zh-CN" sz="2000" dirty="0">
              <a:solidFill>
                <a:srgbClr val="163E64"/>
              </a:solidFill>
            </a:endParaRPr>
          </a:p>
          <a:p>
            <a:pPr marL="800100" lvl="1" indent="-342900">
              <a:buFont typeface="Arial" panose="020B0604020202020204" pitchFamily="34" charset="0"/>
              <a:buChar char="•"/>
            </a:pPr>
            <a:r>
              <a:rPr lang="zh-CN" altLang="zh-CN" sz="2000" dirty="0">
                <a:solidFill>
                  <a:srgbClr val="163E64"/>
                </a:solidFill>
              </a:rPr>
              <a:t>Trait–masting associations may therefore provide clues about the </a:t>
            </a:r>
            <a:r>
              <a:rPr lang="zh-CN" altLang="zh-CN" sz="2000" b="1" dirty="0">
                <a:solidFill>
                  <a:srgbClr val="163E64"/>
                </a:solidFill>
              </a:rPr>
              <a:t>evolutionary drivers</a:t>
            </a:r>
            <a:r>
              <a:rPr lang="zh-CN" altLang="zh-CN" sz="2000" dirty="0">
                <a:solidFill>
                  <a:srgbClr val="163E64"/>
                </a:solidFill>
              </a:rPr>
              <a:t> of masting.</a:t>
            </a:r>
            <a:endParaRPr lang="en-US" altLang="zh-CN" sz="2000" dirty="0">
              <a:solidFill>
                <a:srgbClr val="163E64"/>
              </a:solidFill>
            </a:endParaRPr>
          </a:p>
          <a:p>
            <a:pPr marL="800100" lvl="1" indent="-342900">
              <a:buFont typeface="Arial" panose="020B0604020202020204" pitchFamily="34" charset="0"/>
              <a:buChar char="•"/>
            </a:pPr>
            <a:endParaRPr lang="en-US" altLang="zh-CN" sz="2000" dirty="0">
              <a:solidFill>
                <a:srgbClr val="163E64"/>
              </a:solidFill>
            </a:endParaRPr>
          </a:p>
          <a:p>
            <a:pPr marL="800100" lvl="1" indent="-342900">
              <a:buFont typeface="Arial" panose="020B0604020202020204" pitchFamily="34" charset="0"/>
              <a:buChar char="•"/>
            </a:pPr>
            <a:r>
              <a:rPr lang="en-US" altLang="zh-CN" sz="2000" dirty="0">
                <a:solidFill>
                  <a:srgbClr val="163E64"/>
                </a:solidFill>
              </a:rPr>
              <a:t>Trees in North America</a:t>
            </a:r>
            <a:endParaRPr lang="zh-CN" altLang="zh-CN" sz="2000" dirty="0">
              <a:solidFill>
                <a:srgbClr val="163E64"/>
              </a:solidFill>
            </a:endParaRPr>
          </a:p>
        </p:txBody>
      </p:sp>
    </p:spTree>
    <p:extLst>
      <p:ext uri="{BB962C8B-B14F-4D97-AF65-F5344CB8AC3E}">
        <p14:creationId xmlns:p14="http://schemas.microsoft.com/office/powerpoint/2010/main" val="3870973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996DD5E5-D7A4-6C06-13E4-8F621D08F57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EFB9B2C-5B10-FB53-A36B-AC7377AB0093}"/>
              </a:ext>
            </a:extLst>
          </p:cNvPr>
          <p:cNvSpPr/>
          <p:nvPr/>
        </p:nvSpPr>
        <p:spPr>
          <a:xfrm>
            <a:off x="353568" y="379398"/>
            <a:ext cx="11484864" cy="6099204"/>
          </a:xfrm>
          <a:prstGeom prst="rect">
            <a:avLst/>
          </a:prstGeom>
          <a:solidFill>
            <a:schemeClr val="bg1"/>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TextBox 2">
            <a:extLst>
              <a:ext uri="{FF2B5EF4-FFF2-40B4-BE49-F238E27FC236}">
                <a16:creationId xmlns:a16="http://schemas.microsoft.com/office/drawing/2014/main" id="{D2B26A7C-6D79-10C4-5129-D1EC4E148E96}"/>
              </a:ext>
            </a:extLst>
          </p:cNvPr>
          <p:cNvSpPr txBox="1"/>
          <p:nvPr/>
        </p:nvSpPr>
        <p:spPr>
          <a:xfrm>
            <a:off x="540380" y="317555"/>
            <a:ext cx="5093535" cy="584775"/>
          </a:xfrm>
          <a:prstGeom prst="rect">
            <a:avLst/>
          </a:prstGeom>
          <a:noFill/>
        </p:spPr>
        <p:txBody>
          <a:bodyPr wrap="square">
            <a:spAutoFit/>
          </a:bodyPr>
          <a:lstStyle>
            <a:defPPr>
              <a:defRPr lang="zh-CN"/>
            </a:defPPr>
            <a:lvl1pPr>
              <a:defRPr sz="3200" b="1">
                <a:solidFill>
                  <a:schemeClr val="tx2">
                    <a:lumMod val="90000"/>
                    <a:lumOff val="10000"/>
                  </a:schemeClr>
                </a:solidFill>
                <a:effectLst>
                  <a:outerShdw blurRad="38100" dist="38100" dir="2700000" algn="tl">
                    <a:srgbClr val="000000">
                      <a:alpha val="43137"/>
                    </a:srgbClr>
                  </a:outerShdw>
                </a:effectLst>
              </a:defRPr>
            </a:lvl1pPr>
          </a:lstStyle>
          <a:p>
            <a:r>
              <a:rPr lang="en-US" altLang="zh-CN" dirty="0"/>
              <a:t>Chapter 1: Mast-Traits</a:t>
            </a:r>
            <a:endParaRPr lang="zh-CN" altLang="en-US" dirty="0"/>
          </a:p>
        </p:txBody>
      </p:sp>
      <p:pic>
        <p:nvPicPr>
          <p:cNvPr id="4" name="Picture 3">
            <a:extLst>
              <a:ext uri="{FF2B5EF4-FFF2-40B4-BE49-F238E27FC236}">
                <a16:creationId xmlns:a16="http://schemas.microsoft.com/office/drawing/2014/main" id="{367A58CC-5E35-B74D-299A-E2BD38ACA01E}"/>
              </a:ext>
            </a:extLst>
          </p:cNvPr>
          <p:cNvPicPr>
            <a:picLocks noChangeAspect="1"/>
          </p:cNvPicPr>
          <p:nvPr/>
        </p:nvPicPr>
        <p:blipFill>
          <a:blip r:embed="rId4">
            <a:extLst>
              <a:ext uri="{28A0092B-C50C-407E-A947-70E740481C1C}">
                <a14:useLocalDpi xmlns:a14="http://schemas.microsoft.com/office/drawing/2010/main" val="0"/>
              </a:ext>
            </a:extLst>
          </a:blip>
          <a:srcRect l="14434" t="2437" r="39921" b="11828"/>
          <a:stretch>
            <a:fillRect/>
          </a:stretch>
        </p:blipFill>
        <p:spPr>
          <a:xfrm>
            <a:off x="1054018" y="964173"/>
            <a:ext cx="3764967" cy="3977829"/>
          </a:xfrm>
          <a:prstGeom prst="rect">
            <a:avLst/>
          </a:prstGeom>
        </p:spPr>
      </p:pic>
      <p:pic>
        <p:nvPicPr>
          <p:cNvPr id="6" name="Picture 5">
            <a:extLst>
              <a:ext uri="{FF2B5EF4-FFF2-40B4-BE49-F238E27FC236}">
                <a16:creationId xmlns:a16="http://schemas.microsoft.com/office/drawing/2014/main" id="{29CABD52-C28C-19DF-45B3-3557B5CC6406}"/>
              </a:ext>
            </a:extLst>
          </p:cNvPr>
          <p:cNvPicPr>
            <a:picLocks noChangeAspect="1"/>
          </p:cNvPicPr>
          <p:nvPr/>
        </p:nvPicPr>
        <p:blipFill>
          <a:blip r:embed="rId5">
            <a:extLst>
              <a:ext uri="{28A0092B-C50C-407E-A947-70E740481C1C}">
                <a14:useLocalDpi xmlns:a14="http://schemas.microsoft.com/office/drawing/2010/main" val="0"/>
              </a:ext>
            </a:extLst>
          </a:blip>
          <a:srcRect l="14000" r="40400" b="51467"/>
          <a:stretch>
            <a:fillRect/>
          </a:stretch>
        </p:blipFill>
        <p:spPr>
          <a:xfrm>
            <a:off x="4870871" y="833504"/>
            <a:ext cx="3828352" cy="2291974"/>
          </a:xfrm>
          <a:prstGeom prst="rect">
            <a:avLst/>
          </a:prstGeom>
        </p:spPr>
      </p:pic>
      <p:pic>
        <p:nvPicPr>
          <p:cNvPr id="9" name="Picture 8">
            <a:extLst>
              <a:ext uri="{FF2B5EF4-FFF2-40B4-BE49-F238E27FC236}">
                <a16:creationId xmlns:a16="http://schemas.microsoft.com/office/drawing/2014/main" id="{3B79AA5E-C4D1-B25C-0C9C-F5CAC98C4BD2}"/>
              </a:ext>
            </a:extLst>
          </p:cNvPr>
          <p:cNvPicPr>
            <a:picLocks noChangeAspect="1"/>
          </p:cNvPicPr>
          <p:nvPr/>
        </p:nvPicPr>
        <p:blipFill>
          <a:blip r:embed="rId6">
            <a:extLst>
              <a:ext uri="{28A0092B-C50C-407E-A947-70E740481C1C}">
                <a14:useLocalDpi xmlns:a14="http://schemas.microsoft.com/office/drawing/2010/main" val="0"/>
              </a:ext>
            </a:extLst>
          </a:blip>
          <a:srcRect l="13500" t="2666" r="40100" b="51645"/>
          <a:stretch>
            <a:fillRect/>
          </a:stretch>
        </p:blipFill>
        <p:spPr>
          <a:xfrm>
            <a:off x="4831543" y="3213194"/>
            <a:ext cx="3936867" cy="2180549"/>
          </a:xfrm>
          <a:prstGeom prst="rect">
            <a:avLst/>
          </a:prstGeom>
        </p:spPr>
      </p:pic>
      <p:sp>
        <p:nvSpPr>
          <p:cNvPr id="10" name="Rectangle 9">
            <a:extLst>
              <a:ext uri="{FF2B5EF4-FFF2-40B4-BE49-F238E27FC236}">
                <a16:creationId xmlns:a16="http://schemas.microsoft.com/office/drawing/2014/main" id="{EB9A71F7-FA40-10A9-C646-2FA3FA56F6FD}"/>
              </a:ext>
            </a:extLst>
          </p:cNvPr>
          <p:cNvSpPr/>
          <p:nvPr/>
        </p:nvSpPr>
        <p:spPr>
          <a:xfrm>
            <a:off x="6696559" y="3173411"/>
            <a:ext cx="2071851" cy="5591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12406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2B1DDBC2-86B6-20F6-5363-9F6A07295D85}"/>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E985EBC0-A940-3A6B-5325-123B88413EC0}"/>
              </a:ext>
            </a:extLst>
          </p:cNvPr>
          <p:cNvSpPr/>
          <p:nvPr/>
        </p:nvSpPr>
        <p:spPr>
          <a:xfrm>
            <a:off x="353568" y="379398"/>
            <a:ext cx="11484864" cy="6099204"/>
          </a:xfrm>
          <a:prstGeom prst="rect">
            <a:avLst/>
          </a:prstGeom>
          <a:solidFill>
            <a:schemeClr val="bg1"/>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TextBox 2">
            <a:extLst>
              <a:ext uri="{FF2B5EF4-FFF2-40B4-BE49-F238E27FC236}">
                <a16:creationId xmlns:a16="http://schemas.microsoft.com/office/drawing/2014/main" id="{0F000ADF-0B9A-9666-93EB-07BE83235EF8}"/>
              </a:ext>
            </a:extLst>
          </p:cNvPr>
          <p:cNvSpPr txBox="1"/>
          <p:nvPr/>
        </p:nvSpPr>
        <p:spPr>
          <a:xfrm>
            <a:off x="540380" y="317555"/>
            <a:ext cx="5093535" cy="584775"/>
          </a:xfrm>
          <a:prstGeom prst="rect">
            <a:avLst/>
          </a:prstGeom>
          <a:noFill/>
        </p:spPr>
        <p:txBody>
          <a:bodyPr wrap="square">
            <a:spAutoFit/>
          </a:bodyPr>
          <a:lstStyle>
            <a:defPPr>
              <a:defRPr lang="zh-CN"/>
            </a:defPPr>
            <a:lvl1pPr>
              <a:defRPr sz="3200" b="1">
                <a:solidFill>
                  <a:schemeClr val="tx2">
                    <a:lumMod val="90000"/>
                    <a:lumOff val="10000"/>
                  </a:schemeClr>
                </a:solidFill>
                <a:effectLst>
                  <a:outerShdw blurRad="38100" dist="38100" dir="2700000" algn="tl">
                    <a:srgbClr val="000000">
                      <a:alpha val="43137"/>
                    </a:srgbClr>
                  </a:outerShdw>
                </a:effectLst>
              </a:defRPr>
            </a:lvl1pPr>
          </a:lstStyle>
          <a:p>
            <a:r>
              <a:rPr lang="en-US" altLang="zh-CN" dirty="0"/>
              <a:t>Chapter 1: Mast-Traits</a:t>
            </a:r>
            <a:endParaRPr lang="zh-CN" altLang="en-US" dirty="0"/>
          </a:p>
        </p:txBody>
      </p:sp>
      <p:pic>
        <p:nvPicPr>
          <p:cNvPr id="4" name="Picture 3">
            <a:extLst>
              <a:ext uri="{FF2B5EF4-FFF2-40B4-BE49-F238E27FC236}">
                <a16:creationId xmlns:a16="http://schemas.microsoft.com/office/drawing/2014/main" id="{03CE2FFD-A24F-567D-DC58-1BBEE45BEEED}"/>
              </a:ext>
            </a:extLst>
          </p:cNvPr>
          <p:cNvPicPr>
            <a:picLocks noChangeAspect="1"/>
          </p:cNvPicPr>
          <p:nvPr/>
        </p:nvPicPr>
        <p:blipFill>
          <a:blip r:embed="rId4">
            <a:extLst>
              <a:ext uri="{28A0092B-C50C-407E-A947-70E740481C1C}">
                <a14:useLocalDpi xmlns:a14="http://schemas.microsoft.com/office/drawing/2010/main" val="0"/>
              </a:ext>
            </a:extLst>
          </a:blip>
          <a:srcRect l="14434" t="2437" r="39921" b="11828"/>
          <a:stretch>
            <a:fillRect/>
          </a:stretch>
        </p:blipFill>
        <p:spPr>
          <a:xfrm>
            <a:off x="1054018" y="964173"/>
            <a:ext cx="3764967" cy="3977829"/>
          </a:xfrm>
          <a:prstGeom prst="rect">
            <a:avLst/>
          </a:prstGeom>
        </p:spPr>
      </p:pic>
      <p:pic>
        <p:nvPicPr>
          <p:cNvPr id="6" name="Picture 5">
            <a:extLst>
              <a:ext uri="{FF2B5EF4-FFF2-40B4-BE49-F238E27FC236}">
                <a16:creationId xmlns:a16="http://schemas.microsoft.com/office/drawing/2014/main" id="{D3872105-012A-669D-7B17-FF49E579F615}"/>
              </a:ext>
            </a:extLst>
          </p:cNvPr>
          <p:cNvPicPr>
            <a:picLocks noChangeAspect="1"/>
          </p:cNvPicPr>
          <p:nvPr/>
        </p:nvPicPr>
        <p:blipFill>
          <a:blip r:embed="rId5">
            <a:extLst>
              <a:ext uri="{28A0092B-C50C-407E-A947-70E740481C1C}">
                <a14:useLocalDpi xmlns:a14="http://schemas.microsoft.com/office/drawing/2010/main" val="0"/>
              </a:ext>
            </a:extLst>
          </a:blip>
          <a:srcRect l="14000" r="40400" b="51467"/>
          <a:stretch>
            <a:fillRect/>
          </a:stretch>
        </p:blipFill>
        <p:spPr>
          <a:xfrm>
            <a:off x="4870871" y="833504"/>
            <a:ext cx="3828352" cy="2291974"/>
          </a:xfrm>
          <a:prstGeom prst="rect">
            <a:avLst/>
          </a:prstGeom>
        </p:spPr>
      </p:pic>
      <p:pic>
        <p:nvPicPr>
          <p:cNvPr id="9" name="Picture 8">
            <a:extLst>
              <a:ext uri="{FF2B5EF4-FFF2-40B4-BE49-F238E27FC236}">
                <a16:creationId xmlns:a16="http://schemas.microsoft.com/office/drawing/2014/main" id="{6ADE7099-D102-6B62-88E8-B0731430D9FB}"/>
              </a:ext>
            </a:extLst>
          </p:cNvPr>
          <p:cNvPicPr>
            <a:picLocks noChangeAspect="1"/>
          </p:cNvPicPr>
          <p:nvPr/>
        </p:nvPicPr>
        <p:blipFill>
          <a:blip r:embed="rId6">
            <a:extLst>
              <a:ext uri="{28A0092B-C50C-407E-A947-70E740481C1C}">
                <a14:useLocalDpi xmlns:a14="http://schemas.microsoft.com/office/drawing/2010/main" val="0"/>
              </a:ext>
            </a:extLst>
          </a:blip>
          <a:srcRect l="13500" t="2666" r="40100" b="51645"/>
          <a:stretch>
            <a:fillRect/>
          </a:stretch>
        </p:blipFill>
        <p:spPr>
          <a:xfrm>
            <a:off x="4831543" y="3213194"/>
            <a:ext cx="3936867" cy="2180549"/>
          </a:xfrm>
          <a:prstGeom prst="rect">
            <a:avLst/>
          </a:prstGeom>
        </p:spPr>
      </p:pic>
      <p:sp>
        <p:nvSpPr>
          <p:cNvPr id="10" name="Rectangle 9">
            <a:extLst>
              <a:ext uri="{FF2B5EF4-FFF2-40B4-BE49-F238E27FC236}">
                <a16:creationId xmlns:a16="http://schemas.microsoft.com/office/drawing/2014/main" id="{6CA2DFEA-C3EB-5DED-EE05-C9265550B061}"/>
              </a:ext>
            </a:extLst>
          </p:cNvPr>
          <p:cNvSpPr/>
          <p:nvPr/>
        </p:nvSpPr>
        <p:spPr>
          <a:xfrm>
            <a:off x="6696559" y="3173411"/>
            <a:ext cx="2071851" cy="5591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4">
            <a:extLst>
              <a:ext uri="{FF2B5EF4-FFF2-40B4-BE49-F238E27FC236}">
                <a16:creationId xmlns:a16="http://schemas.microsoft.com/office/drawing/2014/main" id="{C1BF16CD-3F69-B1B1-1998-8667C56446BE}"/>
              </a:ext>
            </a:extLst>
          </p:cNvPr>
          <p:cNvSpPr txBox="1"/>
          <p:nvPr/>
        </p:nvSpPr>
        <p:spPr>
          <a:xfrm>
            <a:off x="8669306" y="1786650"/>
            <a:ext cx="2696363" cy="2893100"/>
          </a:xfrm>
          <a:prstGeom prst="rect">
            <a:avLst/>
          </a:prstGeom>
          <a:noFill/>
        </p:spPr>
        <p:txBody>
          <a:bodyPr wrap="square" rtlCol="0">
            <a:spAutoFit/>
          </a:bodyPr>
          <a:lstStyle/>
          <a:p>
            <a:r>
              <a:rPr lang="en-US" altLang="zh-CN" sz="1400" dirty="0">
                <a:solidFill>
                  <a:srgbClr val="163E64"/>
                </a:solidFill>
              </a:rPr>
              <a:t>Data:</a:t>
            </a:r>
          </a:p>
          <a:p>
            <a:endParaRPr lang="en-US" altLang="zh-CN" sz="1400" dirty="0">
              <a:solidFill>
                <a:srgbClr val="163E64"/>
              </a:solidFill>
            </a:endParaRPr>
          </a:p>
          <a:p>
            <a:r>
              <a:rPr lang="en-US" altLang="zh-CN" sz="1400" b="1" i="1" dirty="0">
                <a:solidFill>
                  <a:srgbClr val="163E64"/>
                </a:solidFill>
              </a:rPr>
              <a:t>Silvics of North America</a:t>
            </a:r>
          </a:p>
          <a:p>
            <a:endParaRPr lang="en-US" altLang="zh-CN" sz="1400" dirty="0">
              <a:solidFill>
                <a:srgbClr val="163E64"/>
              </a:solidFill>
            </a:endParaRPr>
          </a:p>
          <a:p>
            <a:r>
              <a:rPr lang="en-US" altLang="zh-CN" sz="1400" dirty="0">
                <a:solidFill>
                  <a:srgbClr val="163E64"/>
                </a:solidFill>
              </a:rPr>
              <a:t>Masting: strong or weak</a:t>
            </a:r>
          </a:p>
          <a:p>
            <a:endParaRPr lang="en-US" altLang="zh-CN" sz="1400" dirty="0">
              <a:solidFill>
                <a:srgbClr val="163E64"/>
              </a:solidFill>
            </a:endParaRPr>
          </a:p>
          <a:p>
            <a:r>
              <a:rPr lang="en-US" altLang="zh-CN" sz="1400" dirty="0">
                <a:solidFill>
                  <a:srgbClr val="163E64"/>
                </a:solidFill>
              </a:rPr>
              <a:t>Angiosperm:</a:t>
            </a:r>
          </a:p>
          <a:p>
            <a:pPr marL="742950" lvl="1" indent="-285750">
              <a:buFont typeface="Arial" panose="020B0604020202020204" pitchFamily="34" charset="0"/>
              <a:buChar char="•"/>
            </a:pPr>
            <a:r>
              <a:rPr lang="en-US" altLang="zh-CN" sz="1400" dirty="0">
                <a:solidFill>
                  <a:srgbClr val="163E64"/>
                </a:solidFill>
              </a:rPr>
              <a:t>98 with masting data</a:t>
            </a:r>
          </a:p>
          <a:p>
            <a:pPr marL="742950" lvl="1" indent="-285750">
              <a:buFont typeface="Arial" panose="020B0604020202020204" pitchFamily="34" charset="0"/>
              <a:buChar char="•"/>
            </a:pPr>
            <a:r>
              <a:rPr lang="en-US" altLang="zh-CN" sz="1400" dirty="0">
                <a:solidFill>
                  <a:srgbClr val="163E64"/>
                </a:solidFill>
              </a:rPr>
              <a:t>51 strong masting</a:t>
            </a:r>
          </a:p>
          <a:p>
            <a:pPr marL="742950" lvl="1" indent="-285750">
              <a:buFont typeface="Arial" panose="020B0604020202020204" pitchFamily="34" charset="0"/>
              <a:buChar char="•"/>
            </a:pPr>
            <a:endParaRPr lang="en-US" altLang="zh-CN" sz="1400" dirty="0">
              <a:solidFill>
                <a:srgbClr val="163E64"/>
              </a:solidFill>
            </a:endParaRPr>
          </a:p>
          <a:p>
            <a:r>
              <a:rPr lang="en-US" altLang="zh-CN" sz="1400" dirty="0">
                <a:solidFill>
                  <a:srgbClr val="163E64"/>
                </a:solidFill>
              </a:rPr>
              <a:t>Gymnosperm:</a:t>
            </a:r>
          </a:p>
          <a:p>
            <a:pPr marL="742950" lvl="1" indent="-285750">
              <a:buFont typeface="Arial" panose="020B0604020202020204" pitchFamily="34" charset="0"/>
              <a:buChar char="•"/>
            </a:pPr>
            <a:r>
              <a:rPr lang="en-US" altLang="zh-CN" sz="1400" dirty="0">
                <a:solidFill>
                  <a:srgbClr val="163E64"/>
                </a:solidFill>
              </a:rPr>
              <a:t>61 with masting data</a:t>
            </a:r>
          </a:p>
          <a:p>
            <a:pPr marL="742950" lvl="1" indent="-285750">
              <a:buFont typeface="Arial" panose="020B0604020202020204" pitchFamily="34" charset="0"/>
              <a:buChar char="•"/>
            </a:pPr>
            <a:r>
              <a:rPr lang="en-US" altLang="zh-CN" sz="1400" dirty="0">
                <a:solidFill>
                  <a:srgbClr val="163E64"/>
                </a:solidFill>
              </a:rPr>
              <a:t>54 strong masting</a:t>
            </a:r>
          </a:p>
        </p:txBody>
      </p:sp>
    </p:spTree>
    <p:extLst>
      <p:ext uri="{BB962C8B-B14F-4D97-AF65-F5344CB8AC3E}">
        <p14:creationId xmlns:p14="http://schemas.microsoft.com/office/powerpoint/2010/main" val="2972967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7BE57DF1-877A-06A9-0FA2-DA0B7E2C8BC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1F52751-AED4-F4C9-FCFB-5FAFBEED1B6A}"/>
              </a:ext>
            </a:extLst>
          </p:cNvPr>
          <p:cNvSpPr/>
          <p:nvPr/>
        </p:nvSpPr>
        <p:spPr>
          <a:xfrm>
            <a:off x="353568" y="379398"/>
            <a:ext cx="11484864" cy="6099204"/>
          </a:xfrm>
          <a:prstGeom prst="rect">
            <a:avLst/>
          </a:prstGeom>
          <a:solidFill>
            <a:schemeClr val="bg1"/>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TextBox 2">
            <a:extLst>
              <a:ext uri="{FF2B5EF4-FFF2-40B4-BE49-F238E27FC236}">
                <a16:creationId xmlns:a16="http://schemas.microsoft.com/office/drawing/2014/main" id="{348D331B-D51B-2A15-9934-4913E5761CCB}"/>
              </a:ext>
            </a:extLst>
          </p:cNvPr>
          <p:cNvSpPr txBox="1"/>
          <p:nvPr/>
        </p:nvSpPr>
        <p:spPr>
          <a:xfrm>
            <a:off x="540380" y="317555"/>
            <a:ext cx="5093535" cy="584775"/>
          </a:xfrm>
          <a:prstGeom prst="rect">
            <a:avLst/>
          </a:prstGeom>
          <a:noFill/>
        </p:spPr>
        <p:txBody>
          <a:bodyPr wrap="square">
            <a:spAutoFit/>
          </a:bodyPr>
          <a:lstStyle>
            <a:defPPr>
              <a:defRPr lang="zh-CN"/>
            </a:defPPr>
            <a:lvl1pPr>
              <a:defRPr sz="3200" b="1">
                <a:solidFill>
                  <a:schemeClr val="tx2">
                    <a:lumMod val="90000"/>
                    <a:lumOff val="10000"/>
                  </a:schemeClr>
                </a:solidFill>
                <a:effectLst>
                  <a:outerShdw blurRad="38100" dist="38100" dir="2700000" algn="tl">
                    <a:srgbClr val="000000">
                      <a:alpha val="43137"/>
                    </a:srgbClr>
                  </a:outerShdw>
                </a:effectLst>
              </a:defRPr>
            </a:lvl1pPr>
          </a:lstStyle>
          <a:p>
            <a:r>
              <a:rPr lang="en-US" altLang="zh-CN" dirty="0"/>
              <a:t>Chapter 1: Mast-Traits</a:t>
            </a:r>
            <a:endParaRPr lang="zh-CN" altLang="en-US" dirty="0"/>
          </a:p>
        </p:txBody>
      </p:sp>
      <p:pic>
        <p:nvPicPr>
          <p:cNvPr id="4" name="Picture 3">
            <a:extLst>
              <a:ext uri="{FF2B5EF4-FFF2-40B4-BE49-F238E27FC236}">
                <a16:creationId xmlns:a16="http://schemas.microsoft.com/office/drawing/2014/main" id="{6E7FE78F-5758-6997-D7AB-044503622C3C}"/>
              </a:ext>
            </a:extLst>
          </p:cNvPr>
          <p:cNvPicPr>
            <a:picLocks noChangeAspect="1"/>
          </p:cNvPicPr>
          <p:nvPr/>
        </p:nvPicPr>
        <p:blipFill>
          <a:blip r:embed="rId4">
            <a:extLst>
              <a:ext uri="{28A0092B-C50C-407E-A947-70E740481C1C}">
                <a14:useLocalDpi xmlns:a14="http://schemas.microsoft.com/office/drawing/2010/main" val="0"/>
              </a:ext>
            </a:extLst>
          </a:blip>
          <a:srcRect l="14434" t="2437" r="39921" b="11828"/>
          <a:stretch>
            <a:fillRect/>
          </a:stretch>
        </p:blipFill>
        <p:spPr>
          <a:xfrm>
            <a:off x="1054018" y="964173"/>
            <a:ext cx="3764967" cy="3977829"/>
          </a:xfrm>
          <a:prstGeom prst="rect">
            <a:avLst/>
          </a:prstGeom>
        </p:spPr>
      </p:pic>
      <p:pic>
        <p:nvPicPr>
          <p:cNvPr id="6" name="Picture 5">
            <a:extLst>
              <a:ext uri="{FF2B5EF4-FFF2-40B4-BE49-F238E27FC236}">
                <a16:creationId xmlns:a16="http://schemas.microsoft.com/office/drawing/2014/main" id="{2F33EE3B-3F69-4215-19A4-ACD5A6EB513B}"/>
              </a:ext>
            </a:extLst>
          </p:cNvPr>
          <p:cNvPicPr>
            <a:picLocks noChangeAspect="1"/>
          </p:cNvPicPr>
          <p:nvPr/>
        </p:nvPicPr>
        <p:blipFill>
          <a:blip r:embed="rId5">
            <a:extLst>
              <a:ext uri="{28A0092B-C50C-407E-A947-70E740481C1C}">
                <a14:useLocalDpi xmlns:a14="http://schemas.microsoft.com/office/drawing/2010/main" val="0"/>
              </a:ext>
            </a:extLst>
          </a:blip>
          <a:srcRect l="14000" r="40400" b="51467"/>
          <a:stretch>
            <a:fillRect/>
          </a:stretch>
        </p:blipFill>
        <p:spPr>
          <a:xfrm>
            <a:off x="4870871" y="833504"/>
            <a:ext cx="3828352" cy="2291974"/>
          </a:xfrm>
          <a:prstGeom prst="rect">
            <a:avLst/>
          </a:prstGeom>
        </p:spPr>
      </p:pic>
      <p:pic>
        <p:nvPicPr>
          <p:cNvPr id="9" name="Picture 8">
            <a:extLst>
              <a:ext uri="{FF2B5EF4-FFF2-40B4-BE49-F238E27FC236}">
                <a16:creationId xmlns:a16="http://schemas.microsoft.com/office/drawing/2014/main" id="{D28D4EEB-6F8A-3AB7-58EC-186AAFBF8914}"/>
              </a:ext>
            </a:extLst>
          </p:cNvPr>
          <p:cNvPicPr>
            <a:picLocks noChangeAspect="1"/>
          </p:cNvPicPr>
          <p:nvPr/>
        </p:nvPicPr>
        <p:blipFill>
          <a:blip r:embed="rId6">
            <a:extLst>
              <a:ext uri="{28A0092B-C50C-407E-A947-70E740481C1C}">
                <a14:useLocalDpi xmlns:a14="http://schemas.microsoft.com/office/drawing/2010/main" val="0"/>
              </a:ext>
            </a:extLst>
          </a:blip>
          <a:srcRect l="13500" t="2666" r="40100" b="51645"/>
          <a:stretch>
            <a:fillRect/>
          </a:stretch>
        </p:blipFill>
        <p:spPr>
          <a:xfrm>
            <a:off x="4831543" y="3213194"/>
            <a:ext cx="3936867" cy="2180549"/>
          </a:xfrm>
          <a:prstGeom prst="rect">
            <a:avLst/>
          </a:prstGeom>
        </p:spPr>
      </p:pic>
      <p:sp>
        <p:nvSpPr>
          <p:cNvPr id="10" name="Rectangle 9">
            <a:extLst>
              <a:ext uri="{FF2B5EF4-FFF2-40B4-BE49-F238E27FC236}">
                <a16:creationId xmlns:a16="http://schemas.microsoft.com/office/drawing/2014/main" id="{8634E7AC-5BFE-4B90-2661-2D64CCF1BBC2}"/>
              </a:ext>
            </a:extLst>
          </p:cNvPr>
          <p:cNvSpPr/>
          <p:nvPr/>
        </p:nvSpPr>
        <p:spPr>
          <a:xfrm>
            <a:off x="6696559" y="3173411"/>
            <a:ext cx="2071851" cy="5591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4">
            <a:extLst>
              <a:ext uri="{FF2B5EF4-FFF2-40B4-BE49-F238E27FC236}">
                <a16:creationId xmlns:a16="http://schemas.microsoft.com/office/drawing/2014/main" id="{442F1BA5-403E-B7BA-7E18-0EB8F74FA52A}"/>
              </a:ext>
            </a:extLst>
          </p:cNvPr>
          <p:cNvSpPr txBox="1"/>
          <p:nvPr/>
        </p:nvSpPr>
        <p:spPr>
          <a:xfrm>
            <a:off x="8669306" y="1786650"/>
            <a:ext cx="2696363" cy="2893100"/>
          </a:xfrm>
          <a:prstGeom prst="rect">
            <a:avLst/>
          </a:prstGeom>
          <a:noFill/>
        </p:spPr>
        <p:txBody>
          <a:bodyPr wrap="square" rtlCol="0">
            <a:spAutoFit/>
          </a:bodyPr>
          <a:lstStyle/>
          <a:p>
            <a:r>
              <a:rPr lang="en-US" altLang="zh-CN" sz="1400" dirty="0">
                <a:solidFill>
                  <a:srgbClr val="163E64"/>
                </a:solidFill>
              </a:rPr>
              <a:t>Data:</a:t>
            </a:r>
          </a:p>
          <a:p>
            <a:endParaRPr lang="en-US" altLang="zh-CN" sz="1400" dirty="0">
              <a:solidFill>
                <a:srgbClr val="163E64"/>
              </a:solidFill>
            </a:endParaRPr>
          </a:p>
          <a:p>
            <a:r>
              <a:rPr lang="en-US" altLang="zh-CN" sz="1400" b="1" i="1" dirty="0">
                <a:solidFill>
                  <a:srgbClr val="163E64"/>
                </a:solidFill>
              </a:rPr>
              <a:t>Silvics of North America</a:t>
            </a:r>
          </a:p>
          <a:p>
            <a:endParaRPr lang="en-US" altLang="zh-CN" sz="1400" dirty="0">
              <a:solidFill>
                <a:srgbClr val="163E64"/>
              </a:solidFill>
            </a:endParaRPr>
          </a:p>
          <a:p>
            <a:r>
              <a:rPr lang="en-US" altLang="zh-CN" sz="1400" dirty="0">
                <a:solidFill>
                  <a:srgbClr val="163E64"/>
                </a:solidFill>
              </a:rPr>
              <a:t>Masting: strong or weak</a:t>
            </a:r>
          </a:p>
          <a:p>
            <a:endParaRPr lang="en-US" altLang="zh-CN" sz="1400" dirty="0">
              <a:solidFill>
                <a:srgbClr val="163E64"/>
              </a:solidFill>
            </a:endParaRPr>
          </a:p>
          <a:p>
            <a:r>
              <a:rPr lang="en-US" altLang="zh-CN" sz="1400" dirty="0">
                <a:solidFill>
                  <a:srgbClr val="163E64"/>
                </a:solidFill>
              </a:rPr>
              <a:t>Angiosperm:</a:t>
            </a:r>
          </a:p>
          <a:p>
            <a:pPr marL="742950" lvl="1" indent="-285750">
              <a:buFont typeface="Arial" panose="020B0604020202020204" pitchFamily="34" charset="0"/>
              <a:buChar char="•"/>
            </a:pPr>
            <a:r>
              <a:rPr lang="en-US" altLang="zh-CN" sz="1400" dirty="0">
                <a:solidFill>
                  <a:srgbClr val="163E64"/>
                </a:solidFill>
              </a:rPr>
              <a:t>98 with masting data</a:t>
            </a:r>
          </a:p>
          <a:p>
            <a:pPr marL="742950" lvl="1" indent="-285750">
              <a:buFont typeface="Arial" panose="020B0604020202020204" pitchFamily="34" charset="0"/>
              <a:buChar char="•"/>
            </a:pPr>
            <a:r>
              <a:rPr lang="en-US" altLang="zh-CN" sz="1400" dirty="0">
                <a:solidFill>
                  <a:srgbClr val="163E64"/>
                </a:solidFill>
              </a:rPr>
              <a:t>51 strong masting</a:t>
            </a:r>
          </a:p>
          <a:p>
            <a:pPr marL="742950" lvl="1" indent="-285750">
              <a:buFont typeface="Arial" panose="020B0604020202020204" pitchFamily="34" charset="0"/>
              <a:buChar char="•"/>
            </a:pPr>
            <a:endParaRPr lang="en-US" altLang="zh-CN" sz="1400" dirty="0">
              <a:solidFill>
                <a:srgbClr val="163E64"/>
              </a:solidFill>
            </a:endParaRPr>
          </a:p>
          <a:p>
            <a:r>
              <a:rPr lang="en-US" altLang="zh-CN" sz="1400" dirty="0">
                <a:solidFill>
                  <a:srgbClr val="163E64"/>
                </a:solidFill>
              </a:rPr>
              <a:t>Gymnosperm:</a:t>
            </a:r>
          </a:p>
          <a:p>
            <a:pPr marL="742950" lvl="1" indent="-285750">
              <a:buFont typeface="Arial" panose="020B0604020202020204" pitchFamily="34" charset="0"/>
              <a:buChar char="•"/>
            </a:pPr>
            <a:r>
              <a:rPr lang="en-US" altLang="zh-CN" sz="1400" dirty="0">
                <a:solidFill>
                  <a:srgbClr val="163E64"/>
                </a:solidFill>
              </a:rPr>
              <a:t>61 with masting data</a:t>
            </a:r>
          </a:p>
          <a:p>
            <a:pPr marL="742950" lvl="1" indent="-285750">
              <a:buFont typeface="Arial" panose="020B0604020202020204" pitchFamily="34" charset="0"/>
              <a:buChar char="•"/>
            </a:pPr>
            <a:r>
              <a:rPr lang="en-US" altLang="zh-CN" sz="1400" dirty="0">
                <a:solidFill>
                  <a:srgbClr val="163E64"/>
                </a:solidFill>
              </a:rPr>
              <a:t>54 strong masting</a:t>
            </a:r>
          </a:p>
        </p:txBody>
      </p:sp>
      <p:sp>
        <p:nvSpPr>
          <p:cNvPr id="7" name="Rectangle 6">
            <a:extLst>
              <a:ext uri="{FF2B5EF4-FFF2-40B4-BE49-F238E27FC236}">
                <a16:creationId xmlns:a16="http://schemas.microsoft.com/office/drawing/2014/main" id="{48F11C3E-404D-933A-FCA8-6C9A75377770}"/>
              </a:ext>
            </a:extLst>
          </p:cNvPr>
          <p:cNvSpPr/>
          <p:nvPr/>
        </p:nvSpPr>
        <p:spPr>
          <a:xfrm>
            <a:off x="5633915" y="3820239"/>
            <a:ext cx="1157817" cy="55911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Rectangle 11">
            <a:extLst>
              <a:ext uri="{FF2B5EF4-FFF2-40B4-BE49-F238E27FC236}">
                <a16:creationId xmlns:a16="http://schemas.microsoft.com/office/drawing/2014/main" id="{7ADDB3B8-9F85-805A-5372-18CC51A0413E}"/>
              </a:ext>
            </a:extLst>
          </p:cNvPr>
          <p:cNvSpPr/>
          <p:nvPr/>
        </p:nvSpPr>
        <p:spPr>
          <a:xfrm>
            <a:off x="1655375" y="4303468"/>
            <a:ext cx="1157817" cy="55911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04483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132B1FB0-6FE6-400D-F7BA-9F0CFBC3EA2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173590CA-05AE-DE73-951C-FDD0F053888F}"/>
              </a:ext>
            </a:extLst>
          </p:cNvPr>
          <p:cNvSpPr/>
          <p:nvPr/>
        </p:nvSpPr>
        <p:spPr>
          <a:xfrm>
            <a:off x="353568" y="379398"/>
            <a:ext cx="11484864" cy="6099204"/>
          </a:xfrm>
          <a:prstGeom prst="rect">
            <a:avLst/>
          </a:prstGeom>
          <a:solidFill>
            <a:schemeClr val="bg1">
              <a:alpha val="90000"/>
            </a:schemeClr>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TextBox 2">
            <a:extLst>
              <a:ext uri="{FF2B5EF4-FFF2-40B4-BE49-F238E27FC236}">
                <a16:creationId xmlns:a16="http://schemas.microsoft.com/office/drawing/2014/main" id="{046EE2F5-1BA9-2140-2FFD-89A0B8D77AF4}"/>
              </a:ext>
            </a:extLst>
          </p:cNvPr>
          <p:cNvSpPr txBox="1"/>
          <p:nvPr/>
        </p:nvSpPr>
        <p:spPr>
          <a:xfrm>
            <a:off x="540380" y="317555"/>
            <a:ext cx="5093535" cy="584775"/>
          </a:xfrm>
          <a:prstGeom prst="rect">
            <a:avLst/>
          </a:prstGeom>
          <a:noFill/>
        </p:spPr>
        <p:txBody>
          <a:bodyPr wrap="square">
            <a:spAutoFit/>
          </a:bodyPr>
          <a:lstStyle>
            <a:defPPr>
              <a:defRPr lang="zh-CN"/>
            </a:defPPr>
            <a:lvl1pPr>
              <a:defRPr sz="3200" b="1">
                <a:solidFill>
                  <a:schemeClr val="tx2">
                    <a:lumMod val="90000"/>
                    <a:lumOff val="10000"/>
                  </a:schemeClr>
                </a:solidFill>
                <a:effectLst>
                  <a:outerShdw blurRad="38100" dist="38100" dir="2700000" algn="tl">
                    <a:srgbClr val="000000">
                      <a:alpha val="43137"/>
                    </a:srgbClr>
                  </a:outerShdw>
                </a:effectLst>
              </a:defRPr>
            </a:lvl1pPr>
          </a:lstStyle>
          <a:p>
            <a:r>
              <a:rPr lang="en-US" altLang="zh-CN" dirty="0"/>
              <a:t>Chapter 1: Mast-Traits</a:t>
            </a:r>
            <a:endParaRPr lang="zh-CN" altLang="en-US" dirty="0"/>
          </a:p>
        </p:txBody>
      </p:sp>
      <p:sp>
        <p:nvSpPr>
          <p:cNvPr id="4" name="TextBox 3">
            <a:extLst>
              <a:ext uri="{FF2B5EF4-FFF2-40B4-BE49-F238E27FC236}">
                <a16:creationId xmlns:a16="http://schemas.microsoft.com/office/drawing/2014/main" id="{AC77DBC3-3801-BF7E-5156-630C4E72E95F}"/>
              </a:ext>
            </a:extLst>
          </p:cNvPr>
          <p:cNvSpPr txBox="1"/>
          <p:nvPr/>
        </p:nvSpPr>
        <p:spPr>
          <a:xfrm>
            <a:off x="2184541" y="1863271"/>
            <a:ext cx="8632723" cy="3170099"/>
          </a:xfrm>
          <a:prstGeom prst="rect">
            <a:avLst/>
          </a:prstGeom>
          <a:noFill/>
        </p:spPr>
        <p:txBody>
          <a:bodyPr wrap="square">
            <a:spAutoFit/>
          </a:bodyPr>
          <a:lstStyle/>
          <a:p>
            <a:pPr marL="342900" indent="-342900">
              <a:buFont typeface="Arial" panose="020B0604020202020204" pitchFamily="34" charset="0"/>
              <a:buChar char="•"/>
            </a:pPr>
            <a:r>
              <a:rPr lang="en-US" altLang="zh-CN" sz="2000" dirty="0">
                <a:solidFill>
                  <a:srgbClr val="163E64"/>
                </a:solidFill>
              </a:rPr>
              <a:t>Statistical analyses</a:t>
            </a:r>
          </a:p>
          <a:p>
            <a:pPr marL="800100" lvl="1" indent="-342900">
              <a:buFont typeface="Arial" panose="020B0604020202020204" pitchFamily="34" charset="0"/>
              <a:buChar char="•"/>
            </a:pPr>
            <a:r>
              <a:rPr lang="en-US" altLang="zh-CN" sz="2000" dirty="0">
                <a:solidFill>
                  <a:srgbClr val="163E64"/>
                </a:solidFill>
              </a:rPr>
              <a:t>Single trait with </a:t>
            </a:r>
            <a:r>
              <a:rPr lang="en-US" altLang="zh-CN" sz="2000" dirty="0" err="1">
                <a:solidFill>
                  <a:srgbClr val="163E64"/>
                </a:solidFill>
              </a:rPr>
              <a:t>phyloglm</a:t>
            </a:r>
            <a:endParaRPr lang="en-US" altLang="zh-CN" sz="2000" dirty="0">
              <a:solidFill>
                <a:srgbClr val="163E64"/>
              </a:solidFill>
            </a:endParaRPr>
          </a:p>
          <a:p>
            <a:pPr marL="800100" lvl="1" indent="-342900">
              <a:buFont typeface="Arial" panose="020B0604020202020204" pitchFamily="34" charset="0"/>
              <a:buChar char="•"/>
            </a:pPr>
            <a:r>
              <a:rPr lang="en-US" altLang="zh-CN" sz="2000" dirty="0">
                <a:solidFill>
                  <a:srgbClr val="163E64"/>
                </a:solidFill>
              </a:rPr>
              <a:t>Multivariate analysis with NMDS</a:t>
            </a:r>
          </a:p>
          <a:p>
            <a:pPr marL="342900" indent="-342900">
              <a:buFont typeface="Arial" panose="020B0604020202020204" pitchFamily="34" charset="0"/>
              <a:buChar char="•"/>
            </a:pPr>
            <a:r>
              <a:rPr lang="en-US" altLang="zh-CN" sz="2000" dirty="0">
                <a:solidFill>
                  <a:srgbClr val="163E64"/>
                </a:solidFill>
              </a:rPr>
              <a:t>Outlines of the paper</a:t>
            </a:r>
          </a:p>
          <a:p>
            <a:pPr marL="342900" indent="-342900">
              <a:buFont typeface="Arial" panose="020B0604020202020204" pitchFamily="34" charset="0"/>
              <a:buChar char="•"/>
            </a:pPr>
            <a:endParaRPr lang="en-US" altLang="zh-CN" sz="2000" dirty="0">
              <a:solidFill>
                <a:srgbClr val="163E64"/>
              </a:solidFill>
            </a:endParaRPr>
          </a:p>
          <a:p>
            <a:pPr marL="342900" indent="-342900">
              <a:buFont typeface="Arial" panose="020B0604020202020204" pitchFamily="34" charset="0"/>
              <a:buChar char="•"/>
            </a:pPr>
            <a:endParaRPr lang="en-US" altLang="zh-CN" sz="2000" dirty="0">
              <a:solidFill>
                <a:srgbClr val="163E64"/>
              </a:solidFill>
            </a:endParaRPr>
          </a:p>
          <a:p>
            <a:pPr marL="342900" indent="-342900">
              <a:buFont typeface="Arial" panose="020B0604020202020204" pitchFamily="34" charset="0"/>
              <a:buChar char="•"/>
            </a:pPr>
            <a:r>
              <a:rPr lang="en-US" altLang="zh-CN" sz="2000" dirty="0">
                <a:solidFill>
                  <a:srgbClr val="163E64"/>
                </a:solidFill>
              </a:rPr>
              <a:t>Manuscript write-up</a:t>
            </a:r>
          </a:p>
          <a:p>
            <a:pPr marL="342900" indent="-342900">
              <a:buFont typeface="Arial" panose="020B0604020202020204" pitchFamily="34" charset="0"/>
              <a:buChar char="•"/>
            </a:pPr>
            <a:endParaRPr lang="en-US" altLang="zh-CN" sz="2000" dirty="0">
              <a:solidFill>
                <a:srgbClr val="163E64"/>
              </a:solidFill>
            </a:endParaRPr>
          </a:p>
          <a:p>
            <a:pPr marL="342900" indent="-342900">
              <a:buFont typeface="Arial" panose="020B0604020202020204" pitchFamily="34" charset="0"/>
              <a:buChar char="•"/>
            </a:pPr>
            <a:endParaRPr lang="en-US" altLang="zh-CN" sz="2000" dirty="0">
              <a:solidFill>
                <a:srgbClr val="163E64"/>
              </a:solidFill>
            </a:endParaRPr>
          </a:p>
          <a:p>
            <a:pPr marL="342900" indent="-342900">
              <a:buFont typeface="Arial" panose="020B0604020202020204" pitchFamily="34" charset="0"/>
              <a:buChar char="•"/>
            </a:pPr>
            <a:r>
              <a:rPr lang="en-US" altLang="zh-CN" sz="2000" dirty="0">
                <a:solidFill>
                  <a:srgbClr val="163E64"/>
                </a:solidFill>
              </a:rPr>
              <a:t>Finalize some discussion on evolutionary aspects</a:t>
            </a:r>
            <a:endParaRPr lang="zh-CN" altLang="en-US" sz="2000" dirty="0">
              <a:solidFill>
                <a:srgbClr val="163E64"/>
              </a:solidFill>
            </a:endParaRPr>
          </a:p>
        </p:txBody>
      </p:sp>
      <p:sp>
        <p:nvSpPr>
          <p:cNvPr id="2" name="Rectangle 1">
            <a:extLst>
              <a:ext uri="{FF2B5EF4-FFF2-40B4-BE49-F238E27FC236}">
                <a16:creationId xmlns:a16="http://schemas.microsoft.com/office/drawing/2014/main" id="{0097CFEF-A8E4-BBB7-42FA-83AE71F4AE26}"/>
              </a:ext>
            </a:extLst>
          </p:cNvPr>
          <p:cNvSpPr/>
          <p:nvPr/>
        </p:nvSpPr>
        <p:spPr>
          <a:xfrm>
            <a:off x="2184541" y="1768420"/>
            <a:ext cx="6762816" cy="1575561"/>
          </a:xfrm>
          <a:prstGeom prst="rect">
            <a:avLst/>
          </a:prstGeom>
          <a:noFill/>
          <a:ln>
            <a:solidFill>
              <a:srgbClr val="00206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Rectangle 5">
            <a:extLst>
              <a:ext uri="{FF2B5EF4-FFF2-40B4-BE49-F238E27FC236}">
                <a16:creationId xmlns:a16="http://schemas.microsoft.com/office/drawing/2014/main" id="{BB44AFFD-DB7E-3146-F0BC-EDE6A9E76A0D}"/>
              </a:ext>
            </a:extLst>
          </p:cNvPr>
          <p:cNvSpPr/>
          <p:nvPr/>
        </p:nvSpPr>
        <p:spPr>
          <a:xfrm>
            <a:off x="2184541" y="3563180"/>
            <a:ext cx="6762816" cy="666555"/>
          </a:xfrm>
          <a:prstGeom prst="rect">
            <a:avLst/>
          </a:prstGeom>
          <a:noFill/>
          <a:ln>
            <a:solidFill>
              <a:srgbClr val="00206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8">
            <a:extLst>
              <a:ext uri="{FF2B5EF4-FFF2-40B4-BE49-F238E27FC236}">
                <a16:creationId xmlns:a16="http://schemas.microsoft.com/office/drawing/2014/main" id="{566BE00C-5C04-3AD2-DD67-47B725103707}"/>
              </a:ext>
            </a:extLst>
          </p:cNvPr>
          <p:cNvSpPr/>
          <p:nvPr/>
        </p:nvSpPr>
        <p:spPr>
          <a:xfrm>
            <a:off x="2184541" y="4484744"/>
            <a:ext cx="6762816" cy="666555"/>
          </a:xfrm>
          <a:prstGeom prst="rect">
            <a:avLst/>
          </a:prstGeom>
          <a:noFill/>
          <a:ln>
            <a:solidFill>
              <a:srgbClr val="00206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9">
            <a:extLst>
              <a:ext uri="{FF2B5EF4-FFF2-40B4-BE49-F238E27FC236}">
                <a16:creationId xmlns:a16="http://schemas.microsoft.com/office/drawing/2014/main" id="{A0149793-125C-2024-4F1E-420E7FB501F3}"/>
              </a:ext>
            </a:extLst>
          </p:cNvPr>
          <p:cNvSpPr txBox="1"/>
          <p:nvPr/>
        </p:nvSpPr>
        <p:spPr>
          <a:xfrm>
            <a:off x="1366534" y="1121529"/>
            <a:ext cx="4355690" cy="461665"/>
          </a:xfrm>
          <a:prstGeom prst="rect">
            <a:avLst/>
          </a:prstGeom>
          <a:noFill/>
        </p:spPr>
        <p:txBody>
          <a:bodyPr wrap="square" rtlCol="0">
            <a:spAutoFit/>
          </a:bodyPr>
          <a:lstStyle/>
          <a:p>
            <a:r>
              <a:rPr lang="en-US" altLang="zh-CN" sz="2400" dirty="0">
                <a:solidFill>
                  <a:srgbClr val="163E64"/>
                </a:solidFill>
              </a:rPr>
              <a:t>Current progress</a:t>
            </a:r>
            <a:r>
              <a:rPr lang="en-US" altLang="zh-CN" sz="2000" dirty="0"/>
              <a:t>:</a:t>
            </a:r>
            <a:endParaRPr lang="zh-CN" altLang="en-US" sz="2000" dirty="0"/>
          </a:p>
        </p:txBody>
      </p:sp>
      <p:sp>
        <p:nvSpPr>
          <p:cNvPr id="11" name="TextBox 10">
            <a:extLst>
              <a:ext uri="{FF2B5EF4-FFF2-40B4-BE49-F238E27FC236}">
                <a16:creationId xmlns:a16="http://schemas.microsoft.com/office/drawing/2014/main" id="{8FF08E4D-D3DD-04F2-AFB1-EC845C8EB08B}"/>
              </a:ext>
            </a:extLst>
          </p:cNvPr>
          <p:cNvSpPr txBox="1"/>
          <p:nvPr/>
        </p:nvSpPr>
        <p:spPr>
          <a:xfrm>
            <a:off x="9240949" y="2371534"/>
            <a:ext cx="1340432" cy="369332"/>
          </a:xfrm>
          <a:prstGeom prst="rect">
            <a:avLst/>
          </a:prstGeom>
          <a:noFill/>
        </p:spPr>
        <p:txBody>
          <a:bodyPr wrap="none" rtlCol="0">
            <a:spAutoFit/>
          </a:bodyPr>
          <a:lstStyle/>
          <a:p>
            <a:r>
              <a:rPr lang="en-US" altLang="zh-CN" b="1" dirty="0"/>
              <a:t>Completed</a:t>
            </a:r>
            <a:endParaRPr lang="zh-CN" altLang="en-US" b="1" dirty="0"/>
          </a:p>
        </p:txBody>
      </p:sp>
      <p:sp>
        <p:nvSpPr>
          <p:cNvPr id="13" name="TextBox 12">
            <a:extLst>
              <a:ext uri="{FF2B5EF4-FFF2-40B4-BE49-F238E27FC236}">
                <a16:creationId xmlns:a16="http://schemas.microsoft.com/office/drawing/2014/main" id="{A9296A17-65B2-48CF-7087-96348CD00918}"/>
              </a:ext>
            </a:extLst>
          </p:cNvPr>
          <p:cNvSpPr txBox="1"/>
          <p:nvPr/>
        </p:nvSpPr>
        <p:spPr>
          <a:xfrm>
            <a:off x="9240949" y="3718307"/>
            <a:ext cx="1170513" cy="369332"/>
          </a:xfrm>
          <a:prstGeom prst="rect">
            <a:avLst/>
          </a:prstGeom>
          <a:noFill/>
        </p:spPr>
        <p:txBody>
          <a:bodyPr wrap="none" rtlCol="0">
            <a:spAutoFit/>
          </a:bodyPr>
          <a:lstStyle/>
          <a:p>
            <a:r>
              <a:rPr lang="en-US" altLang="zh-CN" b="1" dirty="0"/>
              <a:t>On going</a:t>
            </a:r>
            <a:endParaRPr lang="zh-CN" altLang="en-US" b="1" dirty="0"/>
          </a:p>
        </p:txBody>
      </p:sp>
      <p:sp>
        <p:nvSpPr>
          <p:cNvPr id="15" name="TextBox 14">
            <a:extLst>
              <a:ext uri="{FF2B5EF4-FFF2-40B4-BE49-F238E27FC236}">
                <a16:creationId xmlns:a16="http://schemas.microsoft.com/office/drawing/2014/main" id="{7D171C80-02A3-F243-3078-FF9236705253}"/>
              </a:ext>
            </a:extLst>
          </p:cNvPr>
          <p:cNvSpPr txBox="1"/>
          <p:nvPr/>
        </p:nvSpPr>
        <p:spPr>
          <a:xfrm>
            <a:off x="9240948" y="4633355"/>
            <a:ext cx="1887055" cy="369332"/>
          </a:xfrm>
          <a:prstGeom prst="rect">
            <a:avLst/>
          </a:prstGeom>
          <a:noFill/>
        </p:spPr>
        <p:txBody>
          <a:bodyPr wrap="none" rtlCol="0">
            <a:spAutoFit/>
          </a:bodyPr>
          <a:lstStyle/>
          <a:p>
            <a:r>
              <a:rPr lang="en-US" altLang="zh-CN" b="1" dirty="0"/>
              <a:t>Need discussion</a:t>
            </a:r>
            <a:endParaRPr lang="zh-CN" altLang="en-US" b="1" dirty="0"/>
          </a:p>
        </p:txBody>
      </p:sp>
    </p:spTree>
    <p:extLst>
      <p:ext uri="{BB962C8B-B14F-4D97-AF65-F5344CB8AC3E}">
        <p14:creationId xmlns:p14="http://schemas.microsoft.com/office/powerpoint/2010/main" val="4134644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2791E1D4-2F68-CFA9-599A-A6EBC6D3F82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4E837CC-79CF-86A1-8477-41D2D4864A3A}"/>
              </a:ext>
            </a:extLst>
          </p:cNvPr>
          <p:cNvSpPr/>
          <p:nvPr/>
        </p:nvSpPr>
        <p:spPr>
          <a:xfrm>
            <a:off x="353568" y="379398"/>
            <a:ext cx="11484864" cy="6099204"/>
          </a:xfrm>
          <a:prstGeom prst="rect">
            <a:avLst/>
          </a:prstGeom>
          <a:solidFill>
            <a:schemeClr val="bg1"/>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TextBox 2">
            <a:extLst>
              <a:ext uri="{FF2B5EF4-FFF2-40B4-BE49-F238E27FC236}">
                <a16:creationId xmlns:a16="http://schemas.microsoft.com/office/drawing/2014/main" id="{FAAC63E6-C9E4-6CF4-2209-B42D19C55605}"/>
              </a:ext>
            </a:extLst>
          </p:cNvPr>
          <p:cNvSpPr txBox="1"/>
          <p:nvPr/>
        </p:nvSpPr>
        <p:spPr>
          <a:xfrm>
            <a:off x="540380" y="317555"/>
            <a:ext cx="5093535" cy="584775"/>
          </a:xfrm>
          <a:prstGeom prst="rect">
            <a:avLst/>
          </a:prstGeom>
          <a:noFill/>
        </p:spPr>
        <p:txBody>
          <a:bodyPr wrap="square">
            <a:spAutoFit/>
          </a:bodyPr>
          <a:lstStyle>
            <a:defPPr>
              <a:defRPr lang="zh-CN"/>
            </a:defPPr>
            <a:lvl1pPr>
              <a:defRPr sz="3200" b="1">
                <a:solidFill>
                  <a:schemeClr val="tx2">
                    <a:lumMod val="90000"/>
                    <a:lumOff val="10000"/>
                  </a:schemeClr>
                </a:solidFill>
                <a:effectLst>
                  <a:outerShdw blurRad="38100" dist="38100" dir="2700000" algn="tl">
                    <a:srgbClr val="000000">
                      <a:alpha val="43137"/>
                    </a:srgbClr>
                  </a:outerShdw>
                </a:effectLst>
              </a:defRPr>
            </a:lvl1pPr>
          </a:lstStyle>
          <a:p>
            <a:r>
              <a:rPr lang="en-US" altLang="zh-CN" dirty="0"/>
              <a:t>Chapter 1: Mast-Traits</a:t>
            </a:r>
            <a:endParaRPr lang="zh-CN" altLang="en-US" dirty="0"/>
          </a:p>
        </p:txBody>
      </p:sp>
      <p:pic>
        <p:nvPicPr>
          <p:cNvPr id="4" name="Picture 3">
            <a:extLst>
              <a:ext uri="{FF2B5EF4-FFF2-40B4-BE49-F238E27FC236}">
                <a16:creationId xmlns:a16="http://schemas.microsoft.com/office/drawing/2014/main" id="{641950A7-1546-AACD-7D7E-F1D88DCAB8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0466" y="1342405"/>
            <a:ext cx="2793362" cy="2804717"/>
          </a:xfrm>
          <a:prstGeom prst="rect">
            <a:avLst/>
          </a:prstGeom>
        </p:spPr>
      </p:pic>
      <p:graphicFrame>
        <p:nvGraphicFramePr>
          <p:cNvPr id="2" name="Object 1">
            <a:extLst>
              <a:ext uri="{FF2B5EF4-FFF2-40B4-BE49-F238E27FC236}">
                <a16:creationId xmlns:a16="http://schemas.microsoft.com/office/drawing/2014/main" id="{91C4C194-F27F-DA48-6137-7F8760924878}"/>
              </a:ext>
            </a:extLst>
          </p:cNvPr>
          <p:cNvGraphicFramePr>
            <a:graphicFrameLocks noChangeAspect="1"/>
          </p:cNvGraphicFramePr>
          <p:nvPr>
            <p:extLst>
              <p:ext uri="{D42A27DB-BD31-4B8C-83A1-F6EECF244321}">
                <p14:modId xmlns:p14="http://schemas.microsoft.com/office/powerpoint/2010/main" val="2832126507"/>
              </p:ext>
            </p:extLst>
          </p:nvPr>
        </p:nvGraphicFramePr>
        <p:xfrm>
          <a:off x="4923185" y="1342405"/>
          <a:ext cx="3994219" cy="2995664"/>
        </p:xfrm>
        <a:graphic>
          <a:graphicData uri="http://schemas.openxmlformats.org/presentationml/2006/ole">
            <mc:AlternateContent xmlns:mc="http://schemas.openxmlformats.org/markup-compatibility/2006">
              <mc:Choice xmlns:v="urn:schemas-microsoft-com:vml" Requires="v">
                <p:oleObj name="Acrobat Document" r:id="rId5" imgW="3657600" imgH="2743200" progId="Acrobat.Document.DC">
                  <p:embed/>
                </p:oleObj>
              </mc:Choice>
              <mc:Fallback>
                <p:oleObj name="Acrobat Document" r:id="rId5" imgW="3657600" imgH="2743200" progId="Acrobat.Document.DC">
                  <p:embed/>
                  <p:pic>
                    <p:nvPicPr>
                      <p:cNvPr id="0" name=""/>
                      <p:cNvPicPr/>
                      <p:nvPr/>
                    </p:nvPicPr>
                    <p:blipFill>
                      <a:blip r:embed="rId6"/>
                      <a:stretch>
                        <a:fillRect/>
                      </a:stretch>
                    </p:blipFill>
                    <p:spPr>
                      <a:xfrm>
                        <a:off x="4923185" y="1342405"/>
                        <a:ext cx="3994219" cy="2995664"/>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4EA4774B-6D83-0944-793A-14DA807E57B5}"/>
              </a:ext>
            </a:extLst>
          </p:cNvPr>
          <p:cNvSpPr txBox="1"/>
          <p:nvPr/>
        </p:nvSpPr>
        <p:spPr>
          <a:xfrm>
            <a:off x="1814051" y="4700449"/>
            <a:ext cx="8563897" cy="707886"/>
          </a:xfrm>
          <a:prstGeom prst="rect">
            <a:avLst/>
          </a:prstGeom>
          <a:noFill/>
        </p:spPr>
        <p:txBody>
          <a:bodyPr wrap="square">
            <a:spAutoFit/>
          </a:bodyPr>
          <a:lstStyle/>
          <a:p>
            <a:pPr marL="342900" indent="-342900">
              <a:buFont typeface="Arial" panose="020B0604020202020204" pitchFamily="34" charset="0"/>
              <a:buChar char="•"/>
            </a:pPr>
            <a:r>
              <a:rPr lang="en-US" altLang="zh-CN" sz="2000" dirty="0">
                <a:solidFill>
                  <a:srgbClr val="163E64"/>
                </a:solidFill>
              </a:rPr>
              <a:t>Heavier seeds are associated with strong masting</a:t>
            </a:r>
          </a:p>
          <a:p>
            <a:pPr marL="342900" indent="-342900">
              <a:buFont typeface="Arial" panose="020B0604020202020204" pitchFamily="34" charset="0"/>
              <a:buChar char="•"/>
            </a:pPr>
            <a:r>
              <a:rPr lang="en-US" altLang="zh-CN" sz="2000" dirty="0">
                <a:solidFill>
                  <a:srgbClr val="163E64"/>
                </a:solidFill>
              </a:rPr>
              <a:t>The effect was stronger among species with biotically dispersed seeds</a:t>
            </a:r>
          </a:p>
        </p:txBody>
      </p:sp>
      <p:pic>
        <p:nvPicPr>
          <p:cNvPr id="6" name="Picture 5" descr="A black background with a black square&#10;&#10;Description automatically generated with medium confidence">
            <a:extLst>
              <a:ext uri="{FF2B5EF4-FFF2-40B4-BE49-F238E27FC236}">
                <a16:creationId xmlns:a16="http://schemas.microsoft.com/office/drawing/2014/main" id="{87B7AD3B-753F-AE68-EE25-8992CEB7D1D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56761" y="1050350"/>
            <a:ext cx="584109" cy="584109"/>
          </a:xfrm>
          <a:prstGeom prst="rect">
            <a:avLst/>
          </a:prstGeom>
        </p:spPr>
      </p:pic>
    </p:spTree>
    <p:extLst>
      <p:ext uri="{BB962C8B-B14F-4D97-AF65-F5344CB8AC3E}">
        <p14:creationId xmlns:p14="http://schemas.microsoft.com/office/powerpoint/2010/main" val="2040209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2AD4F4BA-98B7-517E-B50A-090B3E10AAF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672850D-1DFF-749A-F64B-8B70DFE962D5}"/>
              </a:ext>
            </a:extLst>
          </p:cNvPr>
          <p:cNvSpPr/>
          <p:nvPr/>
        </p:nvSpPr>
        <p:spPr>
          <a:xfrm>
            <a:off x="353568" y="379398"/>
            <a:ext cx="11484864" cy="6099204"/>
          </a:xfrm>
          <a:prstGeom prst="rect">
            <a:avLst/>
          </a:prstGeom>
          <a:solidFill>
            <a:schemeClr val="bg1"/>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TextBox 2">
            <a:extLst>
              <a:ext uri="{FF2B5EF4-FFF2-40B4-BE49-F238E27FC236}">
                <a16:creationId xmlns:a16="http://schemas.microsoft.com/office/drawing/2014/main" id="{77FC0AC3-CD02-69BD-E93B-76A5C343372C}"/>
              </a:ext>
            </a:extLst>
          </p:cNvPr>
          <p:cNvSpPr txBox="1"/>
          <p:nvPr/>
        </p:nvSpPr>
        <p:spPr>
          <a:xfrm>
            <a:off x="540380" y="317555"/>
            <a:ext cx="5093535" cy="584775"/>
          </a:xfrm>
          <a:prstGeom prst="rect">
            <a:avLst/>
          </a:prstGeom>
          <a:noFill/>
        </p:spPr>
        <p:txBody>
          <a:bodyPr wrap="square">
            <a:spAutoFit/>
          </a:bodyPr>
          <a:lstStyle>
            <a:defPPr>
              <a:defRPr lang="zh-CN"/>
            </a:defPPr>
            <a:lvl1pPr>
              <a:defRPr sz="3200" b="1">
                <a:solidFill>
                  <a:schemeClr val="tx2">
                    <a:lumMod val="90000"/>
                    <a:lumOff val="10000"/>
                  </a:schemeClr>
                </a:solidFill>
                <a:effectLst>
                  <a:outerShdw blurRad="38100" dist="38100" dir="2700000" algn="tl">
                    <a:srgbClr val="000000">
                      <a:alpha val="43137"/>
                    </a:srgbClr>
                  </a:outerShdw>
                </a:effectLst>
              </a:defRPr>
            </a:lvl1pPr>
          </a:lstStyle>
          <a:p>
            <a:r>
              <a:rPr lang="en-US" altLang="zh-CN" dirty="0"/>
              <a:t>Chapter 1: Mast-Traits</a:t>
            </a:r>
            <a:endParaRPr lang="zh-CN" altLang="en-US" dirty="0"/>
          </a:p>
        </p:txBody>
      </p:sp>
      <p:sp>
        <p:nvSpPr>
          <p:cNvPr id="7" name="TextBox 6">
            <a:extLst>
              <a:ext uri="{FF2B5EF4-FFF2-40B4-BE49-F238E27FC236}">
                <a16:creationId xmlns:a16="http://schemas.microsoft.com/office/drawing/2014/main" id="{E707DBEC-2775-2636-4133-26E123161D48}"/>
              </a:ext>
            </a:extLst>
          </p:cNvPr>
          <p:cNvSpPr txBox="1"/>
          <p:nvPr/>
        </p:nvSpPr>
        <p:spPr>
          <a:xfrm>
            <a:off x="1814051" y="4700449"/>
            <a:ext cx="8563897" cy="707886"/>
          </a:xfrm>
          <a:prstGeom prst="rect">
            <a:avLst/>
          </a:prstGeom>
          <a:noFill/>
        </p:spPr>
        <p:txBody>
          <a:bodyPr wrap="square">
            <a:spAutoFit/>
          </a:bodyPr>
          <a:lstStyle/>
          <a:p>
            <a:pPr marL="342900" indent="-342900">
              <a:buFont typeface="Arial" panose="020B0604020202020204" pitchFamily="34" charset="0"/>
              <a:buChar char="•"/>
            </a:pPr>
            <a:r>
              <a:rPr lang="en-US" altLang="zh-CN" sz="2000" dirty="0">
                <a:solidFill>
                  <a:srgbClr val="163E64"/>
                </a:solidFill>
              </a:rPr>
              <a:t>Wind pollinated species are more likely to be strong masting</a:t>
            </a:r>
          </a:p>
          <a:p>
            <a:pPr marL="342900" indent="-342900">
              <a:buFont typeface="Arial" panose="020B0604020202020204" pitchFamily="34" charset="0"/>
              <a:buChar char="•"/>
            </a:pPr>
            <a:r>
              <a:rPr lang="en-US" altLang="zh-CN" sz="2000" dirty="0">
                <a:solidFill>
                  <a:srgbClr val="163E64"/>
                </a:solidFill>
              </a:rPr>
              <a:t>All gymnosperms are wind-pollinated</a:t>
            </a:r>
          </a:p>
        </p:txBody>
      </p:sp>
      <p:pic>
        <p:nvPicPr>
          <p:cNvPr id="6" name="Picture 5">
            <a:extLst>
              <a:ext uri="{FF2B5EF4-FFF2-40B4-BE49-F238E27FC236}">
                <a16:creationId xmlns:a16="http://schemas.microsoft.com/office/drawing/2014/main" id="{3E342B31-C862-05C1-24B5-E4B855E279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64517" y="1158669"/>
            <a:ext cx="3462966" cy="3423162"/>
          </a:xfrm>
          <a:prstGeom prst="rect">
            <a:avLst/>
          </a:prstGeom>
        </p:spPr>
      </p:pic>
      <p:pic>
        <p:nvPicPr>
          <p:cNvPr id="4" name="Picture 3" descr="A black background with a black square&#10;&#10;Description automatically generated with medium confidence">
            <a:extLst>
              <a:ext uri="{FF2B5EF4-FFF2-40B4-BE49-F238E27FC236}">
                <a16:creationId xmlns:a16="http://schemas.microsoft.com/office/drawing/2014/main" id="{141A4AFC-B498-3CCA-E906-A1B454B62D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82223" y="1038570"/>
            <a:ext cx="633292" cy="633292"/>
          </a:xfrm>
          <a:prstGeom prst="rect">
            <a:avLst/>
          </a:prstGeom>
        </p:spPr>
      </p:pic>
    </p:spTree>
    <p:extLst>
      <p:ext uri="{BB962C8B-B14F-4D97-AF65-F5344CB8AC3E}">
        <p14:creationId xmlns:p14="http://schemas.microsoft.com/office/powerpoint/2010/main" val="2977170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998F9BF2-560A-4AAF-84B3-9F65BF8860C0}"/>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8EE6AA7-2988-8DC5-21A9-05E8D2B533E3}"/>
              </a:ext>
            </a:extLst>
          </p:cNvPr>
          <p:cNvSpPr/>
          <p:nvPr/>
        </p:nvSpPr>
        <p:spPr>
          <a:xfrm>
            <a:off x="-271849" y="-102972"/>
            <a:ext cx="12851027" cy="76035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Object 1">
            <a:extLst>
              <a:ext uri="{FF2B5EF4-FFF2-40B4-BE49-F238E27FC236}">
                <a16:creationId xmlns:a16="http://schemas.microsoft.com/office/drawing/2014/main" id="{66A42847-AA96-C784-0951-84B24C9272C5}"/>
              </a:ext>
            </a:extLst>
          </p:cNvPr>
          <p:cNvGraphicFramePr>
            <a:graphicFrameLocks noChangeAspect="1"/>
          </p:cNvGraphicFramePr>
          <p:nvPr>
            <p:extLst>
              <p:ext uri="{D42A27DB-BD31-4B8C-83A1-F6EECF244321}">
                <p14:modId xmlns:p14="http://schemas.microsoft.com/office/powerpoint/2010/main" val="1822319368"/>
              </p:ext>
            </p:extLst>
          </p:nvPr>
        </p:nvGraphicFramePr>
        <p:xfrm>
          <a:off x="2631989" y="-247135"/>
          <a:ext cx="6820929" cy="7241059"/>
        </p:xfrm>
        <a:graphic>
          <a:graphicData uri="http://schemas.openxmlformats.org/presentationml/2006/ole">
            <mc:AlternateContent xmlns:mc="http://schemas.openxmlformats.org/markup-compatibility/2006">
              <mc:Choice xmlns:v="urn:schemas-microsoft-com:vml" Requires="v">
                <p:oleObj name="Acrobat Document" r:id="rId4" imgW="5486400" imgH="5943468" progId="Acrobat.Document.DC">
                  <p:embed/>
                </p:oleObj>
              </mc:Choice>
              <mc:Fallback>
                <p:oleObj name="Acrobat Document" r:id="rId4" imgW="5486400" imgH="5943468" progId="Acrobat.Document.DC">
                  <p:embed/>
                  <p:pic>
                    <p:nvPicPr>
                      <p:cNvPr id="0" name=""/>
                      <p:cNvPicPr/>
                      <p:nvPr/>
                    </p:nvPicPr>
                    <p:blipFill>
                      <a:blip r:embed="rId5"/>
                      <a:stretch>
                        <a:fillRect/>
                      </a:stretch>
                    </p:blipFill>
                    <p:spPr>
                      <a:xfrm>
                        <a:off x="2631989" y="-247135"/>
                        <a:ext cx="6820929" cy="7241059"/>
                      </a:xfrm>
                      <a:prstGeom prst="rect">
                        <a:avLst/>
                      </a:prstGeom>
                    </p:spPr>
                  </p:pic>
                </p:oleObj>
              </mc:Fallback>
            </mc:AlternateContent>
          </a:graphicData>
        </a:graphic>
      </p:graphicFrame>
    </p:spTree>
    <p:extLst>
      <p:ext uri="{BB962C8B-B14F-4D97-AF65-F5344CB8AC3E}">
        <p14:creationId xmlns:p14="http://schemas.microsoft.com/office/powerpoint/2010/main" val="19788277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C80B91EC-A019-7240-6330-55D26AA090E5}"/>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16AB0D6-9673-B31B-68C5-89AD45A5AF54}"/>
              </a:ext>
            </a:extLst>
          </p:cNvPr>
          <p:cNvSpPr/>
          <p:nvPr/>
        </p:nvSpPr>
        <p:spPr>
          <a:xfrm>
            <a:off x="353568" y="379398"/>
            <a:ext cx="11484864" cy="6099204"/>
          </a:xfrm>
          <a:prstGeom prst="rect">
            <a:avLst/>
          </a:prstGeom>
          <a:solidFill>
            <a:schemeClr val="bg1">
              <a:alpha val="90000"/>
            </a:schemeClr>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TextBox 2">
            <a:extLst>
              <a:ext uri="{FF2B5EF4-FFF2-40B4-BE49-F238E27FC236}">
                <a16:creationId xmlns:a16="http://schemas.microsoft.com/office/drawing/2014/main" id="{380031FE-C23D-7D77-7017-C53A006DAEB4}"/>
              </a:ext>
            </a:extLst>
          </p:cNvPr>
          <p:cNvSpPr txBox="1"/>
          <p:nvPr/>
        </p:nvSpPr>
        <p:spPr>
          <a:xfrm>
            <a:off x="540380" y="317555"/>
            <a:ext cx="5093535" cy="584775"/>
          </a:xfrm>
          <a:prstGeom prst="rect">
            <a:avLst/>
          </a:prstGeom>
          <a:noFill/>
        </p:spPr>
        <p:txBody>
          <a:bodyPr wrap="square">
            <a:spAutoFit/>
          </a:bodyPr>
          <a:lstStyle>
            <a:defPPr>
              <a:defRPr lang="zh-CN"/>
            </a:defPPr>
            <a:lvl1pPr>
              <a:defRPr sz="3200" b="1">
                <a:solidFill>
                  <a:schemeClr val="tx2">
                    <a:lumMod val="90000"/>
                    <a:lumOff val="10000"/>
                  </a:schemeClr>
                </a:solidFill>
                <a:effectLst>
                  <a:outerShdw blurRad="38100" dist="38100" dir="2700000" algn="tl">
                    <a:srgbClr val="000000">
                      <a:alpha val="43137"/>
                    </a:srgbClr>
                  </a:outerShdw>
                </a:effectLst>
              </a:defRPr>
            </a:lvl1pPr>
          </a:lstStyle>
          <a:p>
            <a:r>
              <a:rPr lang="en-US" altLang="zh-CN" dirty="0"/>
              <a:t>Chapter 1: Mast-Traits</a:t>
            </a:r>
            <a:endParaRPr lang="zh-CN" altLang="en-US" dirty="0"/>
          </a:p>
        </p:txBody>
      </p:sp>
      <p:sp>
        <p:nvSpPr>
          <p:cNvPr id="4" name="TextBox 3">
            <a:extLst>
              <a:ext uri="{FF2B5EF4-FFF2-40B4-BE49-F238E27FC236}">
                <a16:creationId xmlns:a16="http://schemas.microsoft.com/office/drawing/2014/main" id="{FFA2F2E5-3DFB-9F84-59B9-1AA1AF5E8499}"/>
              </a:ext>
            </a:extLst>
          </p:cNvPr>
          <p:cNvSpPr txBox="1"/>
          <p:nvPr/>
        </p:nvSpPr>
        <p:spPr>
          <a:xfrm>
            <a:off x="1219200" y="1694688"/>
            <a:ext cx="9375648" cy="3447098"/>
          </a:xfrm>
          <a:prstGeom prst="rect">
            <a:avLst/>
          </a:prstGeom>
          <a:noFill/>
        </p:spPr>
        <p:txBody>
          <a:bodyPr wrap="square" rtlCol="0">
            <a:spAutoFit/>
          </a:bodyPr>
          <a:lstStyle/>
          <a:p>
            <a:pPr marL="800100" lvl="1" indent="-342900">
              <a:buFont typeface="Arial" panose="020B0604020202020204" pitchFamily="34" charset="0"/>
              <a:buChar char="•"/>
            </a:pPr>
            <a:r>
              <a:rPr lang="en-US" altLang="zh-CN" sz="2000" dirty="0">
                <a:solidFill>
                  <a:srgbClr val="163E64"/>
                </a:solidFill>
              </a:rPr>
              <a:t>Reproductive traits point to different stages of selection</a:t>
            </a:r>
          </a:p>
          <a:p>
            <a:pPr marL="1257300" lvl="2" indent="-342900">
              <a:buFont typeface="Wingdings" panose="05000000000000000000" pitchFamily="2" charset="2"/>
              <a:buChar char="Ø"/>
            </a:pPr>
            <a:r>
              <a:rPr lang="en-US" altLang="zh-CN" sz="2000" dirty="0">
                <a:solidFill>
                  <a:srgbClr val="163E64"/>
                </a:solidFill>
              </a:rPr>
              <a:t>Wind pollination </a:t>
            </a:r>
            <a:r>
              <a:rPr lang="zh-CN" altLang="en-US" sz="2000" dirty="0">
                <a:solidFill>
                  <a:srgbClr val="163E64"/>
                </a:solidFill>
              </a:rPr>
              <a:t>➡</a:t>
            </a:r>
            <a:r>
              <a:rPr lang="en-US" altLang="zh-CN" sz="2000" dirty="0">
                <a:solidFill>
                  <a:srgbClr val="163E64"/>
                </a:solidFill>
              </a:rPr>
              <a:t> pollination coupling</a:t>
            </a:r>
          </a:p>
          <a:p>
            <a:pPr marL="1257300" lvl="2" indent="-342900">
              <a:buFont typeface="Wingdings" panose="05000000000000000000" pitchFamily="2" charset="2"/>
              <a:buChar char="Ø"/>
            </a:pPr>
            <a:r>
              <a:rPr lang="en-US" altLang="zh-CN" sz="2000" dirty="0">
                <a:solidFill>
                  <a:srgbClr val="163E64"/>
                </a:solidFill>
              </a:rPr>
              <a:t>Seed</a:t>
            </a:r>
            <a:r>
              <a:rPr lang="zh-CN" altLang="en-US" sz="2000" dirty="0">
                <a:solidFill>
                  <a:srgbClr val="163E64"/>
                </a:solidFill>
              </a:rPr>
              <a:t> </a:t>
            </a:r>
            <a:r>
              <a:rPr lang="en-US" altLang="zh-CN" sz="2000" dirty="0">
                <a:solidFill>
                  <a:srgbClr val="163E64"/>
                </a:solidFill>
              </a:rPr>
              <a:t>weight</a:t>
            </a:r>
            <a:r>
              <a:rPr lang="zh-CN" altLang="en-US" sz="2000" dirty="0">
                <a:solidFill>
                  <a:srgbClr val="163E64"/>
                </a:solidFill>
              </a:rPr>
              <a:t> ➡ </a:t>
            </a:r>
            <a:r>
              <a:rPr lang="en-US" altLang="zh-CN" sz="2000" dirty="0">
                <a:solidFill>
                  <a:srgbClr val="163E64"/>
                </a:solidFill>
              </a:rPr>
              <a:t>predator satiation</a:t>
            </a:r>
          </a:p>
          <a:p>
            <a:pPr marL="1257300" lvl="2" indent="-342900">
              <a:buFont typeface="Wingdings" panose="05000000000000000000" pitchFamily="2" charset="2"/>
              <a:buChar char="Ø"/>
            </a:pPr>
            <a:r>
              <a:rPr lang="en-US" altLang="zh-CN" sz="2000" dirty="0">
                <a:solidFill>
                  <a:srgbClr val="163E64"/>
                </a:solidFill>
              </a:rPr>
              <a:t>Coordinated strategies across whole reproductive process</a:t>
            </a:r>
          </a:p>
          <a:p>
            <a:pPr marL="1257300" lvl="2" indent="-342900">
              <a:buFont typeface="Wingdings" panose="05000000000000000000" pitchFamily="2" charset="2"/>
              <a:buChar char="Ø"/>
            </a:pPr>
            <a:endParaRPr lang="en-US" altLang="zh-CN" sz="2000" dirty="0">
              <a:solidFill>
                <a:srgbClr val="163E64"/>
              </a:solidFill>
            </a:endParaRPr>
          </a:p>
          <a:p>
            <a:pPr marL="800100" lvl="1" indent="-342900">
              <a:buFont typeface="Arial" panose="020B0604020202020204" pitchFamily="34" charset="0"/>
              <a:buChar char="•"/>
            </a:pPr>
            <a:r>
              <a:rPr lang="en-US" altLang="zh-CN" sz="2000" dirty="0">
                <a:solidFill>
                  <a:srgbClr val="163E64"/>
                </a:solidFill>
              </a:rPr>
              <a:t>Masting may be shaped differently across evolutionary contexts</a:t>
            </a:r>
          </a:p>
          <a:p>
            <a:pPr marL="1257300" lvl="2" indent="-342900">
              <a:buFont typeface="Arial" panose="020B0604020202020204" pitchFamily="34" charset="0"/>
              <a:buChar char="•"/>
            </a:pPr>
            <a:r>
              <a:rPr lang="en-US" altLang="zh-CN" sz="2000" dirty="0">
                <a:solidFill>
                  <a:srgbClr val="163E64"/>
                </a:solidFill>
              </a:rPr>
              <a:t>Masting is population-level phenomenon, while traits were species-level</a:t>
            </a:r>
          </a:p>
          <a:p>
            <a:pPr marL="1257300" lvl="2" indent="-342900">
              <a:buFont typeface="Arial" panose="020B0604020202020204" pitchFamily="34" charset="0"/>
              <a:buChar char="•"/>
            </a:pPr>
            <a:r>
              <a:rPr lang="en-US" altLang="zh-CN" sz="2000" dirty="0">
                <a:solidFill>
                  <a:srgbClr val="163E64"/>
                </a:solidFill>
              </a:rPr>
              <a:t>Strong phylogenetic structure of traits</a:t>
            </a:r>
          </a:p>
          <a:p>
            <a:pPr marL="1257300" lvl="2" indent="-342900">
              <a:buFont typeface="Arial" panose="020B0604020202020204" pitchFamily="34" charset="0"/>
              <a:buChar char="•"/>
            </a:pPr>
            <a:r>
              <a:rPr lang="en-US" altLang="zh-CN" sz="2000" dirty="0">
                <a:solidFill>
                  <a:srgbClr val="163E64"/>
                </a:solidFill>
              </a:rPr>
              <a:t>Angiosperms vs. gymnosperms may represent different evolutionary pathways</a:t>
            </a:r>
            <a:endParaRPr lang="zh-CN" altLang="zh-CN" sz="2000" dirty="0">
              <a:solidFill>
                <a:srgbClr val="163E64"/>
              </a:solidFill>
            </a:endParaRPr>
          </a:p>
          <a:p>
            <a:endParaRPr lang="zh-CN" altLang="en-US" dirty="0"/>
          </a:p>
        </p:txBody>
      </p:sp>
    </p:spTree>
    <p:extLst>
      <p:ext uri="{BB962C8B-B14F-4D97-AF65-F5344CB8AC3E}">
        <p14:creationId xmlns:p14="http://schemas.microsoft.com/office/powerpoint/2010/main" val="10945298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B8F71FC5-A9B9-8371-E26D-9E5551B4490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C750E0A-75D6-6D3C-87E9-2061B037CBA9}"/>
              </a:ext>
            </a:extLst>
          </p:cNvPr>
          <p:cNvSpPr/>
          <p:nvPr/>
        </p:nvSpPr>
        <p:spPr>
          <a:xfrm>
            <a:off x="353568" y="379398"/>
            <a:ext cx="11484864" cy="6099204"/>
          </a:xfrm>
          <a:prstGeom prst="rect">
            <a:avLst/>
          </a:prstGeom>
          <a:solidFill>
            <a:schemeClr val="bg1"/>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TextBox 2">
            <a:extLst>
              <a:ext uri="{FF2B5EF4-FFF2-40B4-BE49-F238E27FC236}">
                <a16:creationId xmlns:a16="http://schemas.microsoft.com/office/drawing/2014/main" id="{BF366ABB-DD6B-F076-F678-901A3E9A5A2B}"/>
              </a:ext>
            </a:extLst>
          </p:cNvPr>
          <p:cNvSpPr txBox="1"/>
          <p:nvPr/>
        </p:nvSpPr>
        <p:spPr>
          <a:xfrm>
            <a:off x="552572" y="395195"/>
            <a:ext cx="12078340" cy="492443"/>
          </a:xfrm>
          <a:prstGeom prst="rect">
            <a:avLst/>
          </a:prstGeom>
          <a:noFill/>
        </p:spPr>
        <p:txBody>
          <a:bodyPr wrap="square">
            <a:spAutoFit/>
          </a:bodyPr>
          <a:lstStyle>
            <a:defPPr>
              <a:defRPr lang="zh-CN"/>
            </a:defPPr>
            <a:lvl1pPr>
              <a:defRPr sz="3200" b="1">
                <a:solidFill>
                  <a:schemeClr val="tx2">
                    <a:lumMod val="90000"/>
                    <a:lumOff val="10000"/>
                  </a:schemeClr>
                </a:solidFill>
                <a:effectLst>
                  <a:outerShdw blurRad="38100" dist="38100" dir="2700000" algn="tl">
                    <a:srgbClr val="000000">
                      <a:alpha val="43137"/>
                    </a:srgbClr>
                  </a:outerShdw>
                </a:effectLst>
              </a:defRPr>
            </a:lvl1pPr>
          </a:lstStyle>
          <a:p>
            <a:r>
              <a:rPr lang="en-US" altLang="zh-CN" sz="2600" dirty="0"/>
              <a:t>Chapter 2: What’s the relationship between growth and reproduction?</a:t>
            </a:r>
            <a:endParaRPr lang="zh-CN" altLang="en-US" sz="2600" dirty="0"/>
          </a:p>
        </p:txBody>
      </p:sp>
      <p:pic>
        <p:nvPicPr>
          <p:cNvPr id="76" name="Picture 75">
            <a:extLst>
              <a:ext uri="{FF2B5EF4-FFF2-40B4-BE49-F238E27FC236}">
                <a16:creationId xmlns:a16="http://schemas.microsoft.com/office/drawing/2014/main" id="{3B873782-7A4D-EDBA-4B58-BBE89D775F42}"/>
              </a:ext>
            </a:extLst>
          </p:cNvPr>
          <p:cNvPicPr>
            <a:picLocks noChangeAspect="1"/>
          </p:cNvPicPr>
          <p:nvPr/>
        </p:nvPicPr>
        <p:blipFill>
          <a:blip r:embed="rId4">
            <a:extLst>
              <a:ext uri="{28A0092B-C50C-407E-A947-70E740481C1C}">
                <a14:useLocalDpi xmlns:a14="http://schemas.microsoft.com/office/drawing/2010/main" val="0"/>
              </a:ext>
            </a:extLst>
          </a:blip>
          <a:srcRect b="21067"/>
          <a:stretch>
            <a:fillRect/>
          </a:stretch>
        </p:blipFill>
        <p:spPr>
          <a:xfrm>
            <a:off x="2375639" y="996757"/>
            <a:ext cx="7440721" cy="4864486"/>
          </a:xfrm>
          <a:prstGeom prst="rect">
            <a:avLst/>
          </a:prstGeom>
        </p:spPr>
      </p:pic>
      <p:sp>
        <p:nvSpPr>
          <p:cNvPr id="2" name="TextBox 1">
            <a:extLst>
              <a:ext uri="{FF2B5EF4-FFF2-40B4-BE49-F238E27FC236}">
                <a16:creationId xmlns:a16="http://schemas.microsoft.com/office/drawing/2014/main" id="{E331F8BA-4818-B3E1-8DB2-D13FFC71C30C}"/>
              </a:ext>
            </a:extLst>
          </p:cNvPr>
          <p:cNvSpPr txBox="1"/>
          <p:nvPr/>
        </p:nvSpPr>
        <p:spPr>
          <a:xfrm>
            <a:off x="9637343" y="5663436"/>
            <a:ext cx="1943100" cy="369332"/>
          </a:xfrm>
          <a:prstGeom prst="rect">
            <a:avLst/>
          </a:prstGeom>
          <a:noFill/>
        </p:spPr>
        <p:txBody>
          <a:bodyPr wrap="square" rtlCol="0">
            <a:spAutoFit/>
          </a:bodyPr>
          <a:lstStyle/>
          <a:p>
            <a:r>
              <a:rPr lang="en-US" altLang="zh-CN" dirty="0"/>
              <a:t>By Mao</a:t>
            </a:r>
            <a:endParaRPr lang="zh-CN" altLang="en-US" dirty="0"/>
          </a:p>
        </p:txBody>
      </p:sp>
    </p:spTree>
    <p:extLst>
      <p:ext uri="{BB962C8B-B14F-4D97-AF65-F5344CB8AC3E}">
        <p14:creationId xmlns:p14="http://schemas.microsoft.com/office/powerpoint/2010/main" val="12660519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453A00C6-6C8A-E835-C4C4-D16ED44B244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4DA5613-2E2C-31BC-1390-CC0A06C97C9B}"/>
              </a:ext>
            </a:extLst>
          </p:cNvPr>
          <p:cNvSpPr/>
          <p:nvPr/>
        </p:nvSpPr>
        <p:spPr>
          <a:xfrm>
            <a:off x="353568" y="379398"/>
            <a:ext cx="11484864" cy="6099204"/>
          </a:xfrm>
          <a:prstGeom prst="rect">
            <a:avLst/>
          </a:prstGeom>
          <a:solidFill>
            <a:schemeClr val="bg1">
              <a:alpha val="90000"/>
            </a:schemeClr>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TextBox 2">
            <a:extLst>
              <a:ext uri="{FF2B5EF4-FFF2-40B4-BE49-F238E27FC236}">
                <a16:creationId xmlns:a16="http://schemas.microsoft.com/office/drawing/2014/main" id="{4B6B4C51-1697-09E8-5354-69ECC07CE933}"/>
              </a:ext>
            </a:extLst>
          </p:cNvPr>
          <p:cNvSpPr txBox="1"/>
          <p:nvPr/>
        </p:nvSpPr>
        <p:spPr>
          <a:xfrm>
            <a:off x="540380" y="317555"/>
            <a:ext cx="12078340" cy="584775"/>
          </a:xfrm>
          <a:prstGeom prst="rect">
            <a:avLst/>
          </a:prstGeom>
          <a:noFill/>
        </p:spPr>
        <p:txBody>
          <a:bodyPr wrap="square">
            <a:spAutoFit/>
          </a:bodyPr>
          <a:lstStyle>
            <a:defPPr>
              <a:defRPr lang="zh-CN"/>
            </a:defPPr>
            <a:lvl1pPr>
              <a:defRPr sz="3200" b="1">
                <a:solidFill>
                  <a:schemeClr val="tx2">
                    <a:lumMod val="90000"/>
                    <a:lumOff val="10000"/>
                  </a:schemeClr>
                </a:solidFill>
                <a:effectLst>
                  <a:outerShdw blurRad="38100" dist="38100" dir="2700000" algn="tl">
                    <a:srgbClr val="000000">
                      <a:alpha val="43137"/>
                    </a:srgbClr>
                  </a:outerShdw>
                </a:effectLst>
              </a:defRPr>
            </a:lvl1pPr>
          </a:lstStyle>
          <a:p>
            <a:r>
              <a:rPr lang="en-US" altLang="zh-CN" dirty="0"/>
              <a:t>Chapter 2: Growth-Reproduction Trade-off</a:t>
            </a:r>
            <a:endParaRPr lang="zh-CN" altLang="en-US" dirty="0"/>
          </a:p>
        </p:txBody>
      </p:sp>
      <p:sp>
        <p:nvSpPr>
          <p:cNvPr id="4" name="TextBox 3">
            <a:extLst>
              <a:ext uri="{FF2B5EF4-FFF2-40B4-BE49-F238E27FC236}">
                <a16:creationId xmlns:a16="http://schemas.microsoft.com/office/drawing/2014/main" id="{FD3DCE58-A93E-3807-200B-8157674716AA}"/>
              </a:ext>
            </a:extLst>
          </p:cNvPr>
          <p:cNvSpPr txBox="1"/>
          <p:nvPr/>
        </p:nvSpPr>
        <p:spPr>
          <a:xfrm>
            <a:off x="2184541" y="2584796"/>
            <a:ext cx="8632723" cy="1938992"/>
          </a:xfrm>
          <a:prstGeom prst="rect">
            <a:avLst/>
          </a:prstGeom>
          <a:noFill/>
        </p:spPr>
        <p:txBody>
          <a:bodyPr wrap="square">
            <a:spAutoFit/>
          </a:bodyPr>
          <a:lstStyle/>
          <a:p>
            <a:pPr marL="342900" indent="-342900">
              <a:buFont typeface="Arial" panose="020B0604020202020204" pitchFamily="34" charset="0"/>
              <a:buChar char="•"/>
            </a:pPr>
            <a:r>
              <a:rPr lang="en-US" altLang="zh-CN" sz="2000" dirty="0">
                <a:solidFill>
                  <a:srgbClr val="163E64"/>
                </a:solidFill>
              </a:rPr>
              <a:t>Core samples scanning</a:t>
            </a:r>
          </a:p>
          <a:p>
            <a:pPr marL="342900" indent="-342900">
              <a:buFont typeface="Arial" panose="020B0604020202020204" pitchFamily="34" charset="0"/>
              <a:buChar char="•"/>
            </a:pPr>
            <a:r>
              <a:rPr lang="en-US" altLang="zh-CN" sz="2000" dirty="0">
                <a:solidFill>
                  <a:srgbClr val="163E64"/>
                </a:solidFill>
              </a:rPr>
              <a:t>Cores measurement for 6 stands</a:t>
            </a:r>
          </a:p>
          <a:p>
            <a:pPr marL="342900" indent="-342900">
              <a:buFont typeface="Arial" panose="020B0604020202020204" pitchFamily="34" charset="0"/>
              <a:buChar char="•"/>
            </a:pPr>
            <a:endParaRPr lang="en-US" altLang="zh-CN" sz="2000" dirty="0">
              <a:solidFill>
                <a:srgbClr val="163E64"/>
              </a:solidFill>
            </a:endParaRPr>
          </a:p>
          <a:p>
            <a:pPr marL="342900" indent="-342900">
              <a:buFont typeface="Arial" panose="020B0604020202020204" pitchFamily="34" charset="0"/>
              <a:buChar char="•"/>
            </a:pPr>
            <a:endParaRPr lang="en-US" altLang="zh-CN" sz="2000" dirty="0">
              <a:solidFill>
                <a:srgbClr val="163E64"/>
              </a:solidFill>
            </a:endParaRPr>
          </a:p>
          <a:p>
            <a:pPr marL="342900" indent="-342900">
              <a:buFont typeface="Arial" panose="020B0604020202020204" pitchFamily="34" charset="0"/>
              <a:buChar char="•"/>
            </a:pPr>
            <a:r>
              <a:rPr lang="en-US" altLang="zh-CN" sz="2000" dirty="0">
                <a:solidFill>
                  <a:srgbClr val="163E64"/>
                </a:solidFill>
              </a:rPr>
              <a:t>Cross-dating for cores</a:t>
            </a:r>
          </a:p>
          <a:p>
            <a:pPr marL="342900" indent="-342900">
              <a:buFont typeface="Arial" panose="020B0604020202020204" pitchFamily="34" charset="0"/>
              <a:buChar char="•"/>
            </a:pPr>
            <a:r>
              <a:rPr lang="en-US" altLang="zh-CN" sz="2000" dirty="0">
                <a:solidFill>
                  <a:srgbClr val="163E64"/>
                </a:solidFill>
              </a:rPr>
              <a:t>Building the model</a:t>
            </a:r>
          </a:p>
        </p:txBody>
      </p:sp>
      <p:sp>
        <p:nvSpPr>
          <p:cNvPr id="6" name="Rectangle 5">
            <a:extLst>
              <a:ext uri="{FF2B5EF4-FFF2-40B4-BE49-F238E27FC236}">
                <a16:creationId xmlns:a16="http://schemas.microsoft.com/office/drawing/2014/main" id="{6B20EB0B-D536-1243-BE81-7C7135C47CBB}"/>
              </a:ext>
            </a:extLst>
          </p:cNvPr>
          <p:cNvSpPr/>
          <p:nvPr/>
        </p:nvSpPr>
        <p:spPr>
          <a:xfrm>
            <a:off x="2184541" y="2411635"/>
            <a:ext cx="4226016" cy="972447"/>
          </a:xfrm>
          <a:prstGeom prst="rect">
            <a:avLst/>
          </a:prstGeom>
          <a:noFill/>
          <a:ln>
            <a:solidFill>
              <a:srgbClr val="00206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TextBox 12">
            <a:extLst>
              <a:ext uri="{FF2B5EF4-FFF2-40B4-BE49-F238E27FC236}">
                <a16:creationId xmlns:a16="http://schemas.microsoft.com/office/drawing/2014/main" id="{3057E88A-7694-417C-5AE6-5C119D561AAC}"/>
              </a:ext>
            </a:extLst>
          </p:cNvPr>
          <p:cNvSpPr txBox="1"/>
          <p:nvPr/>
        </p:nvSpPr>
        <p:spPr>
          <a:xfrm>
            <a:off x="6603262" y="2755919"/>
            <a:ext cx="1340432" cy="369332"/>
          </a:xfrm>
          <a:prstGeom prst="rect">
            <a:avLst/>
          </a:prstGeom>
          <a:noFill/>
        </p:spPr>
        <p:txBody>
          <a:bodyPr wrap="none" rtlCol="0">
            <a:spAutoFit/>
          </a:bodyPr>
          <a:lstStyle/>
          <a:p>
            <a:r>
              <a:rPr lang="en-US" altLang="zh-CN" b="1" dirty="0"/>
              <a:t>Completed</a:t>
            </a:r>
            <a:endParaRPr lang="zh-CN" altLang="en-US" b="1" dirty="0"/>
          </a:p>
        </p:txBody>
      </p:sp>
      <p:sp>
        <p:nvSpPr>
          <p:cNvPr id="15" name="TextBox 14">
            <a:extLst>
              <a:ext uri="{FF2B5EF4-FFF2-40B4-BE49-F238E27FC236}">
                <a16:creationId xmlns:a16="http://schemas.microsoft.com/office/drawing/2014/main" id="{69D2FE47-428A-361B-85D9-101D6E07172A}"/>
              </a:ext>
            </a:extLst>
          </p:cNvPr>
          <p:cNvSpPr txBox="1"/>
          <p:nvPr/>
        </p:nvSpPr>
        <p:spPr>
          <a:xfrm>
            <a:off x="6603262" y="4073014"/>
            <a:ext cx="1170513" cy="369332"/>
          </a:xfrm>
          <a:prstGeom prst="rect">
            <a:avLst/>
          </a:prstGeom>
          <a:noFill/>
        </p:spPr>
        <p:txBody>
          <a:bodyPr wrap="none" rtlCol="0">
            <a:spAutoFit/>
          </a:bodyPr>
          <a:lstStyle/>
          <a:p>
            <a:r>
              <a:rPr lang="en-US" altLang="zh-CN" b="1" dirty="0"/>
              <a:t>On going</a:t>
            </a:r>
            <a:endParaRPr lang="zh-CN" altLang="en-US" b="1" dirty="0"/>
          </a:p>
        </p:txBody>
      </p:sp>
      <p:sp>
        <p:nvSpPr>
          <p:cNvPr id="19" name="Rectangle 18">
            <a:extLst>
              <a:ext uri="{FF2B5EF4-FFF2-40B4-BE49-F238E27FC236}">
                <a16:creationId xmlns:a16="http://schemas.microsoft.com/office/drawing/2014/main" id="{A9EF9B19-E2BB-52E8-DA84-040779ADADF0}"/>
              </a:ext>
            </a:extLst>
          </p:cNvPr>
          <p:cNvSpPr/>
          <p:nvPr/>
        </p:nvSpPr>
        <p:spPr>
          <a:xfrm>
            <a:off x="2184541" y="3576765"/>
            <a:ext cx="4226016" cy="1276521"/>
          </a:xfrm>
          <a:prstGeom prst="rect">
            <a:avLst/>
          </a:prstGeom>
          <a:noFill/>
          <a:ln>
            <a:solidFill>
              <a:srgbClr val="00206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Box 22">
            <a:extLst>
              <a:ext uri="{FF2B5EF4-FFF2-40B4-BE49-F238E27FC236}">
                <a16:creationId xmlns:a16="http://schemas.microsoft.com/office/drawing/2014/main" id="{67BA2E3B-1E67-79A4-500B-D458EE6E0EC1}"/>
              </a:ext>
            </a:extLst>
          </p:cNvPr>
          <p:cNvSpPr txBox="1"/>
          <p:nvPr/>
        </p:nvSpPr>
        <p:spPr>
          <a:xfrm>
            <a:off x="1252234" y="1466416"/>
            <a:ext cx="4355690" cy="461665"/>
          </a:xfrm>
          <a:prstGeom prst="rect">
            <a:avLst/>
          </a:prstGeom>
          <a:noFill/>
        </p:spPr>
        <p:txBody>
          <a:bodyPr wrap="square" rtlCol="0">
            <a:spAutoFit/>
          </a:bodyPr>
          <a:lstStyle/>
          <a:p>
            <a:r>
              <a:rPr lang="en-US" altLang="zh-CN" sz="2400" dirty="0">
                <a:solidFill>
                  <a:srgbClr val="163E64"/>
                </a:solidFill>
              </a:rPr>
              <a:t>Current progress</a:t>
            </a:r>
            <a:r>
              <a:rPr lang="en-US" altLang="zh-CN" sz="2000" dirty="0"/>
              <a:t>:</a:t>
            </a:r>
            <a:endParaRPr lang="zh-CN" altLang="en-US" sz="2000" dirty="0"/>
          </a:p>
        </p:txBody>
      </p:sp>
      <p:pic>
        <p:nvPicPr>
          <p:cNvPr id="5" name="Picture 4">
            <a:extLst>
              <a:ext uri="{FF2B5EF4-FFF2-40B4-BE49-F238E27FC236}">
                <a16:creationId xmlns:a16="http://schemas.microsoft.com/office/drawing/2014/main" id="{1E090289-774B-BF1D-F4EC-96E8FA62D6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64107" y="1614181"/>
            <a:ext cx="2943301" cy="3925167"/>
          </a:xfrm>
          <a:prstGeom prst="rect">
            <a:avLst/>
          </a:prstGeom>
        </p:spPr>
      </p:pic>
    </p:spTree>
    <p:extLst>
      <p:ext uri="{BB962C8B-B14F-4D97-AF65-F5344CB8AC3E}">
        <p14:creationId xmlns:p14="http://schemas.microsoft.com/office/powerpoint/2010/main" val="31086728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24296DA0-047A-77E7-F3FF-0E771D7EB3DF}"/>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BDC2D4D-3828-67D4-9678-C6DA42127D16}"/>
              </a:ext>
            </a:extLst>
          </p:cNvPr>
          <p:cNvSpPr/>
          <p:nvPr/>
        </p:nvSpPr>
        <p:spPr>
          <a:xfrm>
            <a:off x="353568" y="379398"/>
            <a:ext cx="11484864" cy="6099204"/>
          </a:xfrm>
          <a:prstGeom prst="rect">
            <a:avLst/>
          </a:prstGeom>
          <a:solidFill>
            <a:schemeClr val="bg1">
              <a:alpha val="90000"/>
            </a:schemeClr>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TextBox 2">
            <a:extLst>
              <a:ext uri="{FF2B5EF4-FFF2-40B4-BE49-F238E27FC236}">
                <a16:creationId xmlns:a16="http://schemas.microsoft.com/office/drawing/2014/main" id="{F5C2EFFD-3FD5-B6A9-C413-5A896AB62DF4}"/>
              </a:ext>
            </a:extLst>
          </p:cNvPr>
          <p:cNvSpPr txBox="1"/>
          <p:nvPr/>
        </p:nvSpPr>
        <p:spPr>
          <a:xfrm>
            <a:off x="540380" y="317555"/>
            <a:ext cx="12078340" cy="584775"/>
          </a:xfrm>
          <a:prstGeom prst="rect">
            <a:avLst/>
          </a:prstGeom>
          <a:noFill/>
        </p:spPr>
        <p:txBody>
          <a:bodyPr wrap="square">
            <a:spAutoFit/>
          </a:bodyPr>
          <a:lstStyle>
            <a:defPPr>
              <a:defRPr lang="zh-CN"/>
            </a:defPPr>
            <a:lvl1pPr>
              <a:defRPr sz="3200" b="1">
                <a:solidFill>
                  <a:schemeClr val="tx2">
                    <a:lumMod val="90000"/>
                    <a:lumOff val="10000"/>
                  </a:schemeClr>
                </a:solidFill>
                <a:effectLst>
                  <a:outerShdw blurRad="38100" dist="38100" dir="2700000" algn="tl">
                    <a:srgbClr val="000000">
                      <a:alpha val="43137"/>
                    </a:srgbClr>
                  </a:outerShdw>
                </a:effectLst>
              </a:defRPr>
            </a:lvl1pPr>
          </a:lstStyle>
          <a:p>
            <a:r>
              <a:rPr lang="en-US" altLang="zh-CN" dirty="0"/>
              <a:t>Chapter 2: Growth-Reproduction Trade-off</a:t>
            </a:r>
            <a:endParaRPr lang="zh-CN" altLang="en-US" dirty="0"/>
          </a:p>
        </p:txBody>
      </p:sp>
      <p:sp>
        <p:nvSpPr>
          <p:cNvPr id="18" name="TextBox 17">
            <a:extLst>
              <a:ext uri="{FF2B5EF4-FFF2-40B4-BE49-F238E27FC236}">
                <a16:creationId xmlns:a16="http://schemas.microsoft.com/office/drawing/2014/main" id="{5B0596EC-41B2-79C8-621E-75412E4F6452}"/>
              </a:ext>
            </a:extLst>
          </p:cNvPr>
          <p:cNvSpPr txBox="1"/>
          <p:nvPr/>
        </p:nvSpPr>
        <p:spPr>
          <a:xfrm>
            <a:off x="3176731" y="1954901"/>
            <a:ext cx="5838538" cy="1231106"/>
          </a:xfrm>
          <a:prstGeom prst="rect">
            <a:avLst/>
          </a:prstGeom>
          <a:noFill/>
        </p:spPr>
        <p:txBody>
          <a:bodyPr wrap="square">
            <a:spAutoFit/>
          </a:bodyPr>
          <a:lstStyle/>
          <a:p>
            <a:pPr algn="ctr" defTabSz="1425556">
              <a:spcAft>
                <a:spcPts val="1169"/>
              </a:spcAft>
              <a:defRPr/>
            </a:pPr>
            <a:r>
              <a:rPr lang="zh-CN" altLang="zh-CN" b="1" dirty="0"/>
              <a:t>BAI</a:t>
            </a:r>
            <a:r>
              <a:rPr lang="zh-CN" altLang="zh-CN" b="1" baseline="-25000" dirty="0"/>
              <a:t>i,t​</a:t>
            </a:r>
            <a:r>
              <a:rPr lang="en-US" altLang="zh-CN" b="1" baseline="-25000" dirty="0"/>
              <a:t> </a:t>
            </a:r>
            <a:r>
              <a:rPr lang="zh-CN" altLang="zh-CN" dirty="0"/>
              <a:t>∼</a:t>
            </a:r>
            <a:r>
              <a:rPr lang="en-US" altLang="zh-CN" dirty="0"/>
              <a:t> </a:t>
            </a:r>
            <a:r>
              <a:rPr lang="zh-CN" altLang="zh-CN" dirty="0"/>
              <a:t>Normal</a:t>
            </a:r>
            <a:r>
              <a:rPr lang="en-US" altLang="zh-CN" dirty="0"/>
              <a:t> </a:t>
            </a:r>
            <a:r>
              <a:rPr lang="zh-CN" altLang="zh-CN" dirty="0"/>
              <a:t>(α</a:t>
            </a:r>
            <a:r>
              <a:rPr lang="zh-CN" altLang="zh-CN" baseline="-25000" dirty="0"/>
              <a:t>BAI</a:t>
            </a:r>
            <a:r>
              <a:rPr lang="en-US" altLang="zh-CN" baseline="-25000" dirty="0"/>
              <a:t> </a:t>
            </a:r>
            <a:r>
              <a:rPr lang="zh-CN" altLang="zh-CN" dirty="0"/>
              <a:t>​</a:t>
            </a:r>
            <a:r>
              <a:rPr lang="en-US" altLang="zh-CN" dirty="0"/>
              <a:t>+ </a:t>
            </a:r>
            <a:r>
              <a:rPr lang="zh-CN" altLang="zh-CN" dirty="0"/>
              <a:t>β</a:t>
            </a:r>
            <a:r>
              <a:rPr lang="en-US" altLang="zh-CN" baseline="-25000" dirty="0"/>
              <a:t>1,SM</a:t>
            </a:r>
            <a:r>
              <a:rPr lang="en-US" altLang="zh-CN" dirty="0"/>
              <a:t> * Soil </a:t>
            </a:r>
            <a:r>
              <a:rPr lang="en-US" altLang="zh-CN" dirty="0" err="1"/>
              <a:t>moisture</a:t>
            </a:r>
            <a:r>
              <a:rPr lang="en-US" altLang="zh-CN" baseline="-25000" dirty="0" err="1"/>
              <a:t>t</a:t>
            </a:r>
            <a:r>
              <a:rPr lang="zh-CN" altLang="zh-CN" dirty="0"/>
              <a:t>,</a:t>
            </a:r>
            <a:r>
              <a:rPr lang="en-US" altLang="zh-CN" dirty="0"/>
              <a:t> </a:t>
            </a:r>
            <a:r>
              <a:rPr lang="zh-CN" altLang="zh-CN" dirty="0"/>
              <a:t>σ</a:t>
            </a:r>
            <a:r>
              <a:rPr lang="zh-CN" altLang="zh-CN" baseline="-25000" dirty="0"/>
              <a:t>BAI</a:t>
            </a:r>
            <a:r>
              <a:rPr lang="en-US" altLang="zh-CN" baseline="-25000" dirty="0"/>
              <a:t> </a:t>
            </a:r>
            <a:r>
              <a:rPr lang="zh-CN" altLang="zh-CN" dirty="0"/>
              <a:t>)</a:t>
            </a:r>
            <a:endParaRPr lang="en-US" altLang="zh-CN" dirty="0"/>
          </a:p>
          <a:p>
            <a:pPr algn="ctr" defTabSz="1425556">
              <a:spcAft>
                <a:spcPts val="1169"/>
              </a:spcAft>
              <a:defRPr/>
            </a:pPr>
            <a:r>
              <a:rPr lang="zh-CN" altLang="zh-CN" dirty="0"/>
              <a:t>G</a:t>
            </a:r>
            <a:r>
              <a:rPr lang="zh-CN" altLang="zh-CN" baseline="-25000" dirty="0"/>
              <a:t>i,t</a:t>
            </a:r>
            <a:r>
              <a:rPr lang="zh-CN" altLang="zh-CN" dirty="0"/>
              <a:t>​</a:t>
            </a:r>
            <a:r>
              <a:rPr lang="en-US" altLang="zh-CN" dirty="0"/>
              <a:t> </a:t>
            </a:r>
            <a:r>
              <a:rPr lang="zh-CN" altLang="zh-CN" dirty="0"/>
              <a:t>=</a:t>
            </a:r>
            <a:r>
              <a:rPr lang="en-US" altLang="zh-CN" dirty="0"/>
              <a:t> </a:t>
            </a:r>
            <a:r>
              <a:rPr lang="zh-CN" altLang="zh-CN" dirty="0"/>
              <a:t>BAI</a:t>
            </a:r>
            <a:r>
              <a:rPr lang="zh-CN" altLang="zh-CN" baseline="-25000" dirty="0"/>
              <a:t>i,t</a:t>
            </a:r>
            <a:r>
              <a:rPr lang="zh-CN" altLang="zh-CN" dirty="0"/>
              <a:t>​</a:t>
            </a:r>
            <a:r>
              <a:rPr lang="en-US" altLang="zh-CN" dirty="0"/>
              <a:t> </a:t>
            </a:r>
            <a:r>
              <a:rPr lang="zh-CN" altLang="zh-CN" dirty="0"/>
              <a:t>−</a:t>
            </a:r>
            <a:r>
              <a:rPr lang="en-US" altLang="zh-CN" dirty="0"/>
              <a:t> </a:t>
            </a:r>
            <a:r>
              <a:rPr lang="zh-CN" altLang="zh-CN" dirty="0"/>
              <a:t>α</a:t>
            </a:r>
            <a:r>
              <a:rPr lang="zh-CN" altLang="zh-CN" baseline="-25000" dirty="0"/>
              <a:t>BAI​</a:t>
            </a:r>
            <a:r>
              <a:rPr lang="zh-CN" altLang="zh-CN" dirty="0"/>
              <a:t> −</a:t>
            </a:r>
            <a:r>
              <a:rPr lang="en-US" altLang="zh-CN" dirty="0"/>
              <a:t> </a:t>
            </a:r>
            <a:r>
              <a:rPr lang="zh-CN" altLang="zh-CN" dirty="0"/>
              <a:t>β</a:t>
            </a:r>
            <a:r>
              <a:rPr lang="en-US" altLang="zh-CN" baseline="-25000" dirty="0"/>
              <a:t>1,SM</a:t>
            </a:r>
            <a:r>
              <a:rPr lang="en-US" altLang="zh-CN" dirty="0"/>
              <a:t> * Soil </a:t>
            </a:r>
            <a:r>
              <a:rPr lang="en-US" altLang="zh-CN" dirty="0" err="1"/>
              <a:t>moisture</a:t>
            </a:r>
            <a:r>
              <a:rPr lang="en-US" altLang="zh-CN" baseline="-25000" dirty="0" err="1"/>
              <a:t>t</a:t>
            </a:r>
            <a:endParaRPr lang="en-US" altLang="zh-CN" baseline="-25000" dirty="0"/>
          </a:p>
          <a:p>
            <a:pPr algn="ctr" defTabSz="1425556">
              <a:spcAft>
                <a:spcPts val="1169"/>
              </a:spcAft>
              <a:defRPr/>
            </a:pPr>
            <a:r>
              <a:rPr lang="zh-CN" altLang="zh-CN" dirty="0"/>
              <a:t>G</a:t>
            </a:r>
            <a:r>
              <a:rPr lang="zh-CN" altLang="zh-CN" baseline="-25000" dirty="0"/>
              <a:t>t</a:t>
            </a:r>
            <a:r>
              <a:rPr lang="zh-CN" altLang="zh-CN" dirty="0"/>
              <a:t>​</a:t>
            </a:r>
            <a:r>
              <a:rPr lang="en-US" altLang="zh-CN" dirty="0"/>
              <a:t> </a:t>
            </a:r>
            <a:r>
              <a:rPr lang="zh-CN" altLang="zh-CN" dirty="0"/>
              <a:t>=</a:t>
            </a:r>
            <a:r>
              <a:rPr lang="en-US" altLang="zh-CN" dirty="0"/>
              <a:t> </a:t>
            </a:r>
            <a:r>
              <a:rPr lang="zh-CN" altLang="zh-CN" dirty="0"/>
              <a:t>mean</a:t>
            </a:r>
            <a:r>
              <a:rPr lang="en-US" altLang="zh-CN" baseline="-25000" dirty="0"/>
              <a:t> </a:t>
            </a:r>
            <a:r>
              <a:rPr lang="zh-CN" altLang="zh-CN" baseline="-25000" dirty="0"/>
              <a:t>​</a:t>
            </a:r>
            <a:r>
              <a:rPr lang="zh-CN" altLang="zh-CN" dirty="0"/>
              <a:t>(G</a:t>
            </a:r>
            <a:r>
              <a:rPr lang="zh-CN" altLang="zh-CN" baseline="-25000" dirty="0"/>
              <a:t> i,t </a:t>
            </a:r>
            <a:r>
              <a:rPr lang="zh-CN" altLang="zh-CN" dirty="0"/>
              <a:t>​)</a:t>
            </a:r>
            <a:endParaRPr lang="en-US" altLang="zh-CN" dirty="0"/>
          </a:p>
        </p:txBody>
      </p:sp>
      <p:sp>
        <p:nvSpPr>
          <p:cNvPr id="20" name="TextBox 19">
            <a:extLst>
              <a:ext uri="{FF2B5EF4-FFF2-40B4-BE49-F238E27FC236}">
                <a16:creationId xmlns:a16="http://schemas.microsoft.com/office/drawing/2014/main" id="{4D9C4B29-A99E-E201-ABB4-ED155E5FFF69}"/>
              </a:ext>
            </a:extLst>
          </p:cNvPr>
          <p:cNvSpPr txBox="1"/>
          <p:nvPr/>
        </p:nvSpPr>
        <p:spPr>
          <a:xfrm>
            <a:off x="5574330" y="1538284"/>
            <a:ext cx="1901891" cy="369332"/>
          </a:xfrm>
          <a:prstGeom prst="rect">
            <a:avLst/>
          </a:prstGeom>
          <a:noFill/>
        </p:spPr>
        <p:txBody>
          <a:bodyPr wrap="square">
            <a:spAutoFit/>
          </a:bodyPr>
          <a:lstStyle/>
          <a:p>
            <a:pPr defTabSz="1425556">
              <a:spcAft>
                <a:spcPts val="1169"/>
              </a:spcAft>
              <a:defRPr/>
            </a:pPr>
            <a:r>
              <a:rPr lang="en-US" altLang="zh-CN" b="1" dirty="0">
                <a:solidFill>
                  <a:srgbClr val="303A46"/>
                </a:solidFill>
                <a:latin typeface="Arial"/>
                <a:cs typeface="Arial"/>
              </a:rPr>
              <a:t>Growth</a:t>
            </a:r>
          </a:p>
        </p:txBody>
      </p:sp>
    </p:spTree>
    <p:extLst>
      <p:ext uri="{BB962C8B-B14F-4D97-AF65-F5344CB8AC3E}">
        <p14:creationId xmlns:p14="http://schemas.microsoft.com/office/powerpoint/2010/main" val="8666267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AAC02616-B02D-DC3D-01C2-306E5005A97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12BE0266-9A9A-A163-F5BF-92B8B605774B}"/>
              </a:ext>
            </a:extLst>
          </p:cNvPr>
          <p:cNvSpPr/>
          <p:nvPr/>
        </p:nvSpPr>
        <p:spPr>
          <a:xfrm>
            <a:off x="353568" y="379398"/>
            <a:ext cx="11484864" cy="6099204"/>
          </a:xfrm>
          <a:prstGeom prst="rect">
            <a:avLst/>
          </a:prstGeom>
          <a:solidFill>
            <a:schemeClr val="bg1">
              <a:alpha val="90000"/>
            </a:schemeClr>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TextBox 2">
            <a:extLst>
              <a:ext uri="{FF2B5EF4-FFF2-40B4-BE49-F238E27FC236}">
                <a16:creationId xmlns:a16="http://schemas.microsoft.com/office/drawing/2014/main" id="{EF12CEBD-536D-F64A-5975-EDB94A9EC4E9}"/>
              </a:ext>
            </a:extLst>
          </p:cNvPr>
          <p:cNvSpPr txBox="1"/>
          <p:nvPr/>
        </p:nvSpPr>
        <p:spPr>
          <a:xfrm>
            <a:off x="540380" y="317555"/>
            <a:ext cx="12078340" cy="584775"/>
          </a:xfrm>
          <a:prstGeom prst="rect">
            <a:avLst/>
          </a:prstGeom>
          <a:noFill/>
        </p:spPr>
        <p:txBody>
          <a:bodyPr wrap="square">
            <a:spAutoFit/>
          </a:bodyPr>
          <a:lstStyle>
            <a:defPPr>
              <a:defRPr lang="zh-CN"/>
            </a:defPPr>
            <a:lvl1pPr>
              <a:defRPr sz="3200" b="1">
                <a:solidFill>
                  <a:schemeClr val="tx2">
                    <a:lumMod val="90000"/>
                    <a:lumOff val="10000"/>
                  </a:schemeClr>
                </a:solidFill>
                <a:effectLst>
                  <a:outerShdw blurRad="38100" dist="38100" dir="2700000" algn="tl">
                    <a:srgbClr val="000000">
                      <a:alpha val="43137"/>
                    </a:srgbClr>
                  </a:outerShdw>
                </a:effectLst>
              </a:defRPr>
            </a:lvl1pPr>
          </a:lstStyle>
          <a:p>
            <a:r>
              <a:rPr lang="en-US" altLang="zh-CN" dirty="0"/>
              <a:t>Chapter 2: Growth-Reproduction Trade-off</a:t>
            </a:r>
            <a:endParaRPr lang="zh-CN" altLang="en-US" dirty="0"/>
          </a:p>
        </p:txBody>
      </p:sp>
      <p:sp>
        <p:nvSpPr>
          <p:cNvPr id="18" name="TextBox 17">
            <a:extLst>
              <a:ext uri="{FF2B5EF4-FFF2-40B4-BE49-F238E27FC236}">
                <a16:creationId xmlns:a16="http://schemas.microsoft.com/office/drawing/2014/main" id="{C751A6BC-62E6-54FB-003C-78E61169D576}"/>
              </a:ext>
            </a:extLst>
          </p:cNvPr>
          <p:cNvSpPr txBox="1"/>
          <p:nvPr/>
        </p:nvSpPr>
        <p:spPr>
          <a:xfrm>
            <a:off x="3176731" y="1954901"/>
            <a:ext cx="5838538" cy="1231106"/>
          </a:xfrm>
          <a:prstGeom prst="rect">
            <a:avLst/>
          </a:prstGeom>
          <a:noFill/>
        </p:spPr>
        <p:txBody>
          <a:bodyPr wrap="square">
            <a:spAutoFit/>
          </a:bodyPr>
          <a:lstStyle/>
          <a:p>
            <a:pPr algn="ctr" defTabSz="1425556">
              <a:spcAft>
                <a:spcPts val="1169"/>
              </a:spcAft>
              <a:defRPr/>
            </a:pPr>
            <a:r>
              <a:rPr lang="zh-CN" altLang="zh-CN" dirty="0"/>
              <a:t>BAI</a:t>
            </a:r>
            <a:r>
              <a:rPr lang="zh-CN" altLang="zh-CN" baseline="-25000" dirty="0"/>
              <a:t>i,t</a:t>
            </a:r>
            <a:r>
              <a:rPr lang="zh-CN" altLang="zh-CN" b="1" baseline="-25000" dirty="0"/>
              <a:t>​</a:t>
            </a:r>
            <a:r>
              <a:rPr lang="en-US" altLang="zh-CN" b="1" baseline="-25000" dirty="0"/>
              <a:t> </a:t>
            </a:r>
            <a:r>
              <a:rPr lang="zh-CN" altLang="zh-CN" dirty="0"/>
              <a:t>∼</a:t>
            </a:r>
            <a:r>
              <a:rPr lang="en-US" altLang="zh-CN" dirty="0"/>
              <a:t> </a:t>
            </a:r>
            <a:r>
              <a:rPr lang="zh-CN" altLang="zh-CN" dirty="0"/>
              <a:t>Normal</a:t>
            </a:r>
            <a:r>
              <a:rPr lang="en-US" altLang="zh-CN" dirty="0"/>
              <a:t> </a:t>
            </a:r>
            <a:r>
              <a:rPr lang="zh-CN" altLang="zh-CN" dirty="0"/>
              <a:t>(α</a:t>
            </a:r>
            <a:r>
              <a:rPr lang="zh-CN" altLang="zh-CN" baseline="-25000" dirty="0"/>
              <a:t>BAI</a:t>
            </a:r>
            <a:r>
              <a:rPr lang="en-US" altLang="zh-CN" baseline="-25000" dirty="0"/>
              <a:t> </a:t>
            </a:r>
            <a:r>
              <a:rPr lang="zh-CN" altLang="zh-CN" dirty="0"/>
              <a:t>​</a:t>
            </a:r>
            <a:r>
              <a:rPr lang="en-US" altLang="zh-CN" dirty="0"/>
              <a:t>+ </a:t>
            </a:r>
            <a:r>
              <a:rPr lang="zh-CN" altLang="zh-CN" dirty="0"/>
              <a:t>β</a:t>
            </a:r>
            <a:r>
              <a:rPr lang="en-US" altLang="zh-CN" baseline="-25000" dirty="0"/>
              <a:t>1,SM</a:t>
            </a:r>
            <a:r>
              <a:rPr lang="en-US" altLang="zh-CN" dirty="0"/>
              <a:t> * Soil </a:t>
            </a:r>
            <a:r>
              <a:rPr lang="en-US" altLang="zh-CN" dirty="0" err="1"/>
              <a:t>moisture</a:t>
            </a:r>
            <a:r>
              <a:rPr lang="en-US" altLang="zh-CN" baseline="-25000" dirty="0" err="1"/>
              <a:t>t</a:t>
            </a:r>
            <a:r>
              <a:rPr lang="zh-CN" altLang="zh-CN" dirty="0"/>
              <a:t>,</a:t>
            </a:r>
            <a:r>
              <a:rPr lang="en-US" altLang="zh-CN" dirty="0"/>
              <a:t> </a:t>
            </a:r>
            <a:r>
              <a:rPr lang="zh-CN" altLang="zh-CN" dirty="0"/>
              <a:t>σ</a:t>
            </a:r>
            <a:r>
              <a:rPr lang="zh-CN" altLang="zh-CN" baseline="-25000" dirty="0"/>
              <a:t>BAI</a:t>
            </a:r>
            <a:r>
              <a:rPr lang="en-US" altLang="zh-CN" baseline="-25000" dirty="0"/>
              <a:t> </a:t>
            </a:r>
            <a:r>
              <a:rPr lang="zh-CN" altLang="zh-CN" dirty="0"/>
              <a:t>)</a:t>
            </a:r>
            <a:endParaRPr lang="en-US" altLang="zh-CN" dirty="0"/>
          </a:p>
          <a:p>
            <a:pPr algn="ctr" defTabSz="1425556">
              <a:spcAft>
                <a:spcPts val="1169"/>
              </a:spcAft>
              <a:defRPr/>
            </a:pPr>
            <a:r>
              <a:rPr lang="zh-CN" altLang="zh-CN" b="1" dirty="0"/>
              <a:t>G</a:t>
            </a:r>
            <a:r>
              <a:rPr lang="zh-CN" altLang="zh-CN" b="1" baseline="-25000" dirty="0"/>
              <a:t>i,t</a:t>
            </a:r>
            <a:r>
              <a:rPr lang="zh-CN" altLang="zh-CN" dirty="0"/>
              <a:t>​</a:t>
            </a:r>
            <a:r>
              <a:rPr lang="en-US" altLang="zh-CN" dirty="0"/>
              <a:t> </a:t>
            </a:r>
            <a:r>
              <a:rPr lang="zh-CN" altLang="zh-CN" dirty="0"/>
              <a:t>=</a:t>
            </a:r>
            <a:r>
              <a:rPr lang="en-US" altLang="zh-CN" dirty="0"/>
              <a:t> </a:t>
            </a:r>
            <a:r>
              <a:rPr lang="zh-CN" altLang="zh-CN" dirty="0"/>
              <a:t>BAI</a:t>
            </a:r>
            <a:r>
              <a:rPr lang="zh-CN" altLang="zh-CN" baseline="-25000" dirty="0"/>
              <a:t>i,t</a:t>
            </a:r>
            <a:r>
              <a:rPr lang="zh-CN" altLang="zh-CN" dirty="0"/>
              <a:t>​</a:t>
            </a:r>
            <a:r>
              <a:rPr lang="en-US" altLang="zh-CN" dirty="0"/>
              <a:t> </a:t>
            </a:r>
            <a:r>
              <a:rPr lang="zh-CN" altLang="zh-CN" dirty="0"/>
              <a:t>−</a:t>
            </a:r>
            <a:r>
              <a:rPr lang="en-US" altLang="zh-CN" dirty="0"/>
              <a:t> </a:t>
            </a:r>
            <a:r>
              <a:rPr lang="zh-CN" altLang="zh-CN" dirty="0"/>
              <a:t>α</a:t>
            </a:r>
            <a:r>
              <a:rPr lang="zh-CN" altLang="zh-CN" baseline="-25000" dirty="0"/>
              <a:t>BAI​</a:t>
            </a:r>
            <a:r>
              <a:rPr lang="zh-CN" altLang="zh-CN" dirty="0"/>
              <a:t> −</a:t>
            </a:r>
            <a:r>
              <a:rPr lang="en-US" altLang="zh-CN" dirty="0"/>
              <a:t> </a:t>
            </a:r>
            <a:r>
              <a:rPr lang="zh-CN" altLang="zh-CN" dirty="0"/>
              <a:t>β</a:t>
            </a:r>
            <a:r>
              <a:rPr lang="en-US" altLang="zh-CN" baseline="-25000" dirty="0"/>
              <a:t>1,SM</a:t>
            </a:r>
            <a:r>
              <a:rPr lang="en-US" altLang="zh-CN" dirty="0"/>
              <a:t> * Soil </a:t>
            </a:r>
            <a:r>
              <a:rPr lang="en-US" altLang="zh-CN" dirty="0" err="1"/>
              <a:t>moisture</a:t>
            </a:r>
            <a:r>
              <a:rPr lang="en-US" altLang="zh-CN" baseline="-25000" dirty="0" err="1"/>
              <a:t>t</a:t>
            </a:r>
            <a:endParaRPr lang="en-US" altLang="zh-CN" baseline="-25000" dirty="0"/>
          </a:p>
          <a:p>
            <a:pPr algn="ctr" defTabSz="1425556">
              <a:spcAft>
                <a:spcPts val="1169"/>
              </a:spcAft>
              <a:defRPr/>
            </a:pPr>
            <a:r>
              <a:rPr lang="zh-CN" altLang="zh-CN" dirty="0"/>
              <a:t>G</a:t>
            </a:r>
            <a:r>
              <a:rPr lang="zh-CN" altLang="zh-CN" baseline="-25000" dirty="0"/>
              <a:t>t</a:t>
            </a:r>
            <a:r>
              <a:rPr lang="zh-CN" altLang="zh-CN" dirty="0"/>
              <a:t>​</a:t>
            </a:r>
            <a:r>
              <a:rPr lang="en-US" altLang="zh-CN" dirty="0"/>
              <a:t> </a:t>
            </a:r>
            <a:r>
              <a:rPr lang="zh-CN" altLang="zh-CN" dirty="0"/>
              <a:t>=</a:t>
            </a:r>
            <a:r>
              <a:rPr lang="en-US" altLang="zh-CN" dirty="0"/>
              <a:t> </a:t>
            </a:r>
            <a:r>
              <a:rPr lang="zh-CN" altLang="zh-CN" dirty="0"/>
              <a:t>mean</a:t>
            </a:r>
            <a:r>
              <a:rPr lang="en-US" altLang="zh-CN" baseline="-25000" dirty="0"/>
              <a:t> </a:t>
            </a:r>
            <a:r>
              <a:rPr lang="zh-CN" altLang="zh-CN" baseline="-25000" dirty="0"/>
              <a:t>​</a:t>
            </a:r>
            <a:r>
              <a:rPr lang="zh-CN" altLang="zh-CN" dirty="0"/>
              <a:t>(G</a:t>
            </a:r>
            <a:r>
              <a:rPr lang="zh-CN" altLang="zh-CN" baseline="-25000" dirty="0"/>
              <a:t> i,t </a:t>
            </a:r>
            <a:r>
              <a:rPr lang="zh-CN" altLang="zh-CN" dirty="0"/>
              <a:t>​)</a:t>
            </a:r>
            <a:endParaRPr lang="en-US" altLang="zh-CN" dirty="0"/>
          </a:p>
        </p:txBody>
      </p:sp>
      <p:sp>
        <p:nvSpPr>
          <p:cNvPr id="20" name="TextBox 19">
            <a:extLst>
              <a:ext uri="{FF2B5EF4-FFF2-40B4-BE49-F238E27FC236}">
                <a16:creationId xmlns:a16="http://schemas.microsoft.com/office/drawing/2014/main" id="{199A1C06-77FF-2F68-84B5-BBB7298D9791}"/>
              </a:ext>
            </a:extLst>
          </p:cNvPr>
          <p:cNvSpPr txBox="1"/>
          <p:nvPr/>
        </p:nvSpPr>
        <p:spPr>
          <a:xfrm>
            <a:off x="5574330" y="1538284"/>
            <a:ext cx="1901891" cy="369332"/>
          </a:xfrm>
          <a:prstGeom prst="rect">
            <a:avLst/>
          </a:prstGeom>
          <a:noFill/>
        </p:spPr>
        <p:txBody>
          <a:bodyPr wrap="square">
            <a:spAutoFit/>
          </a:bodyPr>
          <a:lstStyle/>
          <a:p>
            <a:pPr defTabSz="1425556">
              <a:spcAft>
                <a:spcPts val="1169"/>
              </a:spcAft>
              <a:defRPr/>
            </a:pPr>
            <a:r>
              <a:rPr lang="en-US" altLang="zh-CN" b="1" dirty="0">
                <a:solidFill>
                  <a:srgbClr val="303A46"/>
                </a:solidFill>
                <a:latin typeface="Arial"/>
                <a:cs typeface="Arial"/>
              </a:rPr>
              <a:t>Growth</a:t>
            </a:r>
          </a:p>
        </p:txBody>
      </p:sp>
    </p:spTree>
    <p:extLst>
      <p:ext uri="{BB962C8B-B14F-4D97-AF65-F5344CB8AC3E}">
        <p14:creationId xmlns:p14="http://schemas.microsoft.com/office/powerpoint/2010/main" val="22462126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6E2DF46C-4400-9C8D-AE7F-C1C073D08DC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953C49B-D969-94D8-B6EF-E543F846299D}"/>
              </a:ext>
            </a:extLst>
          </p:cNvPr>
          <p:cNvSpPr/>
          <p:nvPr/>
        </p:nvSpPr>
        <p:spPr>
          <a:xfrm>
            <a:off x="353568" y="379398"/>
            <a:ext cx="11484864" cy="6099204"/>
          </a:xfrm>
          <a:prstGeom prst="rect">
            <a:avLst/>
          </a:prstGeom>
          <a:solidFill>
            <a:schemeClr val="bg1">
              <a:alpha val="90000"/>
            </a:schemeClr>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TextBox 2">
            <a:extLst>
              <a:ext uri="{FF2B5EF4-FFF2-40B4-BE49-F238E27FC236}">
                <a16:creationId xmlns:a16="http://schemas.microsoft.com/office/drawing/2014/main" id="{1823C1E6-315C-D86A-2B60-0B8037C65443}"/>
              </a:ext>
            </a:extLst>
          </p:cNvPr>
          <p:cNvSpPr txBox="1"/>
          <p:nvPr/>
        </p:nvSpPr>
        <p:spPr>
          <a:xfrm>
            <a:off x="540380" y="317555"/>
            <a:ext cx="12078340" cy="584775"/>
          </a:xfrm>
          <a:prstGeom prst="rect">
            <a:avLst/>
          </a:prstGeom>
          <a:noFill/>
        </p:spPr>
        <p:txBody>
          <a:bodyPr wrap="square">
            <a:spAutoFit/>
          </a:bodyPr>
          <a:lstStyle>
            <a:defPPr>
              <a:defRPr lang="zh-CN"/>
            </a:defPPr>
            <a:lvl1pPr>
              <a:defRPr sz="3200" b="1">
                <a:solidFill>
                  <a:schemeClr val="tx2">
                    <a:lumMod val="90000"/>
                    <a:lumOff val="10000"/>
                  </a:schemeClr>
                </a:solidFill>
                <a:effectLst>
                  <a:outerShdw blurRad="38100" dist="38100" dir="2700000" algn="tl">
                    <a:srgbClr val="000000">
                      <a:alpha val="43137"/>
                    </a:srgbClr>
                  </a:outerShdw>
                </a:effectLst>
              </a:defRPr>
            </a:lvl1pPr>
          </a:lstStyle>
          <a:p>
            <a:r>
              <a:rPr lang="en-US" altLang="zh-CN" dirty="0"/>
              <a:t>Chapter 2: Growth-Reproduction Trade-off</a:t>
            </a:r>
            <a:endParaRPr lang="zh-CN" altLang="en-US" dirty="0"/>
          </a:p>
        </p:txBody>
      </p:sp>
      <p:sp>
        <p:nvSpPr>
          <p:cNvPr id="18" name="TextBox 17">
            <a:extLst>
              <a:ext uri="{FF2B5EF4-FFF2-40B4-BE49-F238E27FC236}">
                <a16:creationId xmlns:a16="http://schemas.microsoft.com/office/drawing/2014/main" id="{C36DB6C7-F106-3096-A44B-AFAFB2282787}"/>
              </a:ext>
            </a:extLst>
          </p:cNvPr>
          <p:cNvSpPr txBox="1"/>
          <p:nvPr/>
        </p:nvSpPr>
        <p:spPr>
          <a:xfrm>
            <a:off x="3176731" y="1954901"/>
            <a:ext cx="5838538" cy="1231106"/>
          </a:xfrm>
          <a:prstGeom prst="rect">
            <a:avLst/>
          </a:prstGeom>
          <a:noFill/>
        </p:spPr>
        <p:txBody>
          <a:bodyPr wrap="square">
            <a:spAutoFit/>
          </a:bodyPr>
          <a:lstStyle/>
          <a:p>
            <a:pPr algn="ctr" defTabSz="1425556">
              <a:spcAft>
                <a:spcPts val="1169"/>
              </a:spcAft>
              <a:defRPr/>
            </a:pPr>
            <a:r>
              <a:rPr lang="zh-CN" altLang="zh-CN" dirty="0"/>
              <a:t>BAI</a:t>
            </a:r>
            <a:r>
              <a:rPr lang="zh-CN" altLang="zh-CN" baseline="-25000" dirty="0"/>
              <a:t>i,t</a:t>
            </a:r>
            <a:r>
              <a:rPr lang="zh-CN" altLang="zh-CN" b="1" baseline="-25000" dirty="0"/>
              <a:t>​</a:t>
            </a:r>
            <a:r>
              <a:rPr lang="en-US" altLang="zh-CN" b="1" baseline="-25000" dirty="0"/>
              <a:t> </a:t>
            </a:r>
            <a:r>
              <a:rPr lang="zh-CN" altLang="zh-CN" dirty="0"/>
              <a:t>∼</a:t>
            </a:r>
            <a:r>
              <a:rPr lang="en-US" altLang="zh-CN" dirty="0"/>
              <a:t> </a:t>
            </a:r>
            <a:r>
              <a:rPr lang="zh-CN" altLang="zh-CN" dirty="0"/>
              <a:t>Normal</a:t>
            </a:r>
            <a:r>
              <a:rPr lang="en-US" altLang="zh-CN" dirty="0"/>
              <a:t> </a:t>
            </a:r>
            <a:r>
              <a:rPr lang="zh-CN" altLang="zh-CN" dirty="0"/>
              <a:t>(α</a:t>
            </a:r>
            <a:r>
              <a:rPr lang="zh-CN" altLang="zh-CN" baseline="-25000" dirty="0"/>
              <a:t>BAI</a:t>
            </a:r>
            <a:r>
              <a:rPr lang="en-US" altLang="zh-CN" baseline="-25000" dirty="0"/>
              <a:t> </a:t>
            </a:r>
            <a:r>
              <a:rPr lang="zh-CN" altLang="zh-CN" dirty="0"/>
              <a:t>​</a:t>
            </a:r>
            <a:r>
              <a:rPr lang="en-US" altLang="zh-CN" dirty="0"/>
              <a:t>+ </a:t>
            </a:r>
            <a:r>
              <a:rPr lang="zh-CN" altLang="zh-CN" dirty="0"/>
              <a:t>β</a:t>
            </a:r>
            <a:r>
              <a:rPr lang="en-US" altLang="zh-CN" baseline="-25000" dirty="0"/>
              <a:t>1,SM</a:t>
            </a:r>
            <a:r>
              <a:rPr lang="en-US" altLang="zh-CN" dirty="0"/>
              <a:t> * Soil </a:t>
            </a:r>
            <a:r>
              <a:rPr lang="en-US" altLang="zh-CN" dirty="0" err="1"/>
              <a:t>moisture</a:t>
            </a:r>
            <a:r>
              <a:rPr lang="en-US" altLang="zh-CN" baseline="-25000" dirty="0" err="1"/>
              <a:t>t</a:t>
            </a:r>
            <a:r>
              <a:rPr lang="zh-CN" altLang="zh-CN" dirty="0"/>
              <a:t>,</a:t>
            </a:r>
            <a:r>
              <a:rPr lang="en-US" altLang="zh-CN" dirty="0"/>
              <a:t> </a:t>
            </a:r>
            <a:r>
              <a:rPr lang="zh-CN" altLang="zh-CN" dirty="0"/>
              <a:t>σ</a:t>
            </a:r>
            <a:r>
              <a:rPr lang="zh-CN" altLang="zh-CN" baseline="-25000" dirty="0"/>
              <a:t>BAI</a:t>
            </a:r>
            <a:r>
              <a:rPr lang="en-US" altLang="zh-CN" baseline="-25000" dirty="0"/>
              <a:t> </a:t>
            </a:r>
            <a:r>
              <a:rPr lang="zh-CN" altLang="zh-CN" dirty="0"/>
              <a:t>)</a:t>
            </a:r>
            <a:endParaRPr lang="en-US" altLang="zh-CN" dirty="0"/>
          </a:p>
          <a:p>
            <a:pPr algn="ctr" defTabSz="1425556">
              <a:spcAft>
                <a:spcPts val="1169"/>
              </a:spcAft>
              <a:defRPr/>
            </a:pPr>
            <a:r>
              <a:rPr lang="zh-CN" altLang="zh-CN" dirty="0"/>
              <a:t>G</a:t>
            </a:r>
            <a:r>
              <a:rPr lang="zh-CN" altLang="zh-CN" baseline="-25000" dirty="0"/>
              <a:t>i,t</a:t>
            </a:r>
            <a:r>
              <a:rPr lang="zh-CN" altLang="zh-CN" dirty="0"/>
              <a:t>​</a:t>
            </a:r>
            <a:r>
              <a:rPr lang="en-US" altLang="zh-CN" dirty="0"/>
              <a:t> </a:t>
            </a:r>
            <a:r>
              <a:rPr lang="zh-CN" altLang="zh-CN" dirty="0"/>
              <a:t>=</a:t>
            </a:r>
            <a:r>
              <a:rPr lang="en-US" altLang="zh-CN" dirty="0"/>
              <a:t> </a:t>
            </a:r>
            <a:r>
              <a:rPr lang="zh-CN" altLang="zh-CN" dirty="0"/>
              <a:t>BAI</a:t>
            </a:r>
            <a:r>
              <a:rPr lang="zh-CN" altLang="zh-CN" baseline="-25000" dirty="0"/>
              <a:t>i,t</a:t>
            </a:r>
            <a:r>
              <a:rPr lang="zh-CN" altLang="zh-CN" dirty="0"/>
              <a:t>​</a:t>
            </a:r>
            <a:r>
              <a:rPr lang="en-US" altLang="zh-CN" dirty="0"/>
              <a:t> </a:t>
            </a:r>
            <a:r>
              <a:rPr lang="zh-CN" altLang="zh-CN" dirty="0"/>
              <a:t>−</a:t>
            </a:r>
            <a:r>
              <a:rPr lang="en-US" altLang="zh-CN" dirty="0"/>
              <a:t> </a:t>
            </a:r>
            <a:r>
              <a:rPr lang="zh-CN" altLang="zh-CN" dirty="0"/>
              <a:t>α</a:t>
            </a:r>
            <a:r>
              <a:rPr lang="zh-CN" altLang="zh-CN" baseline="-25000" dirty="0"/>
              <a:t>BAI​</a:t>
            </a:r>
            <a:r>
              <a:rPr lang="zh-CN" altLang="zh-CN" dirty="0"/>
              <a:t> −</a:t>
            </a:r>
            <a:r>
              <a:rPr lang="en-US" altLang="zh-CN" dirty="0"/>
              <a:t> </a:t>
            </a:r>
            <a:r>
              <a:rPr lang="zh-CN" altLang="zh-CN" dirty="0"/>
              <a:t>β</a:t>
            </a:r>
            <a:r>
              <a:rPr lang="en-US" altLang="zh-CN" baseline="-25000" dirty="0"/>
              <a:t>1,SM</a:t>
            </a:r>
            <a:r>
              <a:rPr lang="en-US" altLang="zh-CN" dirty="0"/>
              <a:t> * Soil </a:t>
            </a:r>
            <a:r>
              <a:rPr lang="en-US" altLang="zh-CN" dirty="0" err="1"/>
              <a:t>moisture</a:t>
            </a:r>
            <a:r>
              <a:rPr lang="en-US" altLang="zh-CN" baseline="-25000" dirty="0" err="1"/>
              <a:t>t</a:t>
            </a:r>
            <a:endParaRPr lang="en-US" altLang="zh-CN" baseline="-25000" dirty="0"/>
          </a:p>
          <a:p>
            <a:pPr algn="ctr" defTabSz="1425556">
              <a:spcAft>
                <a:spcPts val="1169"/>
              </a:spcAft>
              <a:defRPr/>
            </a:pPr>
            <a:r>
              <a:rPr lang="zh-CN" altLang="zh-CN" b="1" dirty="0"/>
              <a:t>G</a:t>
            </a:r>
            <a:r>
              <a:rPr lang="zh-CN" altLang="zh-CN" b="1" baseline="-25000" dirty="0"/>
              <a:t>t</a:t>
            </a:r>
            <a:r>
              <a:rPr lang="zh-CN" altLang="zh-CN" dirty="0"/>
              <a:t>​</a:t>
            </a:r>
            <a:r>
              <a:rPr lang="en-US" altLang="zh-CN" dirty="0"/>
              <a:t> </a:t>
            </a:r>
            <a:r>
              <a:rPr lang="zh-CN" altLang="zh-CN" dirty="0"/>
              <a:t>=</a:t>
            </a:r>
            <a:r>
              <a:rPr lang="en-US" altLang="zh-CN" dirty="0"/>
              <a:t> </a:t>
            </a:r>
            <a:r>
              <a:rPr lang="zh-CN" altLang="zh-CN" dirty="0"/>
              <a:t>mean</a:t>
            </a:r>
            <a:r>
              <a:rPr lang="en-US" altLang="zh-CN" baseline="-25000" dirty="0"/>
              <a:t> </a:t>
            </a:r>
            <a:r>
              <a:rPr lang="zh-CN" altLang="zh-CN" baseline="-25000" dirty="0"/>
              <a:t>​</a:t>
            </a:r>
            <a:r>
              <a:rPr lang="zh-CN" altLang="zh-CN" dirty="0"/>
              <a:t>(G</a:t>
            </a:r>
            <a:r>
              <a:rPr lang="zh-CN" altLang="zh-CN" baseline="-25000" dirty="0"/>
              <a:t> i,t </a:t>
            </a:r>
            <a:r>
              <a:rPr lang="zh-CN" altLang="zh-CN" dirty="0"/>
              <a:t>​)</a:t>
            </a:r>
            <a:endParaRPr lang="en-US" altLang="zh-CN" dirty="0"/>
          </a:p>
        </p:txBody>
      </p:sp>
      <p:sp>
        <p:nvSpPr>
          <p:cNvPr id="20" name="TextBox 19">
            <a:extLst>
              <a:ext uri="{FF2B5EF4-FFF2-40B4-BE49-F238E27FC236}">
                <a16:creationId xmlns:a16="http://schemas.microsoft.com/office/drawing/2014/main" id="{2D74F894-3DB6-BE2E-BE48-ECB7E4537BDC}"/>
              </a:ext>
            </a:extLst>
          </p:cNvPr>
          <p:cNvSpPr txBox="1"/>
          <p:nvPr/>
        </p:nvSpPr>
        <p:spPr>
          <a:xfrm>
            <a:off x="5574330" y="1538284"/>
            <a:ext cx="1901891" cy="369332"/>
          </a:xfrm>
          <a:prstGeom prst="rect">
            <a:avLst/>
          </a:prstGeom>
          <a:noFill/>
        </p:spPr>
        <p:txBody>
          <a:bodyPr wrap="square">
            <a:spAutoFit/>
          </a:bodyPr>
          <a:lstStyle/>
          <a:p>
            <a:pPr defTabSz="1425556">
              <a:spcAft>
                <a:spcPts val="1169"/>
              </a:spcAft>
              <a:defRPr/>
            </a:pPr>
            <a:r>
              <a:rPr lang="en-US" altLang="zh-CN" b="1" dirty="0">
                <a:solidFill>
                  <a:srgbClr val="303A46"/>
                </a:solidFill>
                <a:latin typeface="Arial"/>
                <a:cs typeface="Arial"/>
              </a:rPr>
              <a:t>Growth</a:t>
            </a:r>
          </a:p>
        </p:txBody>
      </p:sp>
    </p:spTree>
    <p:extLst>
      <p:ext uri="{BB962C8B-B14F-4D97-AF65-F5344CB8AC3E}">
        <p14:creationId xmlns:p14="http://schemas.microsoft.com/office/powerpoint/2010/main" val="20261481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15AFB4D8-675A-00EA-145A-D5294F05A45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4172913-881C-29B1-86C6-1D382766228D}"/>
              </a:ext>
            </a:extLst>
          </p:cNvPr>
          <p:cNvSpPr/>
          <p:nvPr/>
        </p:nvSpPr>
        <p:spPr>
          <a:xfrm>
            <a:off x="353568" y="379398"/>
            <a:ext cx="11484864" cy="6099204"/>
          </a:xfrm>
          <a:prstGeom prst="rect">
            <a:avLst/>
          </a:prstGeom>
          <a:solidFill>
            <a:schemeClr val="bg1">
              <a:alpha val="90000"/>
            </a:schemeClr>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TextBox 2">
            <a:extLst>
              <a:ext uri="{FF2B5EF4-FFF2-40B4-BE49-F238E27FC236}">
                <a16:creationId xmlns:a16="http://schemas.microsoft.com/office/drawing/2014/main" id="{8C9AEF86-4861-C12B-EB0C-BA6C2E25FFC0}"/>
              </a:ext>
            </a:extLst>
          </p:cNvPr>
          <p:cNvSpPr txBox="1"/>
          <p:nvPr/>
        </p:nvSpPr>
        <p:spPr>
          <a:xfrm>
            <a:off x="540380" y="317555"/>
            <a:ext cx="12078340" cy="584775"/>
          </a:xfrm>
          <a:prstGeom prst="rect">
            <a:avLst/>
          </a:prstGeom>
          <a:noFill/>
        </p:spPr>
        <p:txBody>
          <a:bodyPr wrap="square">
            <a:spAutoFit/>
          </a:bodyPr>
          <a:lstStyle>
            <a:defPPr>
              <a:defRPr lang="zh-CN"/>
            </a:defPPr>
            <a:lvl1pPr>
              <a:defRPr sz="3200" b="1">
                <a:solidFill>
                  <a:schemeClr val="tx2">
                    <a:lumMod val="90000"/>
                    <a:lumOff val="10000"/>
                  </a:schemeClr>
                </a:solidFill>
                <a:effectLst>
                  <a:outerShdw blurRad="38100" dist="38100" dir="2700000" algn="tl">
                    <a:srgbClr val="000000">
                      <a:alpha val="43137"/>
                    </a:srgbClr>
                  </a:outerShdw>
                </a:effectLst>
              </a:defRPr>
            </a:lvl1pPr>
          </a:lstStyle>
          <a:p>
            <a:r>
              <a:rPr lang="en-US" altLang="zh-CN" dirty="0"/>
              <a:t>Chapter 2: Growth-Reproduction Trade-off</a:t>
            </a:r>
            <a:endParaRPr lang="zh-CN" altLang="en-US" dirty="0"/>
          </a:p>
        </p:txBody>
      </p:sp>
      <p:sp>
        <p:nvSpPr>
          <p:cNvPr id="18" name="TextBox 17">
            <a:extLst>
              <a:ext uri="{FF2B5EF4-FFF2-40B4-BE49-F238E27FC236}">
                <a16:creationId xmlns:a16="http://schemas.microsoft.com/office/drawing/2014/main" id="{39BFBEDF-91C6-CFF0-C00B-686E1A9FA8C4}"/>
              </a:ext>
            </a:extLst>
          </p:cNvPr>
          <p:cNvSpPr txBox="1"/>
          <p:nvPr/>
        </p:nvSpPr>
        <p:spPr>
          <a:xfrm>
            <a:off x="3176731" y="1954901"/>
            <a:ext cx="5838538" cy="1231106"/>
          </a:xfrm>
          <a:prstGeom prst="rect">
            <a:avLst/>
          </a:prstGeom>
          <a:noFill/>
        </p:spPr>
        <p:txBody>
          <a:bodyPr wrap="square">
            <a:spAutoFit/>
          </a:bodyPr>
          <a:lstStyle/>
          <a:p>
            <a:pPr algn="ctr" defTabSz="1425556">
              <a:spcAft>
                <a:spcPts val="1169"/>
              </a:spcAft>
              <a:defRPr/>
            </a:pPr>
            <a:r>
              <a:rPr lang="zh-CN" altLang="zh-CN" dirty="0"/>
              <a:t>BAI</a:t>
            </a:r>
            <a:r>
              <a:rPr lang="zh-CN" altLang="zh-CN" baseline="-25000" dirty="0"/>
              <a:t>i,t​</a:t>
            </a:r>
            <a:r>
              <a:rPr lang="en-US" altLang="zh-CN" baseline="-25000" dirty="0"/>
              <a:t> </a:t>
            </a:r>
            <a:r>
              <a:rPr lang="zh-CN" altLang="zh-CN" dirty="0"/>
              <a:t>∼</a:t>
            </a:r>
            <a:r>
              <a:rPr lang="en-US" altLang="zh-CN" dirty="0"/>
              <a:t> </a:t>
            </a:r>
            <a:r>
              <a:rPr lang="zh-CN" altLang="zh-CN" dirty="0"/>
              <a:t>Normal</a:t>
            </a:r>
            <a:r>
              <a:rPr lang="en-US" altLang="zh-CN" dirty="0"/>
              <a:t> </a:t>
            </a:r>
            <a:r>
              <a:rPr lang="zh-CN" altLang="zh-CN" dirty="0"/>
              <a:t>(α</a:t>
            </a:r>
            <a:r>
              <a:rPr lang="zh-CN" altLang="zh-CN" baseline="-25000" dirty="0"/>
              <a:t>BAI</a:t>
            </a:r>
            <a:r>
              <a:rPr lang="en-US" altLang="zh-CN" baseline="-25000" dirty="0"/>
              <a:t> </a:t>
            </a:r>
            <a:r>
              <a:rPr lang="zh-CN" altLang="zh-CN" dirty="0"/>
              <a:t>​</a:t>
            </a:r>
            <a:r>
              <a:rPr lang="en-US" altLang="zh-CN" dirty="0"/>
              <a:t>+ </a:t>
            </a:r>
            <a:r>
              <a:rPr lang="zh-CN" altLang="zh-CN" dirty="0"/>
              <a:t>β</a:t>
            </a:r>
            <a:r>
              <a:rPr lang="en-US" altLang="zh-CN" baseline="-25000" dirty="0"/>
              <a:t>1,SM</a:t>
            </a:r>
            <a:r>
              <a:rPr lang="en-US" altLang="zh-CN" dirty="0"/>
              <a:t> * Soil </a:t>
            </a:r>
            <a:r>
              <a:rPr lang="en-US" altLang="zh-CN" dirty="0" err="1"/>
              <a:t>moisture</a:t>
            </a:r>
            <a:r>
              <a:rPr lang="en-US" altLang="zh-CN" baseline="-25000" dirty="0" err="1"/>
              <a:t>t</a:t>
            </a:r>
            <a:r>
              <a:rPr lang="zh-CN" altLang="zh-CN" dirty="0"/>
              <a:t>,</a:t>
            </a:r>
            <a:r>
              <a:rPr lang="en-US" altLang="zh-CN" dirty="0"/>
              <a:t> </a:t>
            </a:r>
            <a:r>
              <a:rPr lang="zh-CN" altLang="zh-CN" dirty="0"/>
              <a:t>σ</a:t>
            </a:r>
            <a:r>
              <a:rPr lang="zh-CN" altLang="zh-CN" baseline="-25000" dirty="0"/>
              <a:t>BAI</a:t>
            </a:r>
            <a:r>
              <a:rPr lang="en-US" altLang="zh-CN" baseline="-25000" dirty="0"/>
              <a:t> </a:t>
            </a:r>
            <a:r>
              <a:rPr lang="zh-CN" altLang="zh-CN" dirty="0"/>
              <a:t>)</a:t>
            </a:r>
            <a:endParaRPr lang="en-US" altLang="zh-CN" dirty="0"/>
          </a:p>
          <a:p>
            <a:pPr algn="ctr" defTabSz="1425556">
              <a:spcAft>
                <a:spcPts val="1169"/>
              </a:spcAft>
              <a:defRPr/>
            </a:pPr>
            <a:r>
              <a:rPr lang="zh-CN" altLang="zh-CN" dirty="0"/>
              <a:t>G</a:t>
            </a:r>
            <a:r>
              <a:rPr lang="zh-CN" altLang="zh-CN" baseline="-25000" dirty="0"/>
              <a:t>i,t</a:t>
            </a:r>
            <a:r>
              <a:rPr lang="zh-CN" altLang="zh-CN" dirty="0"/>
              <a:t>​</a:t>
            </a:r>
            <a:r>
              <a:rPr lang="en-US" altLang="zh-CN" dirty="0"/>
              <a:t> </a:t>
            </a:r>
            <a:r>
              <a:rPr lang="zh-CN" altLang="zh-CN" dirty="0"/>
              <a:t>=</a:t>
            </a:r>
            <a:r>
              <a:rPr lang="en-US" altLang="zh-CN" dirty="0"/>
              <a:t> </a:t>
            </a:r>
            <a:r>
              <a:rPr lang="zh-CN" altLang="zh-CN" dirty="0"/>
              <a:t>BAI</a:t>
            </a:r>
            <a:r>
              <a:rPr lang="zh-CN" altLang="zh-CN" baseline="-25000" dirty="0"/>
              <a:t>i,t</a:t>
            </a:r>
            <a:r>
              <a:rPr lang="zh-CN" altLang="zh-CN" dirty="0"/>
              <a:t>​</a:t>
            </a:r>
            <a:r>
              <a:rPr lang="en-US" altLang="zh-CN" dirty="0"/>
              <a:t> </a:t>
            </a:r>
            <a:r>
              <a:rPr lang="zh-CN" altLang="zh-CN" dirty="0"/>
              <a:t>−</a:t>
            </a:r>
            <a:r>
              <a:rPr lang="en-US" altLang="zh-CN" dirty="0"/>
              <a:t> </a:t>
            </a:r>
            <a:r>
              <a:rPr lang="zh-CN" altLang="zh-CN" dirty="0"/>
              <a:t>α</a:t>
            </a:r>
            <a:r>
              <a:rPr lang="zh-CN" altLang="zh-CN" baseline="-25000" dirty="0"/>
              <a:t>BAI​</a:t>
            </a:r>
            <a:r>
              <a:rPr lang="zh-CN" altLang="zh-CN" dirty="0"/>
              <a:t> −</a:t>
            </a:r>
            <a:r>
              <a:rPr lang="en-US" altLang="zh-CN" dirty="0"/>
              <a:t> </a:t>
            </a:r>
            <a:r>
              <a:rPr lang="zh-CN" altLang="zh-CN" dirty="0"/>
              <a:t>β</a:t>
            </a:r>
            <a:r>
              <a:rPr lang="en-US" altLang="zh-CN" baseline="-25000" dirty="0"/>
              <a:t>1,SM</a:t>
            </a:r>
            <a:r>
              <a:rPr lang="en-US" altLang="zh-CN" dirty="0"/>
              <a:t> * Soil </a:t>
            </a:r>
            <a:r>
              <a:rPr lang="en-US" altLang="zh-CN" dirty="0" err="1"/>
              <a:t>moisture</a:t>
            </a:r>
            <a:r>
              <a:rPr lang="en-US" altLang="zh-CN" baseline="-25000" dirty="0" err="1"/>
              <a:t>t</a:t>
            </a:r>
            <a:endParaRPr lang="en-US" altLang="zh-CN" baseline="-25000" dirty="0"/>
          </a:p>
          <a:p>
            <a:pPr algn="ctr" defTabSz="1425556">
              <a:spcAft>
                <a:spcPts val="1169"/>
              </a:spcAft>
              <a:defRPr/>
            </a:pPr>
            <a:r>
              <a:rPr lang="zh-CN" altLang="zh-CN" dirty="0"/>
              <a:t>G</a:t>
            </a:r>
            <a:r>
              <a:rPr lang="zh-CN" altLang="zh-CN" baseline="-25000" dirty="0"/>
              <a:t>t</a:t>
            </a:r>
            <a:r>
              <a:rPr lang="zh-CN" altLang="zh-CN" dirty="0"/>
              <a:t>​</a:t>
            </a:r>
            <a:r>
              <a:rPr lang="en-US" altLang="zh-CN" dirty="0"/>
              <a:t> </a:t>
            </a:r>
            <a:r>
              <a:rPr lang="zh-CN" altLang="zh-CN" dirty="0"/>
              <a:t>=</a:t>
            </a:r>
            <a:r>
              <a:rPr lang="en-US" altLang="zh-CN" dirty="0"/>
              <a:t> </a:t>
            </a:r>
            <a:r>
              <a:rPr lang="zh-CN" altLang="zh-CN" dirty="0"/>
              <a:t>mean</a:t>
            </a:r>
            <a:r>
              <a:rPr lang="en-US" altLang="zh-CN" baseline="-25000" dirty="0"/>
              <a:t> </a:t>
            </a:r>
            <a:r>
              <a:rPr lang="zh-CN" altLang="zh-CN" baseline="-25000" dirty="0"/>
              <a:t>​</a:t>
            </a:r>
            <a:r>
              <a:rPr lang="zh-CN" altLang="zh-CN" dirty="0"/>
              <a:t>(G</a:t>
            </a:r>
            <a:r>
              <a:rPr lang="zh-CN" altLang="zh-CN" baseline="-25000" dirty="0"/>
              <a:t> i,t </a:t>
            </a:r>
            <a:r>
              <a:rPr lang="zh-CN" altLang="zh-CN" dirty="0"/>
              <a:t>​)</a:t>
            </a:r>
            <a:endParaRPr lang="en-US" altLang="zh-CN" dirty="0"/>
          </a:p>
        </p:txBody>
      </p:sp>
      <p:sp>
        <p:nvSpPr>
          <p:cNvPr id="20" name="TextBox 19">
            <a:extLst>
              <a:ext uri="{FF2B5EF4-FFF2-40B4-BE49-F238E27FC236}">
                <a16:creationId xmlns:a16="http://schemas.microsoft.com/office/drawing/2014/main" id="{AA1BA894-A855-DCD2-41C8-1E5D79383ECC}"/>
              </a:ext>
            </a:extLst>
          </p:cNvPr>
          <p:cNvSpPr txBox="1"/>
          <p:nvPr/>
        </p:nvSpPr>
        <p:spPr>
          <a:xfrm>
            <a:off x="5574330" y="1538284"/>
            <a:ext cx="1901891" cy="369332"/>
          </a:xfrm>
          <a:prstGeom prst="rect">
            <a:avLst/>
          </a:prstGeom>
          <a:noFill/>
        </p:spPr>
        <p:txBody>
          <a:bodyPr wrap="square">
            <a:spAutoFit/>
          </a:bodyPr>
          <a:lstStyle/>
          <a:p>
            <a:pPr defTabSz="1425556">
              <a:spcAft>
                <a:spcPts val="1169"/>
              </a:spcAft>
              <a:defRPr/>
            </a:pPr>
            <a:r>
              <a:rPr lang="en-US" altLang="zh-CN" b="1" dirty="0">
                <a:solidFill>
                  <a:srgbClr val="303A46"/>
                </a:solidFill>
                <a:latin typeface="Arial"/>
                <a:cs typeface="Arial"/>
              </a:rPr>
              <a:t>Growth</a:t>
            </a:r>
          </a:p>
        </p:txBody>
      </p:sp>
      <p:sp>
        <p:nvSpPr>
          <p:cNvPr id="22" name="TextBox 21">
            <a:extLst>
              <a:ext uri="{FF2B5EF4-FFF2-40B4-BE49-F238E27FC236}">
                <a16:creationId xmlns:a16="http://schemas.microsoft.com/office/drawing/2014/main" id="{6A69B2E1-30D3-CD4B-1EDA-1621A427FCE4}"/>
              </a:ext>
            </a:extLst>
          </p:cNvPr>
          <p:cNvSpPr txBox="1"/>
          <p:nvPr/>
        </p:nvSpPr>
        <p:spPr>
          <a:xfrm>
            <a:off x="3610796" y="3931284"/>
            <a:ext cx="5108451" cy="1292662"/>
          </a:xfrm>
          <a:prstGeom prst="rect">
            <a:avLst/>
          </a:prstGeom>
          <a:noFill/>
        </p:spPr>
        <p:txBody>
          <a:bodyPr wrap="square">
            <a:spAutoFit/>
          </a:bodyPr>
          <a:lstStyle/>
          <a:p>
            <a:pPr algn="ctr"/>
            <a:r>
              <a:rPr lang="zh-CN" altLang="zh-CN" b="1" dirty="0"/>
              <a:t>μ</a:t>
            </a:r>
            <a:r>
              <a:rPr lang="zh-CN" altLang="zh-CN" b="1" baseline="-25000" dirty="0"/>
              <a:t>sc,t</a:t>
            </a:r>
            <a:r>
              <a:rPr lang="en-US" altLang="zh-CN" dirty="0"/>
              <a:t> </a:t>
            </a:r>
            <a:r>
              <a:rPr lang="zh-CN" altLang="zh-CN" dirty="0"/>
              <a:t>=</a:t>
            </a:r>
            <a:r>
              <a:rPr lang="en-US" altLang="zh-CN" dirty="0"/>
              <a:t> </a:t>
            </a:r>
            <a:r>
              <a:rPr lang="zh-CN" altLang="zh-CN" dirty="0"/>
              <a:t>α</a:t>
            </a:r>
            <a:r>
              <a:rPr lang="zh-CN" altLang="zh-CN" baseline="-25000" dirty="0"/>
              <a:t>sc</a:t>
            </a:r>
            <a:r>
              <a:rPr lang="zh-CN" altLang="zh-CN" dirty="0"/>
              <a:t>​</a:t>
            </a:r>
            <a:r>
              <a:rPr lang="en-US" altLang="zh-CN" dirty="0"/>
              <a:t> </a:t>
            </a:r>
            <a:r>
              <a:rPr lang="zh-CN" altLang="zh-CN" dirty="0"/>
              <a:t>+</a:t>
            </a:r>
            <a:r>
              <a:rPr lang="en-US" altLang="zh-CN" dirty="0"/>
              <a:t> </a:t>
            </a:r>
            <a:r>
              <a:rPr lang="zh-CN" altLang="zh-CN" dirty="0"/>
              <a:t>γ</a:t>
            </a:r>
            <a:r>
              <a:rPr lang="zh-CN" altLang="zh-CN" baseline="-25000" dirty="0"/>
              <a:t>current​</a:t>
            </a:r>
            <a:r>
              <a:rPr lang="en-US" altLang="zh-CN" baseline="-25000" dirty="0"/>
              <a:t> </a:t>
            </a:r>
            <a:r>
              <a:rPr lang="zh-CN" altLang="zh-CN" dirty="0"/>
              <a:t>⋅</a:t>
            </a:r>
            <a:r>
              <a:rPr lang="en-US" altLang="zh-CN" dirty="0"/>
              <a:t> </a:t>
            </a:r>
            <a:r>
              <a:rPr lang="zh-CN" altLang="zh-CN" dirty="0"/>
              <a:t>G</a:t>
            </a:r>
            <a:r>
              <a:rPr lang="zh-CN" altLang="zh-CN" baseline="-25000" dirty="0"/>
              <a:t>t</a:t>
            </a:r>
            <a:r>
              <a:rPr lang="en-US" altLang="zh-CN" baseline="-25000" dirty="0"/>
              <a:t> </a:t>
            </a:r>
            <a:r>
              <a:rPr lang="zh-CN" altLang="zh-CN" dirty="0"/>
              <a:t>​+</a:t>
            </a:r>
            <a:r>
              <a:rPr lang="en-US" altLang="zh-CN" dirty="0"/>
              <a:t> </a:t>
            </a:r>
            <a:r>
              <a:rPr lang="zh-CN" altLang="zh-CN" dirty="0"/>
              <a:t>γ</a:t>
            </a:r>
            <a:r>
              <a:rPr lang="zh-CN" altLang="zh-CN" baseline="-25000" dirty="0"/>
              <a:t>lag</a:t>
            </a:r>
            <a:r>
              <a:rPr lang="zh-CN" altLang="zh-CN" dirty="0"/>
              <a:t>​</a:t>
            </a:r>
            <a:r>
              <a:rPr lang="en-US" altLang="zh-CN" dirty="0"/>
              <a:t> </a:t>
            </a:r>
            <a:r>
              <a:rPr lang="zh-CN" altLang="zh-CN" dirty="0"/>
              <a:t>⋅</a:t>
            </a:r>
            <a:r>
              <a:rPr lang="en-US" altLang="zh-CN" dirty="0"/>
              <a:t> </a:t>
            </a:r>
            <a:r>
              <a:rPr lang="zh-CN" altLang="zh-CN" dirty="0"/>
              <a:t>G</a:t>
            </a:r>
            <a:r>
              <a:rPr lang="zh-CN" altLang="zh-CN" baseline="-25000" dirty="0"/>
              <a:t>t−1</a:t>
            </a:r>
            <a:endParaRPr lang="en-US" altLang="zh-CN" baseline="-25000" dirty="0"/>
          </a:p>
          <a:p>
            <a:pPr algn="ctr"/>
            <a:endParaRPr lang="en-US" altLang="zh-CN" baseline="-25000" dirty="0"/>
          </a:p>
          <a:p>
            <a:pPr algn="ctr"/>
            <a:endParaRPr lang="en-US" altLang="zh-CN" baseline="-25000" dirty="0"/>
          </a:p>
          <a:p>
            <a:pPr algn="ctr"/>
            <a:r>
              <a:rPr lang="zh-CN" altLang="zh-CN" dirty="0"/>
              <a:t>sc</a:t>
            </a:r>
            <a:r>
              <a:rPr lang="zh-CN" altLang="zh-CN" baseline="-25000" dirty="0"/>
              <a:t>t</a:t>
            </a:r>
            <a:r>
              <a:rPr lang="zh-CN" altLang="zh-CN" dirty="0"/>
              <a:t>​</a:t>
            </a:r>
            <a:r>
              <a:rPr lang="en-US" altLang="zh-CN" dirty="0"/>
              <a:t> </a:t>
            </a:r>
            <a:r>
              <a:rPr lang="zh-CN" altLang="zh-CN" dirty="0"/>
              <a:t>∼</a:t>
            </a:r>
            <a:r>
              <a:rPr lang="en-US" altLang="zh-CN" dirty="0"/>
              <a:t> </a:t>
            </a:r>
            <a:r>
              <a:rPr lang="zh-CN" altLang="zh-CN" dirty="0"/>
              <a:t>LogNormal</a:t>
            </a:r>
            <a:r>
              <a:rPr lang="en-US" altLang="zh-CN" dirty="0"/>
              <a:t> </a:t>
            </a:r>
            <a:r>
              <a:rPr lang="zh-CN" altLang="zh-CN" dirty="0"/>
              <a:t>(μ</a:t>
            </a:r>
            <a:r>
              <a:rPr lang="zh-CN" altLang="zh-CN" baseline="-25000" dirty="0"/>
              <a:t>sc,t</a:t>
            </a:r>
            <a:r>
              <a:rPr lang="zh-CN" altLang="zh-CN" dirty="0"/>
              <a:t>​</a:t>
            </a:r>
            <a:r>
              <a:rPr lang="en-US" altLang="zh-CN" dirty="0"/>
              <a:t> </a:t>
            </a:r>
            <a:r>
              <a:rPr lang="zh-CN" altLang="zh-CN" dirty="0"/>
              <a:t>,</a:t>
            </a:r>
            <a:r>
              <a:rPr lang="en-US" altLang="zh-CN" dirty="0"/>
              <a:t> </a:t>
            </a:r>
            <a:r>
              <a:rPr lang="zh-CN" altLang="zh-CN" dirty="0"/>
              <a:t>σ</a:t>
            </a:r>
            <a:r>
              <a:rPr lang="zh-CN" altLang="zh-CN" baseline="-25000" dirty="0"/>
              <a:t>sc​</a:t>
            </a:r>
            <a:r>
              <a:rPr lang="zh-CN" altLang="zh-CN" dirty="0"/>
              <a:t>)​</a:t>
            </a:r>
            <a:endParaRPr lang="en-US" altLang="zh-CN" dirty="0"/>
          </a:p>
          <a:p>
            <a:pPr algn="ctr"/>
            <a:endParaRPr lang="en-US" altLang="zh-CN" dirty="0"/>
          </a:p>
        </p:txBody>
      </p:sp>
      <p:sp>
        <p:nvSpPr>
          <p:cNvPr id="24" name="TextBox 23">
            <a:extLst>
              <a:ext uri="{FF2B5EF4-FFF2-40B4-BE49-F238E27FC236}">
                <a16:creationId xmlns:a16="http://schemas.microsoft.com/office/drawing/2014/main" id="{6CFEFAF4-F271-DCEB-6766-320E378BC71E}"/>
              </a:ext>
            </a:extLst>
          </p:cNvPr>
          <p:cNvSpPr txBox="1"/>
          <p:nvPr/>
        </p:nvSpPr>
        <p:spPr>
          <a:xfrm>
            <a:off x="5264019" y="3561952"/>
            <a:ext cx="3205038" cy="369332"/>
          </a:xfrm>
          <a:prstGeom prst="rect">
            <a:avLst/>
          </a:prstGeom>
          <a:noFill/>
        </p:spPr>
        <p:txBody>
          <a:bodyPr wrap="square">
            <a:spAutoFit/>
          </a:bodyPr>
          <a:lstStyle/>
          <a:p>
            <a:pPr defTabSz="1425556">
              <a:spcAft>
                <a:spcPts val="1169"/>
              </a:spcAft>
              <a:defRPr/>
            </a:pPr>
            <a:r>
              <a:rPr lang="en-US" altLang="zh-CN" b="1" dirty="0">
                <a:solidFill>
                  <a:srgbClr val="303A46"/>
                </a:solidFill>
                <a:latin typeface="Arial"/>
                <a:cs typeface="Arial"/>
              </a:rPr>
              <a:t>Reproduction</a:t>
            </a:r>
          </a:p>
        </p:txBody>
      </p:sp>
    </p:spTree>
    <p:extLst>
      <p:ext uri="{BB962C8B-B14F-4D97-AF65-F5344CB8AC3E}">
        <p14:creationId xmlns:p14="http://schemas.microsoft.com/office/powerpoint/2010/main" val="21583077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BF250BF3-E0F2-794D-7ED3-A0397E54D18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BE8D978-29D9-77E0-6209-500C763CCE28}"/>
              </a:ext>
            </a:extLst>
          </p:cNvPr>
          <p:cNvSpPr/>
          <p:nvPr/>
        </p:nvSpPr>
        <p:spPr>
          <a:xfrm>
            <a:off x="353568" y="379398"/>
            <a:ext cx="11484864" cy="6099204"/>
          </a:xfrm>
          <a:prstGeom prst="rect">
            <a:avLst/>
          </a:prstGeom>
          <a:solidFill>
            <a:schemeClr val="bg1">
              <a:alpha val="90000"/>
            </a:schemeClr>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TextBox 2">
            <a:extLst>
              <a:ext uri="{FF2B5EF4-FFF2-40B4-BE49-F238E27FC236}">
                <a16:creationId xmlns:a16="http://schemas.microsoft.com/office/drawing/2014/main" id="{66A06504-FEF9-B8BB-9718-8F771345EAA9}"/>
              </a:ext>
            </a:extLst>
          </p:cNvPr>
          <p:cNvSpPr txBox="1"/>
          <p:nvPr/>
        </p:nvSpPr>
        <p:spPr>
          <a:xfrm>
            <a:off x="540380" y="317555"/>
            <a:ext cx="12078340" cy="584775"/>
          </a:xfrm>
          <a:prstGeom prst="rect">
            <a:avLst/>
          </a:prstGeom>
          <a:noFill/>
        </p:spPr>
        <p:txBody>
          <a:bodyPr wrap="square">
            <a:spAutoFit/>
          </a:bodyPr>
          <a:lstStyle>
            <a:defPPr>
              <a:defRPr lang="zh-CN"/>
            </a:defPPr>
            <a:lvl1pPr>
              <a:defRPr sz="3200" b="1">
                <a:solidFill>
                  <a:schemeClr val="tx2">
                    <a:lumMod val="90000"/>
                    <a:lumOff val="10000"/>
                  </a:schemeClr>
                </a:solidFill>
                <a:effectLst>
                  <a:outerShdw blurRad="38100" dist="38100" dir="2700000" algn="tl">
                    <a:srgbClr val="000000">
                      <a:alpha val="43137"/>
                    </a:srgbClr>
                  </a:outerShdw>
                </a:effectLst>
              </a:defRPr>
            </a:lvl1pPr>
          </a:lstStyle>
          <a:p>
            <a:r>
              <a:rPr lang="en-US" altLang="zh-CN" dirty="0"/>
              <a:t>Chapter 2: Growth-Reproduction Trade-off</a:t>
            </a:r>
            <a:endParaRPr lang="zh-CN" altLang="en-US" dirty="0"/>
          </a:p>
        </p:txBody>
      </p:sp>
      <p:sp>
        <p:nvSpPr>
          <p:cNvPr id="18" name="TextBox 17">
            <a:extLst>
              <a:ext uri="{FF2B5EF4-FFF2-40B4-BE49-F238E27FC236}">
                <a16:creationId xmlns:a16="http://schemas.microsoft.com/office/drawing/2014/main" id="{A36B59E1-EC28-65E6-FFB4-894CCAD9FDCE}"/>
              </a:ext>
            </a:extLst>
          </p:cNvPr>
          <p:cNvSpPr txBox="1"/>
          <p:nvPr/>
        </p:nvSpPr>
        <p:spPr>
          <a:xfrm>
            <a:off x="3176731" y="1954901"/>
            <a:ext cx="5838538" cy="1231106"/>
          </a:xfrm>
          <a:prstGeom prst="rect">
            <a:avLst/>
          </a:prstGeom>
          <a:noFill/>
        </p:spPr>
        <p:txBody>
          <a:bodyPr wrap="square">
            <a:spAutoFit/>
          </a:bodyPr>
          <a:lstStyle/>
          <a:p>
            <a:pPr algn="ctr" defTabSz="1425556">
              <a:spcAft>
                <a:spcPts val="1169"/>
              </a:spcAft>
              <a:defRPr/>
            </a:pPr>
            <a:r>
              <a:rPr lang="zh-CN" altLang="zh-CN" dirty="0"/>
              <a:t>BAI</a:t>
            </a:r>
            <a:r>
              <a:rPr lang="zh-CN" altLang="zh-CN" baseline="-25000" dirty="0"/>
              <a:t>i,t​</a:t>
            </a:r>
            <a:r>
              <a:rPr lang="en-US" altLang="zh-CN" baseline="-25000" dirty="0"/>
              <a:t> </a:t>
            </a:r>
            <a:r>
              <a:rPr lang="zh-CN" altLang="zh-CN" dirty="0"/>
              <a:t>∼</a:t>
            </a:r>
            <a:r>
              <a:rPr lang="en-US" altLang="zh-CN" dirty="0"/>
              <a:t> </a:t>
            </a:r>
            <a:r>
              <a:rPr lang="zh-CN" altLang="zh-CN" dirty="0"/>
              <a:t>Normal</a:t>
            </a:r>
            <a:r>
              <a:rPr lang="en-US" altLang="zh-CN" dirty="0"/>
              <a:t> </a:t>
            </a:r>
            <a:r>
              <a:rPr lang="zh-CN" altLang="zh-CN" dirty="0"/>
              <a:t>(α</a:t>
            </a:r>
            <a:r>
              <a:rPr lang="zh-CN" altLang="zh-CN" baseline="-25000" dirty="0"/>
              <a:t>BAI</a:t>
            </a:r>
            <a:r>
              <a:rPr lang="en-US" altLang="zh-CN" baseline="-25000" dirty="0"/>
              <a:t> </a:t>
            </a:r>
            <a:r>
              <a:rPr lang="zh-CN" altLang="zh-CN" dirty="0"/>
              <a:t>​</a:t>
            </a:r>
            <a:r>
              <a:rPr lang="en-US" altLang="zh-CN" dirty="0"/>
              <a:t>+ </a:t>
            </a:r>
            <a:r>
              <a:rPr lang="zh-CN" altLang="zh-CN" dirty="0"/>
              <a:t>β</a:t>
            </a:r>
            <a:r>
              <a:rPr lang="en-US" altLang="zh-CN" baseline="-25000" dirty="0"/>
              <a:t>1,SM</a:t>
            </a:r>
            <a:r>
              <a:rPr lang="en-US" altLang="zh-CN" dirty="0"/>
              <a:t> * Soil </a:t>
            </a:r>
            <a:r>
              <a:rPr lang="en-US" altLang="zh-CN" dirty="0" err="1"/>
              <a:t>moisture</a:t>
            </a:r>
            <a:r>
              <a:rPr lang="en-US" altLang="zh-CN" baseline="-25000" dirty="0" err="1"/>
              <a:t>t</a:t>
            </a:r>
            <a:r>
              <a:rPr lang="zh-CN" altLang="zh-CN" dirty="0"/>
              <a:t>,</a:t>
            </a:r>
            <a:r>
              <a:rPr lang="en-US" altLang="zh-CN" dirty="0"/>
              <a:t> </a:t>
            </a:r>
            <a:r>
              <a:rPr lang="zh-CN" altLang="zh-CN" dirty="0"/>
              <a:t>σ</a:t>
            </a:r>
            <a:r>
              <a:rPr lang="zh-CN" altLang="zh-CN" baseline="-25000" dirty="0"/>
              <a:t>BAI</a:t>
            </a:r>
            <a:r>
              <a:rPr lang="en-US" altLang="zh-CN" baseline="-25000" dirty="0"/>
              <a:t> </a:t>
            </a:r>
            <a:r>
              <a:rPr lang="zh-CN" altLang="zh-CN" dirty="0"/>
              <a:t>)</a:t>
            </a:r>
            <a:endParaRPr lang="en-US" altLang="zh-CN" dirty="0"/>
          </a:p>
          <a:p>
            <a:pPr algn="ctr" defTabSz="1425556">
              <a:spcAft>
                <a:spcPts val="1169"/>
              </a:spcAft>
              <a:defRPr/>
            </a:pPr>
            <a:r>
              <a:rPr lang="zh-CN" altLang="zh-CN" dirty="0"/>
              <a:t>G</a:t>
            </a:r>
            <a:r>
              <a:rPr lang="zh-CN" altLang="zh-CN" baseline="-25000" dirty="0"/>
              <a:t>i,t</a:t>
            </a:r>
            <a:r>
              <a:rPr lang="zh-CN" altLang="zh-CN" dirty="0"/>
              <a:t>​</a:t>
            </a:r>
            <a:r>
              <a:rPr lang="en-US" altLang="zh-CN" dirty="0"/>
              <a:t> </a:t>
            </a:r>
            <a:r>
              <a:rPr lang="zh-CN" altLang="zh-CN" dirty="0"/>
              <a:t>=</a:t>
            </a:r>
            <a:r>
              <a:rPr lang="en-US" altLang="zh-CN" dirty="0"/>
              <a:t> </a:t>
            </a:r>
            <a:r>
              <a:rPr lang="zh-CN" altLang="zh-CN" dirty="0"/>
              <a:t>BAI</a:t>
            </a:r>
            <a:r>
              <a:rPr lang="zh-CN" altLang="zh-CN" baseline="-25000" dirty="0"/>
              <a:t>i,t</a:t>
            </a:r>
            <a:r>
              <a:rPr lang="zh-CN" altLang="zh-CN" dirty="0"/>
              <a:t>​</a:t>
            </a:r>
            <a:r>
              <a:rPr lang="en-US" altLang="zh-CN" dirty="0"/>
              <a:t> </a:t>
            </a:r>
            <a:r>
              <a:rPr lang="zh-CN" altLang="zh-CN" dirty="0"/>
              <a:t>−</a:t>
            </a:r>
            <a:r>
              <a:rPr lang="en-US" altLang="zh-CN" dirty="0"/>
              <a:t> </a:t>
            </a:r>
            <a:r>
              <a:rPr lang="zh-CN" altLang="zh-CN" dirty="0"/>
              <a:t>α</a:t>
            </a:r>
            <a:r>
              <a:rPr lang="zh-CN" altLang="zh-CN" baseline="-25000" dirty="0"/>
              <a:t>BAI​</a:t>
            </a:r>
            <a:r>
              <a:rPr lang="zh-CN" altLang="zh-CN" dirty="0"/>
              <a:t> −</a:t>
            </a:r>
            <a:r>
              <a:rPr lang="en-US" altLang="zh-CN" dirty="0"/>
              <a:t> </a:t>
            </a:r>
            <a:r>
              <a:rPr lang="zh-CN" altLang="zh-CN" dirty="0"/>
              <a:t>β</a:t>
            </a:r>
            <a:r>
              <a:rPr lang="en-US" altLang="zh-CN" baseline="-25000" dirty="0"/>
              <a:t>1,SM</a:t>
            </a:r>
            <a:r>
              <a:rPr lang="en-US" altLang="zh-CN" dirty="0"/>
              <a:t> * Soil </a:t>
            </a:r>
            <a:r>
              <a:rPr lang="en-US" altLang="zh-CN" dirty="0" err="1"/>
              <a:t>moisture</a:t>
            </a:r>
            <a:r>
              <a:rPr lang="en-US" altLang="zh-CN" baseline="-25000" dirty="0" err="1"/>
              <a:t>t</a:t>
            </a:r>
            <a:endParaRPr lang="en-US" altLang="zh-CN" baseline="-25000" dirty="0"/>
          </a:p>
          <a:p>
            <a:pPr algn="ctr" defTabSz="1425556">
              <a:spcAft>
                <a:spcPts val="1169"/>
              </a:spcAft>
              <a:defRPr/>
            </a:pPr>
            <a:r>
              <a:rPr lang="zh-CN" altLang="zh-CN" dirty="0"/>
              <a:t>G</a:t>
            </a:r>
            <a:r>
              <a:rPr lang="zh-CN" altLang="zh-CN" baseline="-25000" dirty="0"/>
              <a:t>t</a:t>
            </a:r>
            <a:r>
              <a:rPr lang="zh-CN" altLang="zh-CN" dirty="0"/>
              <a:t>​</a:t>
            </a:r>
            <a:r>
              <a:rPr lang="en-US" altLang="zh-CN" dirty="0"/>
              <a:t> </a:t>
            </a:r>
            <a:r>
              <a:rPr lang="zh-CN" altLang="zh-CN" dirty="0"/>
              <a:t>=</a:t>
            </a:r>
            <a:r>
              <a:rPr lang="en-US" altLang="zh-CN" dirty="0"/>
              <a:t> </a:t>
            </a:r>
            <a:r>
              <a:rPr lang="zh-CN" altLang="zh-CN" dirty="0"/>
              <a:t>mean</a:t>
            </a:r>
            <a:r>
              <a:rPr lang="en-US" altLang="zh-CN" baseline="-25000" dirty="0"/>
              <a:t> </a:t>
            </a:r>
            <a:r>
              <a:rPr lang="zh-CN" altLang="zh-CN" baseline="-25000" dirty="0"/>
              <a:t>​</a:t>
            </a:r>
            <a:r>
              <a:rPr lang="zh-CN" altLang="zh-CN" dirty="0"/>
              <a:t>(G</a:t>
            </a:r>
            <a:r>
              <a:rPr lang="zh-CN" altLang="zh-CN" baseline="-25000" dirty="0"/>
              <a:t> i,t </a:t>
            </a:r>
            <a:r>
              <a:rPr lang="zh-CN" altLang="zh-CN" dirty="0"/>
              <a:t>​)</a:t>
            </a:r>
            <a:endParaRPr lang="en-US" altLang="zh-CN" dirty="0"/>
          </a:p>
        </p:txBody>
      </p:sp>
      <p:sp>
        <p:nvSpPr>
          <p:cNvPr id="20" name="TextBox 19">
            <a:extLst>
              <a:ext uri="{FF2B5EF4-FFF2-40B4-BE49-F238E27FC236}">
                <a16:creationId xmlns:a16="http://schemas.microsoft.com/office/drawing/2014/main" id="{9F970E74-2834-31B3-194D-A2817C967DC3}"/>
              </a:ext>
            </a:extLst>
          </p:cNvPr>
          <p:cNvSpPr txBox="1"/>
          <p:nvPr/>
        </p:nvSpPr>
        <p:spPr>
          <a:xfrm>
            <a:off x="5574330" y="1538284"/>
            <a:ext cx="1901891" cy="369332"/>
          </a:xfrm>
          <a:prstGeom prst="rect">
            <a:avLst/>
          </a:prstGeom>
          <a:noFill/>
        </p:spPr>
        <p:txBody>
          <a:bodyPr wrap="square">
            <a:spAutoFit/>
          </a:bodyPr>
          <a:lstStyle/>
          <a:p>
            <a:pPr defTabSz="1425556">
              <a:spcAft>
                <a:spcPts val="1169"/>
              </a:spcAft>
              <a:defRPr/>
            </a:pPr>
            <a:r>
              <a:rPr lang="en-US" altLang="zh-CN" b="1" dirty="0">
                <a:solidFill>
                  <a:srgbClr val="303A46"/>
                </a:solidFill>
                <a:latin typeface="Arial"/>
                <a:cs typeface="Arial"/>
              </a:rPr>
              <a:t>Growth</a:t>
            </a:r>
          </a:p>
        </p:txBody>
      </p:sp>
      <p:sp>
        <p:nvSpPr>
          <p:cNvPr id="22" name="TextBox 21">
            <a:extLst>
              <a:ext uri="{FF2B5EF4-FFF2-40B4-BE49-F238E27FC236}">
                <a16:creationId xmlns:a16="http://schemas.microsoft.com/office/drawing/2014/main" id="{419648EB-BAF2-AD9D-8BE9-FB0FFC520A31}"/>
              </a:ext>
            </a:extLst>
          </p:cNvPr>
          <p:cNvSpPr txBox="1"/>
          <p:nvPr/>
        </p:nvSpPr>
        <p:spPr>
          <a:xfrm>
            <a:off x="3610796" y="3931284"/>
            <a:ext cx="5108451" cy="1292662"/>
          </a:xfrm>
          <a:prstGeom prst="rect">
            <a:avLst/>
          </a:prstGeom>
          <a:noFill/>
        </p:spPr>
        <p:txBody>
          <a:bodyPr wrap="square">
            <a:spAutoFit/>
          </a:bodyPr>
          <a:lstStyle/>
          <a:p>
            <a:pPr algn="ctr"/>
            <a:r>
              <a:rPr lang="zh-CN" altLang="zh-CN" dirty="0"/>
              <a:t>μ</a:t>
            </a:r>
            <a:r>
              <a:rPr lang="zh-CN" altLang="zh-CN" baseline="-25000" dirty="0"/>
              <a:t>sc,t</a:t>
            </a:r>
            <a:r>
              <a:rPr lang="en-US" altLang="zh-CN" dirty="0"/>
              <a:t> </a:t>
            </a:r>
            <a:r>
              <a:rPr lang="zh-CN" altLang="zh-CN" dirty="0"/>
              <a:t>=</a:t>
            </a:r>
            <a:r>
              <a:rPr lang="en-US" altLang="zh-CN" dirty="0"/>
              <a:t> </a:t>
            </a:r>
            <a:r>
              <a:rPr lang="zh-CN" altLang="zh-CN" dirty="0"/>
              <a:t>α</a:t>
            </a:r>
            <a:r>
              <a:rPr lang="zh-CN" altLang="zh-CN" baseline="-25000" dirty="0"/>
              <a:t>sc</a:t>
            </a:r>
            <a:r>
              <a:rPr lang="zh-CN" altLang="zh-CN" dirty="0"/>
              <a:t>​</a:t>
            </a:r>
            <a:r>
              <a:rPr lang="en-US" altLang="zh-CN" dirty="0"/>
              <a:t> </a:t>
            </a:r>
            <a:r>
              <a:rPr lang="zh-CN" altLang="zh-CN" dirty="0"/>
              <a:t>+</a:t>
            </a:r>
            <a:r>
              <a:rPr lang="en-US" altLang="zh-CN" dirty="0"/>
              <a:t> </a:t>
            </a:r>
            <a:r>
              <a:rPr lang="zh-CN" altLang="zh-CN" dirty="0"/>
              <a:t>γ</a:t>
            </a:r>
            <a:r>
              <a:rPr lang="zh-CN" altLang="zh-CN" baseline="-25000" dirty="0"/>
              <a:t>current​</a:t>
            </a:r>
            <a:r>
              <a:rPr lang="en-US" altLang="zh-CN" baseline="-25000" dirty="0"/>
              <a:t> </a:t>
            </a:r>
            <a:r>
              <a:rPr lang="zh-CN" altLang="zh-CN" dirty="0"/>
              <a:t>⋅</a:t>
            </a:r>
            <a:r>
              <a:rPr lang="en-US" altLang="zh-CN" dirty="0"/>
              <a:t> </a:t>
            </a:r>
            <a:r>
              <a:rPr lang="zh-CN" altLang="zh-CN" dirty="0"/>
              <a:t>G</a:t>
            </a:r>
            <a:r>
              <a:rPr lang="zh-CN" altLang="zh-CN" baseline="-25000" dirty="0"/>
              <a:t>t</a:t>
            </a:r>
            <a:r>
              <a:rPr lang="en-US" altLang="zh-CN" baseline="-25000" dirty="0"/>
              <a:t> </a:t>
            </a:r>
            <a:r>
              <a:rPr lang="zh-CN" altLang="zh-CN" dirty="0"/>
              <a:t>​+</a:t>
            </a:r>
            <a:r>
              <a:rPr lang="en-US" altLang="zh-CN" dirty="0"/>
              <a:t> </a:t>
            </a:r>
            <a:r>
              <a:rPr lang="zh-CN" altLang="zh-CN" dirty="0"/>
              <a:t>γ</a:t>
            </a:r>
            <a:r>
              <a:rPr lang="zh-CN" altLang="zh-CN" baseline="-25000" dirty="0"/>
              <a:t>lag</a:t>
            </a:r>
            <a:r>
              <a:rPr lang="zh-CN" altLang="zh-CN" dirty="0"/>
              <a:t>​</a:t>
            </a:r>
            <a:r>
              <a:rPr lang="en-US" altLang="zh-CN" dirty="0"/>
              <a:t> </a:t>
            </a:r>
            <a:r>
              <a:rPr lang="zh-CN" altLang="zh-CN" dirty="0"/>
              <a:t>⋅</a:t>
            </a:r>
            <a:r>
              <a:rPr lang="en-US" altLang="zh-CN" dirty="0"/>
              <a:t> </a:t>
            </a:r>
            <a:r>
              <a:rPr lang="zh-CN" altLang="zh-CN" dirty="0"/>
              <a:t>G</a:t>
            </a:r>
            <a:r>
              <a:rPr lang="zh-CN" altLang="zh-CN" baseline="-25000" dirty="0"/>
              <a:t>t−1</a:t>
            </a:r>
            <a:endParaRPr lang="en-US" altLang="zh-CN" baseline="-25000" dirty="0"/>
          </a:p>
          <a:p>
            <a:pPr algn="ctr"/>
            <a:endParaRPr lang="en-US" altLang="zh-CN" baseline="-25000" dirty="0"/>
          </a:p>
          <a:p>
            <a:pPr algn="ctr"/>
            <a:endParaRPr lang="en-US" altLang="zh-CN" baseline="-25000" dirty="0"/>
          </a:p>
          <a:p>
            <a:pPr algn="ctr"/>
            <a:r>
              <a:rPr lang="zh-CN" altLang="zh-CN" dirty="0"/>
              <a:t>sc</a:t>
            </a:r>
            <a:r>
              <a:rPr lang="zh-CN" altLang="zh-CN" baseline="-25000" dirty="0"/>
              <a:t>t</a:t>
            </a:r>
            <a:r>
              <a:rPr lang="zh-CN" altLang="zh-CN" dirty="0"/>
              <a:t>​</a:t>
            </a:r>
            <a:r>
              <a:rPr lang="en-US" altLang="zh-CN" dirty="0"/>
              <a:t> </a:t>
            </a:r>
            <a:r>
              <a:rPr lang="zh-CN" altLang="zh-CN" dirty="0"/>
              <a:t>∼</a:t>
            </a:r>
            <a:r>
              <a:rPr lang="en-US" altLang="zh-CN" dirty="0"/>
              <a:t> </a:t>
            </a:r>
            <a:r>
              <a:rPr lang="zh-CN" altLang="zh-CN" dirty="0"/>
              <a:t>LogNormal</a:t>
            </a:r>
            <a:r>
              <a:rPr lang="en-US" altLang="zh-CN" dirty="0"/>
              <a:t> </a:t>
            </a:r>
            <a:r>
              <a:rPr lang="zh-CN" altLang="zh-CN" dirty="0"/>
              <a:t>(μ</a:t>
            </a:r>
            <a:r>
              <a:rPr lang="zh-CN" altLang="zh-CN" baseline="-25000" dirty="0"/>
              <a:t>sc,t</a:t>
            </a:r>
            <a:r>
              <a:rPr lang="zh-CN" altLang="zh-CN" dirty="0"/>
              <a:t>​</a:t>
            </a:r>
            <a:r>
              <a:rPr lang="en-US" altLang="zh-CN" dirty="0"/>
              <a:t> </a:t>
            </a:r>
            <a:r>
              <a:rPr lang="zh-CN" altLang="zh-CN" dirty="0"/>
              <a:t>,</a:t>
            </a:r>
            <a:r>
              <a:rPr lang="en-US" altLang="zh-CN" dirty="0"/>
              <a:t> </a:t>
            </a:r>
            <a:r>
              <a:rPr lang="zh-CN" altLang="zh-CN" dirty="0"/>
              <a:t>σ</a:t>
            </a:r>
            <a:r>
              <a:rPr lang="zh-CN" altLang="zh-CN" baseline="-25000" dirty="0"/>
              <a:t>sc​</a:t>
            </a:r>
            <a:r>
              <a:rPr lang="zh-CN" altLang="zh-CN" dirty="0"/>
              <a:t>)​</a:t>
            </a:r>
            <a:endParaRPr lang="en-US" altLang="zh-CN" dirty="0"/>
          </a:p>
          <a:p>
            <a:pPr algn="ctr"/>
            <a:endParaRPr lang="en-US" altLang="zh-CN" dirty="0"/>
          </a:p>
        </p:txBody>
      </p:sp>
      <p:sp>
        <p:nvSpPr>
          <p:cNvPr id="24" name="TextBox 23">
            <a:extLst>
              <a:ext uri="{FF2B5EF4-FFF2-40B4-BE49-F238E27FC236}">
                <a16:creationId xmlns:a16="http://schemas.microsoft.com/office/drawing/2014/main" id="{43DFC5D8-42E1-3AB2-DDB4-DBDA961776CE}"/>
              </a:ext>
            </a:extLst>
          </p:cNvPr>
          <p:cNvSpPr txBox="1"/>
          <p:nvPr/>
        </p:nvSpPr>
        <p:spPr>
          <a:xfrm>
            <a:off x="5264019" y="3561952"/>
            <a:ext cx="3205038" cy="369332"/>
          </a:xfrm>
          <a:prstGeom prst="rect">
            <a:avLst/>
          </a:prstGeom>
          <a:noFill/>
        </p:spPr>
        <p:txBody>
          <a:bodyPr wrap="square">
            <a:spAutoFit/>
          </a:bodyPr>
          <a:lstStyle/>
          <a:p>
            <a:pPr defTabSz="1425556">
              <a:spcAft>
                <a:spcPts val="1169"/>
              </a:spcAft>
              <a:defRPr/>
            </a:pPr>
            <a:r>
              <a:rPr lang="en-US" altLang="zh-CN" b="1" dirty="0">
                <a:solidFill>
                  <a:srgbClr val="303A46"/>
                </a:solidFill>
                <a:latin typeface="Arial"/>
                <a:cs typeface="Arial"/>
              </a:rPr>
              <a:t>Reproduction</a:t>
            </a:r>
          </a:p>
        </p:txBody>
      </p:sp>
      <p:sp>
        <p:nvSpPr>
          <p:cNvPr id="2" name="Rectangle 1">
            <a:extLst>
              <a:ext uri="{FF2B5EF4-FFF2-40B4-BE49-F238E27FC236}">
                <a16:creationId xmlns:a16="http://schemas.microsoft.com/office/drawing/2014/main" id="{C3549B94-E90F-D358-80C2-E73F9BB97148}"/>
              </a:ext>
            </a:extLst>
          </p:cNvPr>
          <p:cNvSpPr/>
          <p:nvPr/>
        </p:nvSpPr>
        <p:spPr>
          <a:xfrm>
            <a:off x="5655903" y="3931284"/>
            <a:ext cx="639793" cy="42323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4">
            <a:extLst>
              <a:ext uri="{FF2B5EF4-FFF2-40B4-BE49-F238E27FC236}">
                <a16:creationId xmlns:a16="http://schemas.microsoft.com/office/drawing/2014/main" id="{C4E0D31C-C62E-886E-7125-FF6D0F65DA5A}"/>
              </a:ext>
            </a:extLst>
          </p:cNvPr>
          <p:cNvSpPr/>
          <p:nvPr/>
        </p:nvSpPr>
        <p:spPr>
          <a:xfrm>
            <a:off x="6877048" y="3921794"/>
            <a:ext cx="354190" cy="42323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74642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D1C462D8-FF38-0C8B-2338-FD4D72084F95}"/>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283B2E0-0E7E-6D35-DC1A-7CB328C99656}"/>
              </a:ext>
            </a:extLst>
          </p:cNvPr>
          <p:cNvSpPr/>
          <p:nvPr/>
        </p:nvSpPr>
        <p:spPr>
          <a:xfrm>
            <a:off x="353568" y="379398"/>
            <a:ext cx="11484864" cy="6099204"/>
          </a:xfrm>
          <a:prstGeom prst="rect">
            <a:avLst/>
          </a:prstGeom>
          <a:solidFill>
            <a:schemeClr val="bg1">
              <a:alpha val="90000"/>
            </a:schemeClr>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TextBox 2">
            <a:extLst>
              <a:ext uri="{FF2B5EF4-FFF2-40B4-BE49-F238E27FC236}">
                <a16:creationId xmlns:a16="http://schemas.microsoft.com/office/drawing/2014/main" id="{4D479905-3981-62EE-B450-223A507A078B}"/>
              </a:ext>
            </a:extLst>
          </p:cNvPr>
          <p:cNvSpPr txBox="1"/>
          <p:nvPr/>
        </p:nvSpPr>
        <p:spPr>
          <a:xfrm>
            <a:off x="540380" y="317555"/>
            <a:ext cx="12078340" cy="584775"/>
          </a:xfrm>
          <a:prstGeom prst="rect">
            <a:avLst/>
          </a:prstGeom>
          <a:noFill/>
        </p:spPr>
        <p:txBody>
          <a:bodyPr wrap="square">
            <a:spAutoFit/>
          </a:bodyPr>
          <a:lstStyle>
            <a:defPPr>
              <a:defRPr lang="zh-CN"/>
            </a:defPPr>
            <a:lvl1pPr>
              <a:defRPr sz="3200" b="1">
                <a:solidFill>
                  <a:schemeClr val="tx2">
                    <a:lumMod val="90000"/>
                    <a:lumOff val="10000"/>
                  </a:schemeClr>
                </a:solidFill>
                <a:effectLst>
                  <a:outerShdw blurRad="38100" dist="38100" dir="2700000" algn="tl">
                    <a:srgbClr val="000000">
                      <a:alpha val="43137"/>
                    </a:srgbClr>
                  </a:outerShdw>
                </a:effectLst>
              </a:defRPr>
            </a:lvl1pPr>
          </a:lstStyle>
          <a:p>
            <a:r>
              <a:rPr lang="en-US" altLang="zh-CN" dirty="0"/>
              <a:t>Chapter 2: Growth-Reproduction Trade-off</a:t>
            </a:r>
            <a:endParaRPr lang="zh-CN" altLang="en-US" dirty="0"/>
          </a:p>
        </p:txBody>
      </p:sp>
      <p:sp>
        <p:nvSpPr>
          <p:cNvPr id="2" name="TextBox 1">
            <a:extLst>
              <a:ext uri="{FF2B5EF4-FFF2-40B4-BE49-F238E27FC236}">
                <a16:creationId xmlns:a16="http://schemas.microsoft.com/office/drawing/2014/main" id="{7CE6190D-643A-54F5-7551-29E58C957F09}"/>
              </a:ext>
            </a:extLst>
          </p:cNvPr>
          <p:cNvSpPr txBox="1"/>
          <p:nvPr/>
        </p:nvSpPr>
        <p:spPr>
          <a:xfrm>
            <a:off x="1207184" y="1251972"/>
            <a:ext cx="11594592" cy="646331"/>
          </a:xfrm>
          <a:prstGeom prst="rect">
            <a:avLst/>
          </a:prstGeom>
          <a:noFill/>
        </p:spPr>
        <p:txBody>
          <a:bodyPr wrap="square" rtlCol="0">
            <a:spAutoFit/>
          </a:bodyPr>
          <a:lstStyle/>
          <a:p>
            <a:r>
              <a:rPr lang="en-US" altLang="zh-CN" dirty="0">
                <a:solidFill>
                  <a:srgbClr val="163E64"/>
                </a:solidFill>
                <a:cs typeface="Arial" panose="020B0604020202020204" pitchFamily="34" charset="0"/>
              </a:rPr>
              <a:t>One species (</a:t>
            </a:r>
            <a:r>
              <a:rPr lang="en-US" altLang="zh-CN" i="1" dirty="0">
                <a:solidFill>
                  <a:srgbClr val="163E64"/>
                </a:solidFill>
                <a:cs typeface="Arial" panose="020B0604020202020204" pitchFamily="34" charset="0"/>
              </a:rPr>
              <a:t>Tsuga heterophylla</a:t>
            </a:r>
            <a:r>
              <a:rPr lang="en-US" altLang="zh-CN" dirty="0">
                <a:solidFill>
                  <a:srgbClr val="163E64"/>
                </a:solidFill>
                <a:cs typeface="Arial" panose="020B0604020202020204" pitchFamily="34" charset="0"/>
              </a:rPr>
              <a:t>) at one stand (21 trees), from 2013 to 2024 (11 years):</a:t>
            </a:r>
            <a:endParaRPr lang="zh-CN" altLang="en-US" dirty="0">
              <a:solidFill>
                <a:srgbClr val="163E64"/>
              </a:solidFill>
              <a:cs typeface="Arial" panose="020B0604020202020204" pitchFamily="34" charset="0"/>
            </a:endParaRPr>
          </a:p>
          <a:p>
            <a:endParaRPr lang="zh-CN" altLang="en-US" dirty="0"/>
          </a:p>
        </p:txBody>
      </p:sp>
      <p:pic>
        <p:nvPicPr>
          <p:cNvPr id="6" name="Picture 5">
            <a:extLst>
              <a:ext uri="{FF2B5EF4-FFF2-40B4-BE49-F238E27FC236}">
                <a16:creationId xmlns:a16="http://schemas.microsoft.com/office/drawing/2014/main" id="{1923088A-7994-28A1-2286-1958EFF9EC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30818" y="1960146"/>
            <a:ext cx="4303863" cy="3901528"/>
          </a:xfrm>
          <a:prstGeom prst="rect">
            <a:avLst/>
          </a:prstGeom>
        </p:spPr>
      </p:pic>
      <p:pic>
        <p:nvPicPr>
          <p:cNvPr id="9" name="Picture 8">
            <a:extLst>
              <a:ext uri="{FF2B5EF4-FFF2-40B4-BE49-F238E27FC236}">
                <a16:creationId xmlns:a16="http://schemas.microsoft.com/office/drawing/2014/main" id="{B7353846-5E91-4837-44EC-40E12F0CF28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79913" y="1918236"/>
            <a:ext cx="4396326" cy="3985347"/>
          </a:xfrm>
          <a:prstGeom prst="rect">
            <a:avLst/>
          </a:prstGeom>
        </p:spPr>
      </p:pic>
    </p:spTree>
    <p:extLst>
      <p:ext uri="{BB962C8B-B14F-4D97-AF65-F5344CB8AC3E}">
        <p14:creationId xmlns:p14="http://schemas.microsoft.com/office/powerpoint/2010/main" val="25419030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9297C552-8E44-AC21-9A72-C52E824E0D5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E6D231C0-136E-0085-C1A4-4B6A1E7D4B37}"/>
              </a:ext>
            </a:extLst>
          </p:cNvPr>
          <p:cNvSpPr/>
          <p:nvPr/>
        </p:nvSpPr>
        <p:spPr>
          <a:xfrm>
            <a:off x="353568" y="379398"/>
            <a:ext cx="11484864" cy="6099204"/>
          </a:xfrm>
          <a:prstGeom prst="rect">
            <a:avLst/>
          </a:prstGeom>
          <a:solidFill>
            <a:schemeClr val="bg1">
              <a:alpha val="90000"/>
            </a:schemeClr>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TextBox 2">
            <a:extLst>
              <a:ext uri="{FF2B5EF4-FFF2-40B4-BE49-F238E27FC236}">
                <a16:creationId xmlns:a16="http://schemas.microsoft.com/office/drawing/2014/main" id="{AE46F325-CC57-C3BE-2BC3-B286125F6345}"/>
              </a:ext>
            </a:extLst>
          </p:cNvPr>
          <p:cNvSpPr txBox="1"/>
          <p:nvPr/>
        </p:nvSpPr>
        <p:spPr>
          <a:xfrm>
            <a:off x="540380" y="317555"/>
            <a:ext cx="12078340" cy="584775"/>
          </a:xfrm>
          <a:prstGeom prst="rect">
            <a:avLst/>
          </a:prstGeom>
          <a:noFill/>
        </p:spPr>
        <p:txBody>
          <a:bodyPr wrap="square">
            <a:spAutoFit/>
          </a:bodyPr>
          <a:lstStyle>
            <a:defPPr>
              <a:defRPr lang="zh-CN"/>
            </a:defPPr>
            <a:lvl1pPr>
              <a:defRPr sz="3200" b="1">
                <a:solidFill>
                  <a:schemeClr val="tx2">
                    <a:lumMod val="90000"/>
                    <a:lumOff val="10000"/>
                  </a:schemeClr>
                </a:solidFill>
                <a:effectLst>
                  <a:outerShdw blurRad="38100" dist="38100" dir="2700000" algn="tl">
                    <a:srgbClr val="000000">
                      <a:alpha val="43137"/>
                    </a:srgbClr>
                  </a:outerShdw>
                </a:effectLst>
              </a:defRPr>
            </a:lvl1pPr>
          </a:lstStyle>
          <a:p>
            <a:r>
              <a:rPr lang="en-US" altLang="zh-CN" dirty="0"/>
              <a:t>Other activities</a:t>
            </a:r>
            <a:endParaRPr lang="zh-CN" altLang="en-US" dirty="0"/>
          </a:p>
        </p:txBody>
      </p:sp>
      <p:pic>
        <p:nvPicPr>
          <p:cNvPr id="4" name="Picture 3">
            <a:extLst>
              <a:ext uri="{FF2B5EF4-FFF2-40B4-BE49-F238E27FC236}">
                <a16:creationId xmlns:a16="http://schemas.microsoft.com/office/drawing/2014/main" id="{CB8EE233-029F-4D32-EDC4-47898B1C77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7902" y="1325880"/>
            <a:ext cx="4604512" cy="3453384"/>
          </a:xfrm>
          <a:prstGeom prst="rect">
            <a:avLst/>
          </a:prstGeom>
        </p:spPr>
      </p:pic>
      <p:pic>
        <p:nvPicPr>
          <p:cNvPr id="6" name="Picture 5">
            <a:extLst>
              <a:ext uri="{FF2B5EF4-FFF2-40B4-BE49-F238E27FC236}">
                <a16:creationId xmlns:a16="http://schemas.microsoft.com/office/drawing/2014/main" id="{F47DEF5A-30B2-B8BE-F2F8-36B993E0D6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39587" y="1325880"/>
            <a:ext cx="4604512" cy="3453384"/>
          </a:xfrm>
          <a:prstGeom prst="rect">
            <a:avLst/>
          </a:prstGeom>
        </p:spPr>
      </p:pic>
      <p:sp>
        <p:nvSpPr>
          <p:cNvPr id="7" name="TextBox 6">
            <a:extLst>
              <a:ext uri="{FF2B5EF4-FFF2-40B4-BE49-F238E27FC236}">
                <a16:creationId xmlns:a16="http://schemas.microsoft.com/office/drawing/2014/main" id="{B8C2160D-AC46-97A3-4938-874F00900919}"/>
              </a:ext>
            </a:extLst>
          </p:cNvPr>
          <p:cNvSpPr txBox="1"/>
          <p:nvPr/>
        </p:nvSpPr>
        <p:spPr>
          <a:xfrm>
            <a:off x="2324675" y="5018148"/>
            <a:ext cx="2576509" cy="369332"/>
          </a:xfrm>
          <a:prstGeom prst="rect">
            <a:avLst/>
          </a:prstGeom>
          <a:noFill/>
        </p:spPr>
        <p:txBody>
          <a:bodyPr wrap="square" rtlCol="0">
            <a:spAutoFit/>
          </a:bodyPr>
          <a:lstStyle/>
          <a:p>
            <a:r>
              <a:rPr lang="en-US" altLang="zh-CN" dirty="0"/>
              <a:t>Fieldwork at Smithers</a:t>
            </a:r>
            <a:endParaRPr lang="zh-CN" altLang="en-US" dirty="0"/>
          </a:p>
        </p:txBody>
      </p:sp>
      <p:sp>
        <p:nvSpPr>
          <p:cNvPr id="10" name="TextBox 9">
            <a:extLst>
              <a:ext uri="{FF2B5EF4-FFF2-40B4-BE49-F238E27FC236}">
                <a16:creationId xmlns:a16="http://schemas.microsoft.com/office/drawing/2014/main" id="{CDCB9BAF-62DA-6725-F0C3-888A3CF688CD}"/>
              </a:ext>
            </a:extLst>
          </p:cNvPr>
          <p:cNvSpPr txBox="1"/>
          <p:nvPr/>
        </p:nvSpPr>
        <p:spPr>
          <a:xfrm>
            <a:off x="7112933" y="5018148"/>
            <a:ext cx="3074449" cy="369332"/>
          </a:xfrm>
          <a:prstGeom prst="rect">
            <a:avLst/>
          </a:prstGeom>
          <a:noFill/>
        </p:spPr>
        <p:txBody>
          <a:bodyPr wrap="square" rtlCol="0">
            <a:spAutoFit/>
          </a:bodyPr>
          <a:lstStyle/>
          <a:p>
            <a:r>
              <a:rPr lang="en-US" altLang="zh-CN" dirty="0"/>
              <a:t>Fieldwork at Mount Rainier</a:t>
            </a:r>
            <a:endParaRPr lang="zh-CN" altLang="en-US" dirty="0"/>
          </a:p>
        </p:txBody>
      </p:sp>
    </p:spTree>
    <p:extLst>
      <p:ext uri="{BB962C8B-B14F-4D97-AF65-F5344CB8AC3E}">
        <p14:creationId xmlns:p14="http://schemas.microsoft.com/office/powerpoint/2010/main" val="7587077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6D73528D-A5F7-48BF-68B7-6297293EA1A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4DAF75B-D685-607F-E8F0-0F677F77961E}"/>
              </a:ext>
            </a:extLst>
          </p:cNvPr>
          <p:cNvSpPr/>
          <p:nvPr/>
        </p:nvSpPr>
        <p:spPr>
          <a:xfrm>
            <a:off x="353568" y="379398"/>
            <a:ext cx="11484864" cy="6099204"/>
          </a:xfrm>
          <a:prstGeom prst="rect">
            <a:avLst/>
          </a:prstGeom>
          <a:solidFill>
            <a:schemeClr val="bg1">
              <a:alpha val="90000"/>
            </a:schemeClr>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TextBox 2">
            <a:extLst>
              <a:ext uri="{FF2B5EF4-FFF2-40B4-BE49-F238E27FC236}">
                <a16:creationId xmlns:a16="http://schemas.microsoft.com/office/drawing/2014/main" id="{0F50F415-8F8C-2658-9BB4-D5DE2CF3152F}"/>
              </a:ext>
            </a:extLst>
          </p:cNvPr>
          <p:cNvSpPr txBox="1"/>
          <p:nvPr/>
        </p:nvSpPr>
        <p:spPr>
          <a:xfrm>
            <a:off x="540380" y="317555"/>
            <a:ext cx="12078340" cy="584775"/>
          </a:xfrm>
          <a:prstGeom prst="rect">
            <a:avLst/>
          </a:prstGeom>
          <a:noFill/>
        </p:spPr>
        <p:txBody>
          <a:bodyPr wrap="square">
            <a:spAutoFit/>
          </a:bodyPr>
          <a:lstStyle>
            <a:defPPr>
              <a:defRPr lang="zh-CN"/>
            </a:defPPr>
            <a:lvl1pPr>
              <a:defRPr sz="3200" b="1">
                <a:solidFill>
                  <a:schemeClr val="tx2">
                    <a:lumMod val="90000"/>
                    <a:lumOff val="10000"/>
                  </a:schemeClr>
                </a:solidFill>
                <a:effectLst>
                  <a:outerShdw blurRad="38100" dist="38100" dir="2700000" algn="tl">
                    <a:srgbClr val="000000">
                      <a:alpha val="43137"/>
                    </a:srgbClr>
                  </a:outerShdw>
                </a:effectLst>
              </a:defRPr>
            </a:lvl1pPr>
          </a:lstStyle>
          <a:p>
            <a:r>
              <a:rPr lang="en-US" altLang="zh-CN" dirty="0"/>
              <a:t>Other activities</a:t>
            </a:r>
            <a:endParaRPr lang="zh-CN" altLang="en-US" dirty="0"/>
          </a:p>
        </p:txBody>
      </p:sp>
      <p:pic>
        <p:nvPicPr>
          <p:cNvPr id="5" name="Picture 4">
            <a:extLst>
              <a:ext uri="{FF2B5EF4-FFF2-40B4-BE49-F238E27FC236}">
                <a16:creationId xmlns:a16="http://schemas.microsoft.com/office/drawing/2014/main" id="{9C0C0473-5DCB-56C7-06F9-8B0C2DD8A0F1}"/>
              </a:ext>
            </a:extLst>
          </p:cNvPr>
          <p:cNvPicPr>
            <a:picLocks noChangeAspect="1"/>
          </p:cNvPicPr>
          <p:nvPr/>
        </p:nvPicPr>
        <p:blipFill>
          <a:blip r:embed="rId4">
            <a:extLst>
              <a:ext uri="{28A0092B-C50C-407E-A947-70E740481C1C}">
                <a14:useLocalDpi xmlns:a14="http://schemas.microsoft.com/office/drawing/2010/main" val="0"/>
              </a:ext>
            </a:extLst>
          </a:blip>
          <a:srcRect l="17423" t="12786" r="11466" b="13734"/>
          <a:stretch>
            <a:fillRect/>
          </a:stretch>
        </p:blipFill>
        <p:spPr>
          <a:xfrm rot="5400000">
            <a:off x="6440581" y="1574401"/>
            <a:ext cx="4023238" cy="3118009"/>
          </a:xfrm>
          <a:prstGeom prst="rect">
            <a:avLst/>
          </a:prstGeom>
        </p:spPr>
      </p:pic>
      <p:pic>
        <p:nvPicPr>
          <p:cNvPr id="11" name="Picture 10">
            <a:extLst>
              <a:ext uri="{FF2B5EF4-FFF2-40B4-BE49-F238E27FC236}">
                <a16:creationId xmlns:a16="http://schemas.microsoft.com/office/drawing/2014/main" id="{B0082EE4-83C2-9B56-CE3C-56B717E7B549}"/>
              </a:ext>
            </a:extLst>
          </p:cNvPr>
          <p:cNvPicPr>
            <a:picLocks noChangeAspect="1"/>
          </p:cNvPicPr>
          <p:nvPr/>
        </p:nvPicPr>
        <p:blipFill>
          <a:blip r:embed="rId5">
            <a:extLst>
              <a:ext uri="{28A0092B-C50C-407E-A947-70E740481C1C}">
                <a14:useLocalDpi xmlns:a14="http://schemas.microsoft.com/office/drawing/2010/main" val="0"/>
              </a:ext>
            </a:extLst>
          </a:blip>
          <a:srcRect l="6606" t="11732" r="677" b="17156"/>
          <a:stretch>
            <a:fillRect/>
          </a:stretch>
        </p:blipFill>
        <p:spPr>
          <a:xfrm>
            <a:off x="1791621" y="1121786"/>
            <a:ext cx="3932715" cy="4023238"/>
          </a:xfrm>
          <a:prstGeom prst="rect">
            <a:avLst/>
          </a:prstGeom>
        </p:spPr>
      </p:pic>
      <p:sp>
        <p:nvSpPr>
          <p:cNvPr id="12" name="TextBox 11">
            <a:extLst>
              <a:ext uri="{FF2B5EF4-FFF2-40B4-BE49-F238E27FC236}">
                <a16:creationId xmlns:a16="http://schemas.microsoft.com/office/drawing/2014/main" id="{A6969B2C-918B-9FFB-F992-B04818EB6BFF}"/>
              </a:ext>
            </a:extLst>
          </p:cNvPr>
          <p:cNvSpPr txBox="1"/>
          <p:nvPr/>
        </p:nvSpPr>
        <p:spPr>
          <a:xfrm>
            <a:off x="3474721" y="5366882"/>
            <a:ext cx="5571744" cy="369332"/>
          </a:xfrm>
          <a:prstGeom prst="rect">
            <a:avLst/>
          </a:prstGeom>
          <a:noFill/>
        </p:spPr>
        <p:txBody>
          <a:bodyPr wrap="square" rtlCol="0">
            <a:spAutoFit/>
          </a:bodyPr>
          <a:lstStyle/>
          <a:p>
            <a:r>
              <a:rPr lang="en-US" altLang="zh-CN" dirty="0"/>
              <a:t>Poster presentation at </a:t>
            </a:r>
            <a:r>
              <a:rPr lang="en-US" altLang="zh-CN" dirty="0" err="1"/>
              <a:t>StanCon</a:t>
            </a:r>
            <a:r>
              <a:rPr lang="en-US" altLang="zh-CN" dirty="0"/>
              <a:t> 2026, Uppsala, Sweden</a:t>
            </a:r>
            <a:endParaRPr lang="zh-CN" altLang="en-US" dirty="0"/>
          </a:p>
        </p:txBody>
      </p:sp>
    </p:spTree>
    <p:extLst>
      <p:ext uri="{BB962C8B-B14F-4D97-AF65-F5344CB8AC3E}">
        <p14:creationId xmlns:p14="http://schemas.microsoft.com/office/powerpoint/2010/main" val="20953637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9A0C5765-0C44-CA32-D549-B75F6CAD59D4}"/>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E17392F-0135-0F25-688B-FBE0075E8C28}"/>
              </a:ext>
            </a:extLst>
          </p:cNvPr>
          <p:cNvSpPr/>
          <p:nvPr/>
        </p:nvSpPr>
        <p:spPr>
          <a:xfrm>
            <a:off x="353568" y="379398"/>
            <a:ext cx="11484864" cy="6099204"/>
          </a:xfrm>
          <a:prstGeom prst="rect">
            <a:avLst/>
          </a:prstGeom>
          <a:solidFill>
            <a:schemeClr val="bg1">
              <a:alpha val="75000"/>
            </a:schemeClr>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0044544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3950</TotalTime>
  <Words>8213</Words>
  <Application>Microsoft Office PowerPoint</Application>
  <PresentationFormat>Widescreen</PresentationFormat>
  <Paragraphs>267</Paragraphs>
  <Slides>26</Slides>
  <Notes>26</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26</vt:i4>
      </vt:variant>
    </vt:vector>
  </HeadingPairs>
  <TitlesOfParts>
    <vt:vector size="35" baseType="lpstr">
      <vt:lpstr>CMR10</vt:lpstr>
      <vt:lpstr>等线</vt:lpstr>
      <vt:lpstr>等线 Light</vt:lpstr>
      <vt:lpstr>Arial</vt:lpstr>
      <vt:lpstr>Calibri</vt:lpstr>
      <vt:lpstr>Wingdings</vt:lpstr>
      <vt:lpstr>Office Theme</vt:lpstr>
      <vt:lpstr>Acrobat Document</vt:lpstr>
      <vt:lpstr>Adobe Acrobat Document</vt:lpstr>
      <vt:lpstr>The fine balance  Exploring the Interplay of Reproductive Strategies and Growth Dynamics in Trees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wangxm29@student.ubc.ca</dc:creator>
  <cp:lastModifiedBy>wangxm29@student.ubc.ca</cp:lastModifiedBy>
  <cp:revision>10</cp:revision>
  <dcterms:created xsi:type="dcterms:W3CDTF">2026-09-11T22:14:52Z</dcterms:created>
  <dcterms:modified xsi:type="dcterms:W3CDTF">2026-09-25T20:07:51Z</dcterms:modified>
</cp:coreProperties>
</file>